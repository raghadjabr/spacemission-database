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7"/>
  </p:notesMasterIdLst>
  <p:sldIdLst>
    <p:sldId id="428" r:id="rId2"/>
    <p:sldId id="260" r:id="rId3"/>
    <p:sldId id="465" r:id="rId4"/>
    <p:sldId id="261" r:id="rId5"/>
    <p:sldId id="262" r:id="rId6"/>
    <p:sldId id="257" r:id="rId7"/>
    <p:sldId id="466" r:id="rId8"/>
    <p:sldId id="258" r:id="rId9"/>
    <p:sldId id="470" r:id="rId10"/>
    <p:sldId id="471" r:id="rId11"/>
    <p:sldId id="469" r:id="rId12"/>
    <p:sldId id="467" r:id="rId13"/>
    <p:sldId id="468" r:id="rId14"/>
    <p:sldId id="473" r:id="rId15"/>
    <p:sldId id="42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4C5DFB8-E222-4728-8710-656E3B48C378}">
          <p14:sldIdLst>
            <p14:sldId id="428"/>
            <p14:sldId id="260"/>
            <p14:sldId id="465"/>
            <p14:sldId id="261"/>
            <p14:sldId id="262"/>
            <p14:sldId id="257"/>
            <p14:sldId id="466"/>
            <p14:sldId id="258"/>
            <p14:sldId id="470"/>
            <p14:sldId id="471"/>
            <p14:sldId id="469"/>
            <p14:sldId id="467"/>
            <p14:sldId id="468"/>
            <p14:sldId id="473"/>
            <p14:sldId id="42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77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E87B2A-478E-4E77-BDA1-53316CD52E1E}" type="datetimeFigureOut">
              <a:rPr lang="en-US" smtClean="0"/>
              <a:t>10/30/2023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E76A26-0882-403C-9D19-C0A35A09E175}" type="slidenum">
              <a:rPr lang="en-US" smtClean="0"/>
              <a:t>‹#›</a:t>
            </a:fld>
            <a:endParaRPr lang="en-US"/>
          </a:p>
        </p:txBody>
      </p:sp>
    </p:spTree>
    <p:extLst>
      <p:ext uri="{BB962C8B-B14F-4D97-AF65-F5344CB8AC3E}">
        <p14:creationId xmlns:p14="http://schemas.microsoft.com/office/powerpoint/2010/main" val="425482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B506EC-E4FF-454E-9502-020BEE1549E9}" type="slidenum">
              <a:rPr lang="en-US" smtClean="0"/>
              <a:t>15</a:t>
            </a:fld>
            <a:endParaRPr lang="en-US"/>
          </a:p>
        </p:txBody>
      </p:sp>
    </p:spTree>
    <p:extLst>
      <p:ext uri="{BB962C8B-B14F-4D97-AF65-F5344CB8AC3E}">
        <p14:creationId xmlns:p14="http://schemas.microsoft.com/office/powerpoint/2010/main" val="3599866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F75E5E-1AFD-4197-9D7C-62E0F5869087}" type="datetime1">
              <a:rPr lang="en-US" smtClean="0"/>
              <a:t>10/30/2023</a:t>
            </a:fld>
            <a:endParaRPr lang="en-US"/>
          </a:p>
        </p:txBody>
      </p:sp>
      <p:sp>
        <p:nvSpPr>
          <p:cNvPr id="5" name="Footer Placeholder 4"/>
          <p:cNvSpPr>
            <a:spLocks noGrp="1"/>
          </p:cNvSpPr>
          <p:nvPr>
            <p:ph type="ftr" sz="quarter" idx="11"/>
          </p:nvPr>
        </p:nvSpPr>
        <p:spPr/>
        <p:txBody>
          <a:bodyPr/>
          <a:lstStyle/>
          <a:p>
            <a:r>
              <a:rPr lang="en-US"/>
              <a:t>Eng. Aisha Al-Sadi | HTU | Al Hussein Technical University</a:t>
            </a:r>
          </a:p>
        </p:txBody>
      </p:sp>
      <p:sp>
        <p:nvSpPr>
          <p:cNvPr id="6" name="Slide Number Placeholder 5"/>
          <p:cNvSpPr>
            <a:spLocks noGrp="1"/>
          </p:cNvSpPr>
          <p:nvPr>
            <p:ph type="sldNum" sz="quarter" idx="12"/>
          </p:nvPr>
        </p:nvSpPr>
        <p:spPr/>
        <p:txBody>
          <a:bodyPr/>
          <a:lstStyle/>
          <a:p>
            <a:fld id="{E6B03378-CDB7-40C1-827C-F5412922478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879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014CE3-6D54-49C0-B98A-DFF92E40906C}" type="datetime1">
              <a:rPr lang="en-US" smtClean="0"/>
              <a:t>10/30/2023</a:t>
            </a:fld>
            <a:endParaRPr lang="en-US"/>
          </a:p>
        </p:txBody>
      </p:sp>
      <p:sp>
        <p:nvSpPr>
          <p:cNvPr id="5" name="Footer Placeholder 4"/>
          <p:cNvSpPr>
            <a:spLocks noGrp="1"/>
          </p:cNvSpPr>
          <p:nvPr>
            <p:ph type="ftr" sz="quarter" idx="11"/>
          </p:nvPr>
        </p:nvSpPr>
        <p:spPr/>
        <p:txBody>
          <a:bodyPr/>
          <a:lstStyle/>
          <a:p>
            <a:r>
              <a:rPr lang="en-US"/>
              <a:t>Eng. Aisha Al-Sadi | HTU | Al Hussein Technical University</a:t>
            </a:r>
          </a:p>
        </p:txBody>
      </p:sp>
      <p:sp>
        <p:nvSpPr>
          <p:cNvPr id="6" name="Slide Number Placeholder 5"/>
          <p:cNvSpPr>
            <a:spLocks noGrp="1"/>
          </p:cNvSpPr>
          <p:nvPr>
            <p:ph type="sldNum" sz="quarter" idx="12"/>
          </p:nvPr>
        </p:nvSpPr>
        <p:spPr/>
        <p:txBody>
          <a:bodyPr/>
          <a:lstStyle/>
          <a:p>
            <a:fld id="{E6B03378-CDB7-40C1-827C-F54129224789}" type="slidenum">
              <a:rPr lang="en-US" smtClean="0"/>
              <a:t>‹#›</a:t>
            </a:fld>
            <a:endParaRPr lang="en-US"/>
          </a:p>
        </p:txBody>
      </p:sp>
    </p:spTree>
    <p:extLst>
      <p:ext uri="{BB962C8B-B14F-4D97-AF65-F5344CB8AC3E}">
        <p14:creationId xmlns:p14="http://schemas.microsoft.com/office/powerpoint/2010/main" val="3652337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0B73FB-3345-43D0-88F1-D5A192118159}" type="datetime1">
              <a:rPr lang="en-US" smtClean="0"/>
              <a:t>10/30/2023</a:t>
            </a:fld>
            <a:endParaRPr lang="en-US"/>
          </a:p>
        </p:txBody>
      </p:sp>
      <p:sp>
        <p:nvSpPr>
          <p:cNvPr id="5" name="Footer Placeholder 4"/>
          <p:cNvSpPr>
            <a:spLocks noGrp="1"/>
          </p:cNvSpPr>
          <p:nvPr>
            <p:ph type="ftr" sz="quarter" idx="11"/>
          </p:nvPr>
        </p:nvSpPr>
        <p:spPr/>
        <p:txBody>
          <a:bodyPr/>
          <a:lstStyle/>
          <a:p>
            <a:r>
              <a:rPr lang="en-US"/>
              <a:t>Eng. Aisha Al-Sadi | HTU | Al Hussein Technical University</a:t>
            </a:r>
          </a:p>
        </p:txBody>
      </p:sp>
      <p:sp>
        <p:nvSpPr>
          <p:cNvPr id="6" name="Slide Number Placeholder 5"/>
          <p:cNvSpPr>
            <a:spLocks noGrp="1"/>
          </p:cNvSpPr>
          <p:nvPr>
            <p:ph type="sldNum" sz="quarter" idx="12"/>
          </p:nvPr>
        </p:nvSpPr>
        <p:spPr/>
        <p:txBody>
          <a:bodyPr/>
          <a:lstStyle/>
          <a:p>
            <a:fld id="{E6B03378-CDB7-40C1-827C-F5412922478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7087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17EEFF-D786-4964-B5F3-8AD6F9ED876C}" type="datetime1">
              <a:rPr lang="en-US" smtClean="0"/>
              <a:t>10/30/2023</a:t>
            </a:fld>
            <a:endParaRPr lang="en-US"/>
          </a:p>
        </p:txBody>
      </p:sp>
      <p:sp>
        <p:nvSpPr>
          <p:cNvPr id="6" name="Footer Placeholder 5"/>
          <p:cNvSpPr>
            <a:spLocks noGrp="1"/>
          </p:cNvSpPr>
          <p:nvPr>
            <p:ph type="ftr" sz="quarter" idx="11"/>
          </p:nvPr>
        </p:nvSpPr>
        <p:spPr/>
        <p:txBody>
          <a:bodyPr/>
          <a:lstStyle/>
          <a:p>
            <a:r>
              <a:rPr lang="en-US"/>
              <a:t>Eng. Aisha Al-Sadi | HTU | Al Hussein Technical University</a:t>
            </a:r>
          </a:p>
        </p:txBody>
      </p:sp>
      <p:sp>
        <p:nvSpPr>
          <p:cNvPr id="7" name="Slide Number Placeholder 6"/>
          <p:cNvSpPr>
            <a:spLocks noGrp="1"/>
          </p:cNvSpPr>
          <p:nvPr>
            <p:ph type="sldNum" sz="quarter" idx="12"/>
          </p:nvPr>
        </p:nvSpPr>
        <p:spPr/>
        <p:txBody>
          <a:bodyPr/>
          <a:lstStyle/>
          <a:p>
            <a:fld id="{E6B03378-CDB7-40C1-827C-F54129224789}" type="slidenum">
              <a:rPr lang="en-US" smtClean="0"/>
              <a:t>‹#›</a:t>
            </a:fld>
            <a:endParaRPr lang="en-US"/>
          </a:p>
        </p:txBody>
      </p:sp>
    </p:spTree>
    <p:extLst>
      <p:ext uri="{BB962C8B-B14F-4D97-AF65-F5344CB8AC3E}">
        <p14:creationId xmlns:p14="http://schemas.microsoft.com/office/powerpoint/2010/main" val="216406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307E5B0-CF69-45FA-B66E-396736F95530}" type="datetime1">
              <a:rPr lang="en-US" smtClean="0"/>
              <a:t>10/30/2023</a:t>
            </a:fld>
            <a:endParaRPr lang="en-US"/>
          </a:p>
        </p:txBody>
      </p:sp>
      <p:sp>
        <p:nvSpPr>
          <p:cNvPr id="8" name="Footer Placeholder 7"/>
          <p:cNvSpPr>
            <a:spLocks noGrp="1"/>
          </p:cNvSpPr>
          <p:nvPr>
            <p:ph type="ftr" sz="quarter" idx="11"/>
          </p:nvPr>
        </p:nvSpPr>
        <p:spPr/>
        <p:txBody>
          <a:bodyPr/>
          <a:lstStyle/>
          <a:p>
            <a:r>
              <a:rPr lang="en-US"/>
              <a:t>Eng. Aisha Al-Sadi | HTU | Al Hussein Technical University</a:t>
            </a:r>
          </a:p>
        </p:txBody>
      </p:sp>
      <p:sp>
        <p:nvSpPr>
          <p:cNvPr id="9" name="Slide Number Placeholder 8"/>
          <p:cNvSpPr>
            <a:spLocks noGrp="1"/>
          </p:cNvSpPr>
          <p:nvPr>
            <p:ph type="sldNum" sz="quarter" idx="12"/>
          </p:nvPr>
        </p:nvSpPr>
        <p:spPr/>
        <p:txBody>
          <a:bodyPr/>
          <a:lstStyle/>
          <a:p>
            <a:fld id="{E6B03378-CDB7-40C1-827C-F54129224789}" type="slidenum">
              <a:rPr lang="en-US" smtClean="0"/>
              <a:t>‹#›</a:t>
            </a:fld>
            <a:endParaRPr lang="en-US"/>
          </a:p>
        </p:txBody>
      </p:sp>
    </p:spTree>
    <p:extLst>
      <p:ext uri="{BB962C8B-B14F-4D97-AF65-F5344CB8AC3E}">
        <p14:creationId xmlns:p14="http://schemas.microsoft.com/office/powerpoint/2010/main" val="1084474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27A6525-2E4D-457D-A343-7CBA6785F9B3}" type="datetime1">
              <a:rPr lang="en-US" smtClean="0"/>
              <a:t>10/30/2023</a:t>
            </a:fld>
            <a:endParaRPr lang="en-US"/>
          </a:p>
        </p:txBody>
      </p:sp>
      <p:sp>
        <p:nvSpPr>
          <p:cNvPr id="4" name="Footer Placeholder 3"/>
          <p:cNvSpPr>
            <a:spLocks noGrp="1"/>
          </p:cNvSpPr>
          <p:nvPr>
            <p:ph type="ftr" sz="quarter" idx="11"/>
          </p:nvPr>
        </p:nvSpPr>
        <p:spPr/>
        <p:txBody>
          <a:bodyPr/>
          <a:lstStyle/>
          <a:p>
            <a:r>
              <a:rPr lang="en-US"/>
              <a:t>Eng. Aisha Al-Sadi | HTU | Al Hussein Technical University</a:t>
            </a:r>
          </a:p>
        </p:txBody>
      </p:sp>
      <p:sp>
        <p:nvSpPr>
          <p:cNvPr id="5" name="Slide Number Placeholder 4"/>
          <p:cNvSpPr>
            <a:spLocks noGrp="1"/>
          </p:cNvSpPr>
          <p:nvPr>
            <p:ph type="sldNum" sz="quarter" idx="12"/>
          </p:nvPr>
        </p:nvSpPr>
        <p:spPr/>
        <p:txBody>
          <a:bodyPr/>
          <a:lstStyle/>
          <a:p>
            <a:fld id="{E6B03378-CDB7-40C1-827C-F54129224789}" type="slidenum">
              <a:rPr lang="en-US" smtClean="0"/>
              <a:t>‹#›</a:t>
            </a:fld>
            <a:endParaRPr lang="en-US"/>
          </a:p>
        </p:txBody>
      </p:sp>
    </p:spTree>
    <p:extLst>
      <p:ext uri="{BB962C8B-B14F-4D97-AF65-F5344CB8AC3E}">
        <p14:creationId xmlns:p14="http://schemas.microsoft.com/office/powerpoint/2010/main" val="3749197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E782B7C-0743-4F5F-BDFE-96E82CC85B73}" type="datetime1">
              <a:rPr lang="en-US" smtClean="0"/>
              <a:t>10/30/2023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Eng. Aisha Al-Sadi | HTU | Al Hussein Technical University</a:t>
            </a:r>
          </a:p>
        </p:txBody>
      </p:sp>
      <p:sp>
        <p:nvSpPr>
          <p:cNvPr id="9" name="Slide Number Placeholder 8"/>
          <p:cNvSpPr>
            <a:spLocks noGrp="1"/>
          </p:cNvSpPr>
          <p:nvPr>
            <p:ph type="sldNum" sz="quarter" idx="12"/>
          </p:nvPr>
        </p:nvSpPr>
        <p:spPr/>
        <p:txBody>
          <a:bodyPr/>
          <a:lstStyle/>
          <a:p>
            <a:fld id="{E6B03378-CDB7-40C1-827C-F54129224789}" type="slidenum">
              <a:rPr lang="en-US" smtClean="0"/>
              <a:t>‹#›</a:t>
            </a:fld>
            <a:endParaRPr lang="en-US"/>
          </a:p>
        </p:txBody>
      </p:sp>
    </p:spTree>
    <p:extLst>
      <p:ext uri="{BB962C8B-B14F-4D97-AF65-F5344CB8AC3E}">
        <p14:creationId xmlns:p14="http://schemas.microsoft.com/office/powerpoint/2010/main" val="1911284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794959D-4403-4CB3-A2BA-8F7F75787F2F}" type="datetime1">
              <a:rPr lang="en-US" smtClean="0"/>
              <a:t>10/30/2023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Eng. Aisha Al-Sadi | HTU | Al Hussein Technical University</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6B03378-CDB7-40C1-827C-F54129224789}" type="slidenum">
              <a:rPr lang="en-US" smtClean="0"/>
              <a:t>‹#›</a:t>
            </a:fld>
            <a:endParaRPr lang="en-US"/>
          </a:p>
        </p:txBody>
      </p:sp>
    </p:spTree>
    <p:extLst>
      <p:ext uri="{BB962C8B-B14F-4D97-AF65-F5344CB8AC3E}">
        <p14:creationId xmlns:p14="http://schemas.microsoft.com/office/powerpoint/2010/main" val="2807441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41F70F-74F5-4C07-A092-C91593C40856}" type="datetime1">
              <a:rPr lang="en-US" smtClean="0"/>
              <a:t>10/30/2023</a:t>
            </a:fld>
            <a:endParaRPr lang="en-US"/>
          </a:p>
        </p:txBody>
      </p:sp>
      <p:sp>
        <p:nvSpPr>
          <p:cNvPr id="6" name="Footer Placeholder 5"/>
          <p:cNvSpPr>
            <a:spLocks noGrp="1"/>
          </p:cNvSpPr>
          <p:nvPr>
            <p:ph type="ftr" sz="quarter" idx="11"/>
          </p:nvPr>
        </p:nvSpPr>
        <p:spPr/>
        <p:txBody>
          <a:bodyPr/>
          <a:lstStyle/>
          <a:p>
            <a:r>
              <a:rPr lang="en-US"/>
              <a:t>Eng. Aisha Al-Sadi | HTU | Al Hussein Technical University</a:t>
            </a:r>
          </a:p>
        </p:txBody>
      </p:sp>
      <p:sp>
        <p:nvSpPr>
          <p:cNvPr id="7" name="Slide Number Placeholder 6"/>
          <p:cNvSpPr>
            <a:spLocks noGrp="1"/>
          </p:cNvSpPr>
          <p:nvPr>
            <p:ph type="sldNum" sz="quarter" idx="12"/>
          </p:nvPr>
        </p:nvSpPr>
        <p:spPr/>
        <p:txBody>
          <a:bodyPr/>
          <a:lstStyle/>
          <a:p>
            <a:fld id="{E6B03378-CDB7-40C1-827C-F54129224789}" type="slidenum">
              <a:rPr lang="en-US" smtClean="0"/>
              <a:t>‹#›</a:t>
            </a:fld>
            <a:endParaRPr lang="en-US"/>
          </a:p>
        </p:txBody>
      </p:sp>
    </p:spTree>
    <p:extLst>
      <p:ext uri="{BB962C8B-B14F-4D97-AF65-F5344CB8AC3E}">
        <p14:creationId xmlns:p14="http://schemas.microsoft.com/office/powerpoint/2010/main" val="2212847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1A0908-7C01-4CC6-B4EF-C9CA4EC8DE08}" type="datetime1">
              <a:rPr lang="en-US" smtClean="0"/>
              <a:t>10/30/2023</a:t>
            </a:fld>
            <a:endParaRPr lang="en-US"/>
          </a:p>
        </p:txBody>
      </p:sp>
      <p:sp>
        <p:nvSpPr>
          <p:cNvPr id="5" name="Footer Placeholder 4"/>
          <p:cNvSpPr>
            <a:spLocks noGrp="1"/>
          </p:cNvSpPr>
          <p:nvPr>
            <p:ph type="ftr" sz="quarter" idx="11"/>
          </p:nvPr>
        </p:nvSpPr>
        <p:spPr/>
        <p:txBody>
          <a:bodyPr/>
          <a:lstStyle/>
          <a:p>
            <a:r>
              <a:rPr lang="en-US"/>
              <a:t>Eng. Aisha Al-Sadi | HTU | Al Hussein Technical University</a:t>
            </a:r>
          </a:p>
        </p:txBody>
      </p:sp>
      <p:sp>
        <p:nvSpPr>
          <p:cNvPr id="6" name="Slide Number Placeholder 5"/>
          <p:cNvSpPr>
            <a:spLocks noGrp="1"/>
          </p:cNvSpPr>
          <p:nvPr>
            <p:ph type="sldNum" sz="quarter" idx="12"/>
          </p:nvPr>
        </p:nvSpPr>
        <p:spPr/>
        <p:txBody>
          <a:bodyPr/>
          <a:lstStyle/>
          <a:p>
            <a:fld id="{E6B03378-CDB7-40C1-827C-F54129224789}" type="slidenum">
              <a:rPr lang="en-US" smtClean="0"/>
              <a:t>‹#›</a:t>
            </a:fld>
            <a:endParaRPr lang="en-US"/>
          </a:p>
        </p:txBody>
      </p:sp>
    </p:spTree>
    <p:extLst>
      <p:ext uri="{BB962C8B-B14F-4D97-AF65-F5344CB8AC3E}">
        <p14:creationId xmlns:p14="http://schemas.microsoft.com/office/powerpoint/2010/main" val="4038309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7983CB-2128-4194-A73C-761D9695A6D1}" type="datetime1">
              <a:rPr lang="en-US" smtClean="0"/>
              <a:t>10/30/2023</a:t>
            </a:fld>
            <a:endParaRPr lang="en-US"/>
          </a:p>
        </p:txBody>
      </p:sp>
      <p:sp>
        <p:nvSpPr>
          <p:cNvPr id="5" name="Footer Placeholder 4"/>
          <p:cNvSpPr>
            <a:spLocks noGrp="1"/>
          </p:cNvSpPr>
          <p:nvPr>
            <p:ph type="ftr" sz="quarter" idx="11"/>
          </p:nvPr>
        </p:nvSpPr>
        <p:spPr/>
        <p:txBody>
          <a:bodyPr/>
          <a:lstStyle/>
          <a:p>
            <a:r>
              <a:rPr lang="en-US"/>
              <a:t>Eng. Aisha Al-Sadi | HTU | Al Hussein Technical University</a:t>
            </a:r>
          </a:p>
        </p:txBody>
      </p:sp>
      <p:sp>
        <p:nvSpPr>
          <p:cNvPr id="6" name="Slide Number Placeholder 5"/>
          <p:cNvSpPr>
            <a:spLocks noGrp="1"/>
          </p:cNvSpPr>
          <p:nvPr>
            <p:ph type="sldNum" sz="quarter" idx="12"/>
          </p:nvPr>
        </p:nvSpPr>
        <p:spPr/>
        <p:txBody>
          <a:bodyPr/>
          <a:lstStyle/>
          <a:p>
            <a:fld id="{E6B03378-CDB7-40C1-827C-F54129224789}" type="slidenum">
              <a:rPr lang="en-US" smtClean="0"/>
              <a:t>‹#›</a:t>
            </a:fld>
            <a:endParaRPr lang="en-US"/>
          </a:p>
        </p:txBody>
      </p:sp>
    </p:spTree>
    <p:extLst>
      <p:ext uri="{BB962C8B-B14F-4D97-AF65-F5344CB8AC3E}">
        <p14:creationId xmlns:p14="http://schemas.microsoft.com/office/powerpoint/2010/main" val="3974537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BF46CFD-70D0-4A6C-A559-26A39BE27CC2}" type="datetime1">
              <a:rPr lang="en-US" smtClean="0"/>
              <a:t>10/30/2023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Eng. Aisha Al-Sadi | HTU | Al Hussein Technical University</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6B03378-CDB7-40C1-827C-F54129224789}"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17898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4E52CB7-5EDD-2A1E-B7F7-2088CA5ABCE0}"/>
              </a:ext>
            </a:extLst>
          </p:cNvPr>
          <p:cNvSpPr>
            <a:spLocks noGrp="1"/>
          </p:cNvSpPr>
          <p:nvPr>
            <p:ph type="ctrTitle"/>
          </p:nvPr>
        </p:nvSpPr>
        <p:spPr>
          <a:xfrm>
            <a:off x="1100051" y="758952"/>
            <a:ext cx="10058400" cy="3566160"/>
          </a:xfrm>
        </p:spPr>
        <p:txBody>
          <a:bodyPr>
            <a:normAutofit/>
          </a:bodyPr>
          <a:lstStyle/>
          <a:p>
            <a:r>
              <a:rPr lang="en-US" sz="5400" b="1" dirty="0">
                <a:solidFill>
                  <a:schemeClr val="accent2">
                    <a:lumMod val="75000"/>
                  </a:schemeClr>
                </a:solidFill>
              </a:rPr>
              <a:t>Database Development &amp; Design</a:t>
            </a:r>
            <a:br>
              <a:rPr lang="en-US" sz="5400" b="1" dirty="0">
                <a:solidFill>
                  <a:schemeClr val="accent2">
                    <a:lumMod val="75000"/>
                  </a:schemeClr>
                </a:solidFill>
              </a:rPr>
            </a:br>
            <a:endParaRPr lang="en-US" sz="5400" dirty="0">
              <a:solidFill>
                <a:schemeClr val="accent2">
                  <a:lumMod val="75000"/>
                </a:schemeClr>
              </a:solidFill>
            </a:endParaRPr>
          </a:p>
        </p:txBody>
      </p:sp>
      <p:sp>
        <p:nvSpPr>
          <p:cNvPr id="7" name="Subtitle 6">
            <a:extLst>
              <a:ext uri="{FF2B5EF4-FFF2-40B4-BE49-F238E27FC236}">
                <a16:creationId xmlns:a16="http://schemas.microsoft.com/office/drawing/2014/main" id="{F7C6220E-859F-19D9-963B-E3CFD19DA5BC}"/>
              </a:ext>
            </a:extLst>
          </p:cNvPr>
          <p:cNvSpPr>
            <a:spLocks noGrp="1"/>
          </p:cNvSpPr>
          <p:nvPr>
            <p:ph type="subTitle" idx="1"/>
          </p:nvPr>
        </p:nvSpPr>
        <p:spPr/>
        <p:txBody>
          <a:bodyPr>
            <a:normAutofit/>
          </a:bodyPr>
          <a:lstStyle/>
          <a:p>
            <a:r>
              <a:rPr lang="en-US" b="1" dirty="0">
                <a:solidFill>
                  <a:schemeClr val="accent2">
                    <a:lumMod val="75000"/>
                  </a:schemeClr>
                </a:solidFill>
              </a:rPr>
              <a:t>Attributes, Keys, and Constraints</a:t>
            </a:r>
            <a:endParaRPr lang="en-US" b="1" dirty="0"/>
          </a:p>
        </p:txBody>
      </p:sp>
      <p:sp>
        <p:nvSpPr>
          <p:cNvPr id="4" name="Footer Placeholder 3">
            <a:extLst>
              <a:ext uri="{FF2B5EF4-FFF2-40B4-BE49-F238E27FC236}">
                <a16:creationId xmlns:a16="http://schemas.microsoft.com/office/drawing/2014/main" id="{B60A21F7-76EB-1CBF-4B58-B401FEC69059}"/>
              </a:ext>
            </a:extLst>
          </p:cNvPr>
          <p:cNvSpPr>
            <a:spLocks noGrp="1"/>
          </p:cNvSpPr>
          <p:nvPr>
            <p:ph type="ftr" sz="quarter" idx="11"/>
          </p:nvPr>
        </p:nvSpPr>
        <p:spPr/>
        <p:txBody>
          <a:bodyPr/>
          <a:lstStyle/>
          <a:p>
            <a:r>
              <a:rPr lang="en-US"/>
              <a:t>Eng. Aisha Al-Sadi | HTU | Al Hussein Technical University</a:t>
            </a:r>
          </a:p>
        </p:txBody>
      </p:sp>
    </p:spTree>
    <p:extLst>
      <p:ext uri="{BB962C8B-B14F-4D97-AF65-F5344CB8AC3E}">
        <p14:creationId xmlns:p14="http://schemas.microsoft.com/office/powerpoint/2010/main" val="443145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3A6DC-DA2A-3D54-BC41-B74C36CA8A00}"/>
              </a:ext>
            </a:extLst>
          </p:cNvPr>
          <p:cNvSpPr>
            <a:spLocks noGrp="1"/>
          </p:cNvSpPr>
          <p:nvPr>
            <p:ph type="title"/>
          </p:nvPr>
        </p:nvSpPr>
        <p:spPr/>
        <p:txBody>
          <a:bodyPr/>
          <a:lstStyle/>
          <a:p>
            <a:r>
              <a:rPr lang="en-US" b="1" dirty="0"/>
              <a:t>Outline</a:t>
            </a:r>
          </a:p>
        </p:txBody>
      </p:sp>
      <p:sp>
        <p:nvSpPr>
          <p:cNvPr id="3" name="Content Placeholder 2">
            <a:extLst>
              <a:ext uri="{FF2B5EF4-FFF2-40B4-BE49-F238E27FC236}">
                <a16:creationId xmlns:a16="http://schemas.microsoft.com/office/drawing/2014/main" id="{F37A70D1-0D21-3728-3D72-76C51F09C884}"/>
              </a:ext>
            </a:extLst>
          </p:cNvPr>
          <p:cNvSpPr>
            <a:spLocks noGrp="1"/>
          </p:cNvSpPr>
          <p:nvPr>
            <p:ph idx="1"/>
          </p:nvPr>
        </p:nvSpPr>
        <p:spPr/>
        <p:txBody>
          <a:bodyPr/>
          <a:lstStyle/>
          <a:p>
            <a:pPr marL="225425" indent="-225425">
              <a:buFont typeface="Wingdings" panose="05000000000000000000" pitchFamily="2" charset="2"/>
              <a:buChar char="§"/>
            </a:pPr>
            <a:r>
              <a:rPr lang="en-US" dirty="0"/>
              <a:t> Attributes</a:t>
            </a:r>
          </a:p>
          <a:p>
            <a:pPr marL="225425" indent="-225425">
              <a:buFont typeface="Wingdings" panose="05000000000000000000" pitchFamily="2" charset="2"/>
              <a:buChar char="§"/>
            </a:pPr>
            <a:r>
              <a:rPr lang="en-US" dirty="0"/>
              <a:t> keys Types </a:t>
            </a:r>
          </a:p>
          <a:p>
            <a:pPr marL="225425" indent="-225425">
              <a:buFont typeface="Wingdings" panose="05000000000000000000" pitchFamily="2" charset="2"/>
              <a:buChar char="§"/>
            </a:pPr>
            <a:r>
              <a:rPr lang="en-US" dirty="0"/>
              <a:t> Keys Categories</a:t>
            </a:r>
          </a:p>
          <a:p>
            <a:pPr marL="225425" indent="-225425">
              <a:buFont typeface="Wingdings" panose="05000000000000000000" pitchFamily="2" charset="2"/>
              <a:buChar char="§"/>
            </a:pPr>
            <a:r>
              <a:rPr lang="en-US" dirty="0"/>
              <a:t> Database constraints</a:t>
            </a:r>
          </a:p>
          <a:p>
            <a:pPr marL="0" indent="0">
              <a:buNone/>
            </a:pPr>
            <a:endParaRPr lang="en-US" dirty="0"/>
          </a:p>
          <a:p>
            <a:pPr marL="0" indent="0">
              <a:buNone/>
            </a:pPr>
            <a:endParaRPr lang="en-US" dirty="0"/>
          </a:p>
        </p:txBody>
      </p:sp>
      <p:sp>
        <p:nvSpPr>
          <p:cNvPr id="6" name="Footer Placeholder 5">
            <a:extLst>
              <a:ext uri="{FF2B5EF4-FFF2-40B4-BE49-F238E27FC236}">
                <a16:creationId xmlns:a16="http://schemas.microsoft.com/office/drawing/2014/main" id="{93257A29-8A7A-7533-2C4B-ED0092F957CD}"/>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4EA5E67B-4531-6DCE-37AB-1CCD106AFBA8}"/>
              </a:ext>
            </a:extLst>
          </p:cNvPr>
          <p:cNvSpPr>
            <a:spLocks noGrp="1"/>
          </p:cNvSpPr>
          <p:nvPr>
            <p:ph type="sldNum" sz="quarter" idx="12"/>
          </p:nvPr>
        </p:nvSpPr>
        <p:spPr/>
        <p:txBody>
          <a:bodyPr/>
          <a:lstStyle/>
          <a:p>
            <a:fld id="{E6B03378-CDB7-40C1-827C-F54129224789}" type="slidenum">
              <a:rPr lang="en-US" smtClean="0"/>
              <a:t>2</a:t>
            </a:fld>
            <a:endParaRPr lang="en-US"/>
          </a:p>
        </p:txBody>
      </p:sp>
    </p:spTree>
    <p:extLst>
      <p:ext uri="{BB962C8B-B14F-4D97-AF65-F5344CB8AC3E}">
        <p14:creationId xmlns:p14="http://schemas.microsoft.com/office/powerpoint/2010/main" val="4176370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40D17-A2C8-69E8-3367-76CDDE095FE0}"/>
              </a:ext>
            </a:extLst>
          </p:cNvPr>
          <p:cNvSpPr>
            <a:spLocks noGrp="1"/>
          </p:cNvSpPr>
          <p:nvPr>
            <p:ph type="title"/>
          </p:nvPr>
        </p:nvSpPr>
        <p:spPr>
          <a:xfrm>
            <a:off x="935915" y="33090"/>
            <a:ext cx="10058400" cy="1450757"/>
          </a:xfrm>
        </p:spPr>
        <p:txBody>
          <a:bodyPr/>
          <a:lstStyle/>
          <a:p>
            <a:r>
              <a:rPr lang="en-US" sz="4800" b="1" dirty="0"/>
              <a:t>Attributes</a:t>
            </a:r>
            <a:endParaRPr lang="en-US" dirty="0"/>
          </a:p>
        </p:txBody>
      </p:sp>
      <p:sp>
        <p:nvSpPr>
          <p:cNvPr id="3" name="Content Placeholder 2">
            <a:extLst>
              <a:ext uri="{FF2B5EF4-FFF2-40B4-BE49-F238E27FC236}">
                <a16:creationId xmlns:a16="http://schemas.microsoft.com/office/drawing/2014/main" id="{D26BDAE6-7A50-6CF6-DD2E-17816F96EE18}"/>
              </a:ext>
            </a:extLst>
          </p:cNvPr>
          <p:cNvSpPr>
            <a:spLocks noGrp="1"/>
          </p:cNvSpPr>
          <p:nvPr>
            <p:ph idx="1"/>
          </p:nvPr>
        </p:nvSpPr>
        <p:spPr>
          <a:xfrm>
            <a:off x="1097280" y="1845733"/>
            <a:ext cx="10295068" cy="4393701"/>
          </a:xfrm>
        </p:spPr>
        <p:txBody>
          <a:bodyPr>
            <a:normAutofit fontScale="92500" lnSpcReduction="20000"/>
          </a:bodyPr>
          <a:lstStyle/>
          <a:p>
            <a:pPr marL="506413" indent="-342900">
              <a:spcBef>
                <a:spcPts val="300"/>
              </a:spcBef>
              <a:buClr>
                <a:srgbClr val="009CAC"/>
              </a:buClr>
              <a:buNone/>
            </a:pPr>
            <a:r>
              <a:rPr lang="en-US" sz="1900" b="1" dirty="0">
                <a:solidFill>
                  <a:srgbClr val="006B76"/>
                </a:solidFill>
              </a:rPr>
              <a:t>Attribute</a:t>
            </a:r>
            <a:r>
              <a:rPr lang="en-US" sz="1600" dirty="0">
                <a:solidFill>
                  <a:srgbClr val="006B76"/>
                </a:solidFill>
              </a:rPr>
              <a:t>: </a:t>
            </a:r>
            <a:r>
              <a:rPr lang="en-US" sz="1600" dirty="0"/>
              <a:t>attributes are the describing characteristics or properties that define all items pertaining to a certain category applied to all cells of a column. </a:t>
            </a:r>
            <a:br>
              <a:rPr lang="en-US" sz="1600" dirty="0"/>
            </a:br>
            <a:endParaRPr lang="en-US" sz="1600" dirty="0"/>
          </a:p>
          <a:p>
            <a:pPr marL="506413" indent="-342900">
              <a:spcBef>
                <a:spcPts val="300"/>
              </a:spcBef>
              <a:buClr>
                <a:srgbClr val="009CAC"/>
              </a:buClr>
              <a:buFont typeface="Wingdings" panose="05000000000000000000" pitchFamily="2" charset="2"/>
              <a:buChar char="§"/>
            </a:pPr>
            <a:r>
              <a:rPr lang="en-US" sz="1800" b="1" dirty="0">
                <a:solidFill>
                  <a:srgbClr val="006B76"/>
                </a:solidFill>
              </a:rPr>
              <a:t>Simple attribute</a:t>
            </a:r>
            <a:r>
              <a:rPr lang="en-US" sz="1800" dirty="0">
                <a:solidFill>
                  <a:srgbClr val="006B76"/>
                </a:solidFill>
              </a:rPr>
              <a:t>:</a:t>
            </a:r>
            <a:r>
              <a:rPr lang="en-US" sz="1800" dirty="0"/>
              <a:t> are atomic values, which cannot be divided further; </a:t>
            </a:r>
            <a:r>
              <a:rPr lang="en-US" altLang="en-US" sz="1800" dirty="0"/>
              <a:t>For example, SSN or Sex.</a:t>
            </a:r>
            <a:br>
              <a:rPr lang="en-US" altLang="en-US" sz="1800" dirty="0"/>
            </a:br>
            <a:endParaRPr lang="en-US" altLang="en-US" sz="1800" i="1" dirty="0"/>
          </a:p>
          <a:p>
            <a:pPr marL="506413" indent="-342900">
              <a:spcBef>
                <a:spcPts val="300"/>
              </a:spcBef>
              <a:buClr>
                <a:srgbClr val="009CAC"/>
              </a:buClr>
              <a:buSzPct val="80000"/>
              <a:buFont typeface="Wingdings" panose="05000000000000000000" pitchFamily="2" charset="2"/>
              <a:buChar char="§"/>
            </a:pPr>
            <a:r>
              <a:rPr lang="en-US" sz="1800" b="1" dirty="0">
                <a:solidFill>
                  <a:srgbClr val="006B76"/>
                </a:solidFill>
              </a:rPr>
              <a:t>Composite attribute</a:t>
            </a:r>
            <a:r>
              <a:rPr lang="en-US" sz="1800" dirty="0"/>
              <a:t>: are made of more than one simple attribute; </a:t>
            </a:r>
            <a:r>
              <a:rPr lang="en-US" altLang="en-US" sz="1800" dirty="0"/>
              <a:t>For the example the </a:t>
            </a:r>
            <a:r>
              <a:rPr lang="en-US" altLang="en-US" sz="1800" dirty="0">
                <a:solidFill>
                  <a:schemeClr val="tx1"/>
                </a:solidFill>
              </a:rPr>
              <a:t>Address</a:t>
            </a:r>
            <a:r>
              <a:rPr lang="en-US" altLang="en-US" sz="1800" dirty="0"/>
              <a:t> attribute of the EMPLOYEE entity can be subdivided into (</a:t>
            </a:r>
            <a:r>
              <a:rPr lang="en-US" altLang="en-US" sz="1800" dirty="0" err="1"/>
              <a:t>Street_address</a:t>
            </a:r>
            <a:r>
              <a:rPr lang="en-US" altLang="en-US" sz="1800" dirty="0"/>
              <a:t>, City, State, and Zip). Another example the  Full Name can be subdivided into (FirstName, </a:t>
            </a:r>
            <a:r>
              <a:rPr lang="en-US" altLang="en-US" sz="1800" dirty="0" err="1"/>
              <a:t>MiddleName</a:t>
            </a:r>
            <a:r>
              <a:rPr lang="en-US" altLang="en-US" sz="1800" dirty="0"/>
              <a:t>, and </a:t>
            </a:r>
            <a:r>
              <a:rPr lang="en-US" altLang="en-US" sz="1800" dirty="0" err="1"/>
              <a:t>LastName</a:t>
            </a:r>
            <a:r>
              <a:rPr lang="en-US" altLang="en-US" sz="1800" dirty="0"/>
              <a:t>).</a:t>
            </a:r>
          </a:p>
          <a:p>
            <a:pPr marL="506413" indent="-342900">
              <a:spcBef>
                <a:spcPts val="300"/>
              </a:spcBef>
              <a:buClr>
                <a:srgbClr val="009CAC"/>
              </a:buClr>
              <a:buSzPct val="80000"/>
              <a:buNone/>
            </a:pPr>
            <a:endParaRPr lang="en-US" sz="1800" dirty="0"/>
          </a:p>
          <a:p>
            <a:pPr marL="506413" indent="-342900">
              <a:spcBef>
                <a:spcPts val="300"/>
              </a:spcBef>
              <a:buClr>
                <a:srgbClr val="009CAC"/>
              </a:buClr>
              <a:buSzPct val="80000"/>
              <a:buFont typeface="Wingdings" panose="05000000000000000000" pitchFamily="2" charset="2"/>
              <a:buChar char="§"/>
            </a:pPr>
            <a:r>
              <a:rPr lang="en-US" sz="1800" b="1" dirty="0">
                <a:solidFill>
                  <a:srgbClr val="006B76"/>
                </a:solidFill>
              </a:rPr>
              <a:t>Derived attribute</a:t>
            </a:r>
            <a:r>
              <a:rPr lang="en-US" sz="1800" dirty="0">
                <a:solidFill>
                  <a:srgbClr val="006B76"/>
                </a:solidFill>
              </a:rPr>
              <a:t>:</a:t>
            </a:r>
            <a:r>
              <a:rPr lang="en-US" sz="1800" dirty="0"/>
              <a:t> are the attributes that do not exist in the physical database, but their values are derived from other attributes present in the database. For example, the value of Age can be determined from the current (today’s) date and the value of that person’s </a:t>
            </a:r>
            <a:r>
              <a:rPr lang="en-US" sz="1800" dirty="0" err="1"/>
              <a:t>Birth_date</a:t>
            </a:r>
            <a:r>
              <a:rPr lang="en-US" sz="1800" dirty="0"/>
              <a:t>.</a:t>
            </a:r>
          </a:p>
          <a:p>
            <a:pPr marL="506413" indent="-342900">
              <a:spcBef>
                <a:spcPts val="300"/>
              </a:spcBef>
              <a:buClr>
                <a:srgbClr val="009CAC"/>
              </a:buClr>
              <a:buSzPct val="80000"/>
              <a:buFont typeface="Wingdings" panose="05000000000000000000" pitchFamily="2" charset="2"/>
              <a:buChar char="§"/>
            </a:pPr>
            <a:endParaRPr lang="en-US" sz="1800" dirty="0"/>
          </a:p>
          <a:p>
            <a:pPr marL="506413" indent="-342900">
              <a:spcBef>
                <a:spcPts val="300"/>
              </a:spcBef>
              <a:buClr>
                <a:srgbClr val="009CAC"/>
              </a:buClr>
              <a:buSzPct val="80000"/>
              <a:buFont typeface="Wingdings" panose="05000000000000000000" pitchFamily="2" charset="2"/>
              <a:buChar char="§"/>
              <a:tabLst>
                <a:tab pos="461963" algn="l"/>
              </a:tabLst>
            </a:pPr>
            <a:r>
              <a:rPr lang="en-US" sz="1800" b="1" dirty="0">
                <a:solidFill>
                  <a:srgbClr val="006B76"/>
                </a:solidFill>
              </a:rPr>
              <a:t>Multi-value attribute</a:t>
            </a:r>
            <a:r>
              <a:rPr lang="en-US" sz="1800" dirty="0">
                <a:solidFill>
                  <a:srgbClr val="006B76"/>
                </a:solidFill>
              </a:rPr>
              <a:t>:</a:t>
            </a:r>
            <a:r>
              <a:rPr lang="en-US" sz="1800" dirty="0"/>
              <a:t> Multi-value attributes may contain more than one values. For the example a </a:t>
            </a:r>
            <a:r>
              <a:rPr lang="en-US" sz="1800" dirty="0" err="1"/>
              <a:t>College_degrees</a:t>
            </a:r>
            <a:r>
              <a:rPr lang="en-US" sz="1800" dirty="0"/>
              <a:t> attribute for a person: one person may not have a college degree, another person may have one, and a third person may have two or more degrees. Another example, color of a car; a car may have more than one color.</a:t>
            </a:r>
            <a:br>
              <a:rPr lang="en-US" sz="1800" dirty="0"/>
            </a:br>
            <a:endParaRPr lang="en-US" sz="1800" dirty="0"/>
          </a:p>
          <a:p>
            <a:pPr marL="506413" indent="-342900">
              <a:spcBef>
                <a:spcPts val="300"/>
              </a:spcBef>
              <a:buClr>
                <a:srgbClr val="009CAC"/>
              </a:buClr>
              <a:buSzPct val="80000"/>
              <a:buFont typeface="Wingdings" panose="05000000000000000000" pitchFamily="2" charset="2"/>
              <a:buChar char="§"/>
            </a:pPr>
            <a:r>
              <a:rPr lang="en-US" sz="1800" b="1" dirty="0">
                <a:solidFill>
                  <a:srgbClr val="006B76"/>
                </a:solidFill>
              </a:rPr>
              <a:t>Complex attribute: </a:t>
            </a:r>
            <a:r>
              <a:rPr lang="en-US" sz="1800" dirty="0"/>
              <a:t>multi-value attribute and  composite attribute.</a:t>
            </a:r>
            <a:r>
              <a:rPr lang="ar-JO" sz="1800" dirty="0"/>
              <a:t>  </a:t>
            </a:r>
            <a:r>
              <a:rPr lang="en-US" sz="1800" dirty="0"/>
              <a:t>For example, an employee with two addresses.</a:t>
            </a:r>
          </a:p>
        </p:txBody>
      </p:sp>
      <p:sp>
        <p:nvSpPr>
          <p:cNvPr id="4" name="Footer Placeholder 3">
            <a:extLst>
              <a:ext uri="{FF2B5EF4-FFF2-40B4-BE49-F238E27FC236}">
                <a16:creationId xmlns:a16="http://schemas.microsoft.com/office/drawing/2014/main" id="{08135D2B-0962-8479-79DE-AB0CBDC3982E}"/>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575B49B7-F151-6C19-DBE3-FEC362646EDB}"/>
              </a:ext>
            </a:extLst>
          </p:cNvPr>
          <p:cNvSpPr>
            <a:spLocks noGrp="1"/>
          </p:cNvSpPr>
          <p:nvPr>
            <p:ph type="sldNum" sz="quarter" idx="12"/>
          </p:nvPr>
        </p:nvSpPr>
        <p:spPr/>
        <p:txBody>
          <a:bodyPr/>
          <a:lstStyle/>
          <a:p>
            <a:fld id="{E6B03378-CDB7-40C1-827C-F54129224789}" type="slidenum">
              <a:rPr lang="en-US" smtClean="0"/>
              <a:t>3</a:t>
            </a:fld>
            <a:endParaRPr lang="en-US"/>
          </a:p>
        </p:txBody>
      </p:sp>
    </p:spTree>
    <p:extLst>
      <p:ext uri="{BB962C8B-B14F-4D97-AF65-F5344CB8AC3E}">
        <p14:creationId xmlns:p14="http://schemas.microsoft.com/office/powerpoint/2010/main" val="1895547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AD0B6-A8D2-6C10-5B7A-7E94D4E4AF62}"/>
              </a:ext>
            </a:extLst>
          </p:cNvPr>
          <p:cNvSpPr>
            <a:spLocks noGrp="1"/>
          </p:cNvSpPr>
          <p:nvPr>
            <p:ph type="title"/>
          </p:nvPr>
        </p:nvSpPr>
        <p:spPr>
          <a:xfrm>
            <a:off x="1097280" y="263527"/>
            <a:ext cx="10058400" cy="1450757"/>
          </a:xfrm>
        </p:spPr>
        <p:txBody>
          <a:bodyPr/>
          <a:lstStyle/>
          <a:p>
            <a:r>
              <a:rPr lang="en-US" b="1" dirty="0"/>
              <a:t>Keys</a:t>
            </a:r>
          </a:p>
        </p:txBody>
      </p:sp>
      <p:sp>
        <p:nvSpPr>
          <p:cNvPr id="3" name="Content Placeholder 2">
            <a:extLst>
              <a:ext uri="{FF2B5EF4-FFF2-40B4-BE49-F238E27FC236}">
                <a16:creationId xmlns:a16="http://schemas.microsoft.com/office/drawing/2014/main" id="{CD5C44CF-D470-2A73-6F35-A481D9A660D5}"/>
              </a:ext>
            </a:extLst>
          </p:cNvPr>
          <p:cNvSpPr>
            <a:spLocks noGrp="1"/>
          </p:cNvSpPr>
          <p:nvPr>
            <p:ph idx="1"/>
          </p:nvPr>
        </p:nvSpPr>
        <p:spPr/>
        <p:txBody>
          <a:bodyPr>
            <a:noAutofit/>
          </a:bodyPr>
          <a:lstStyle/>
          <a:p>
            <a:pPr marL="0" indent="0">
              <a:lnSpc>
                <a:spcPct val="150000"/>
              </a:lnSpc>
              <a:buClr>
                <a:srgbClr val="009CAC"/>
              </a:buClr>
              <a:buNone/>
            </a:pPr>
            <a:r>
              <a:rPr lang="en-US" sz="1800" dirty="0"/>
              <a:t>A </a:t>
            </a:r>
            <a:r>
              <a:rPr lang="en-US" sz="1800" b="1" dirty="0"/>
              <a:t>key</a:t>
            </a:r>
            <a:r>
              <a:rPr lang="en-US" sz="1800" dirty="0"/>
              <a:t> is a field in a table that is used in the identification of that record. </a:t>
            </a:r>
            <a:r>
              <a:rPr lang="en-US" sz="1800" b="1" dirty="0"/>
              <a:t>They ensure each record within a table can be uniquely identified by one or a combination of fields within the table</a:t>
            </a:r>
            <a:r>
              <a:rPr lang="en-US" sz="1800" dirty="0"/>
              <a:t>. They help enforce integrity and help identify the relationship between tables. </a:t>
            </a:r>
            <a:br>
              <a:rPr lang="en-US" sz="1800" dirty="0"/>
            </a:br>
            <a:br>
              <a:rPr lang="en-US" sz="1800" dirty="0"/>
            </a:br>
            <a:r>
              <a:rPr lang="en-US" sz="1800" b="1" dirty="0">
                <a:solidFill>
                  <a:srgbClr val="006B76"/>
                </a:solidFill>
              </a:rPr>
              <a:t>Keys Types:</a:t>
            </a:r>
          </a:p>
          <a:p>
            <a:pPr marL="450342" indent="-285750">
              <a:lnSpc>
                <a:spcPct val="100000"/>
              </a:lnSpc>
              <a:buClr>
                <a:srgbClr val="009CAC"/>
              </a:buClr>
              <a:buSzPct val="87000"/>
              <a:buFont typeface="Wingdings" panose="05000000000000000000" pitchFamily="2" charset="2"/>
              <a:buChar char="§"/>
            </a:pPr>
            <a:r>
              <a:rPr lang="en-US" sz="1800" dirty="0"/>
              <a:t>Super Key</a:t>
            </a:r>
          </a:p>
          <a:p>
            <a:pPr marL="450342" indent="-285750">
              <a:lnSpc>
                <a:spcPct val="100000"/>
              </a:lnSpc>
              <a:buClr>
                <a:srgbClr val="009CAC"/>
              </a:buClr>
              <a:buSzPct val="87000"/>
              <a:buFont typeface="Wingdings" panose="05000000000000000000" pitchFamily="2" charset="2"/>
              <a:buChar char="§"/>
            </a:pPr>
            <a:r>
              <a:rPr lang="en-US" sz="1800" dirty="0"/>
              <a:t>Candidate Key</a:t>
            </a:r>
          </a:p>
          <a:p>
            <a:pPr marL="450342" indent="-285750">
              <a:lnSpc>
                <a:spcPct val="100000"/>
              </a:lnSpc>
              <a:buClr>
                <a:srgbClr val="009CAC"/>
              </a:buClr>
              <a:buSzPct val="87000"/>
              <a:buFont typeface="Wingdings" panose="05000000000000000000" pitchFamily="2" charset="2"/>
              <a:buChar char="§"/>
            </a:pPr>
            <a:r>
              <a:rPr lang="en-US" sz="1800" dirty="0"/>
              <a:t>Primary Key</a:t>
            </a:r>
          </a:p>
          <a:p>
            <a:pPr marL="450342" indent="-285750">
              <a:lnSpc>
                <a:spcPct val="100000"/>
              </a:lnSpc>
              <a:buClr>
                <a:srgbClr val="009CAC"/>
              </a:buClr>
              <a:buSzPct val="87000"/>
              <a:buFont typeface="Wingdings" panose="05000000000000000000" pitchFamily="2" charset="2"/>
              <a:buChar char="§"/>
            </a:pPr>
            <a:r>
              <a:rPr lang="en-US" sz="1800" dirty="0"/>
              <a:t>Secondary Key or Alternative Key</a:t>
            </a:r>
          </a:p>
          <a:p>
            <a:pPr marL="450342" indent="-285750">
              <a:lnSpc>
                <a:spcPct val="100000"/>
              </a:lnSpc>
              <a:buClr>
                <a:srgbClr val="009CAC"/>
              </a:buClr>
              <a:buSzPct val="87000"/>
              <a:buFont typeface="Wingdings" panose="05000000000000000000" pitchFamily="2" charset="2"/>
              <a:buChar char="§"/>
            </a:pPr>
            <a:r>
              <a:rPr lang="en-US" sz="1800" dirty="0"/>
              <a:t>Foreign Key</a:t>
            </a:r>
          </a:p>
          <a:p>
            <a:pPr marL="164592" indent="0">
              <a:lnSpc>
                <a:spcPct val="100000"/>
              </a:lnSpc>
              <a:buClr>
                <a:srgbClr val="009CAC"/>
              </a:buClr>
              <a:buSzPct val="87000"/>
              <a:buNone/>
            </a:pPr>
            <a:endParaRPr lang="en-US" sz="1800" dirty="0"/>
          </a:p>
          <a:p>
            <a:pPr>
              <a:buFont typeface="Wingdings" panose="05000000000000000000" pitchFamily="2" charset="2"/>
              <a:buChar char="§"/>
            </a:pPr>
            <a:endParaRPr lang="en-US" sz="1800" dirty="0"/>
          </a:p>
        </p:txBody>
      </p:sp>
      <p:sp>
        <p:nvSpPr>
          <p:cNvPr id="6" name="Footer Placeholder 5">
            <a:extLst>
              <a:ext uri="{FF2B5EF4-FFF2-40B4-BE49-F238E27FC236}">
                <a16:creationId xmlns:a16="http://schemas.microsoft.com/office/drawing/2014/main" id="{2B27F7DC-1F91-5FFF-7D2E-328E3307D95A}"/>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6FF8971B-1F1B-4194-02E6-E5AABBC3B742}"/>
              </a:ext>
            </a:extLst>
          </p:cNvPr>
          <p:cNvSpPr>
            <a:spLocks noGrp="1"/>
          </p:cNvSpPr>
          <p:nvPr>
            <p:ph type="sldNum" sz="quarter" idx="12"/>
          </p:nvPr>
        </p:nvSpPr>
        <p:spPr/>
        <p:txBody>
          <a:bodyPr/>
          <a:lstStyle/>
          <a:p>
            <a:fld id="{E6B03378-CDB7-40C1-827C-F54129224789}" type="slidenum">
              <a:rPr lang="en-US" smtClean="0"/>
              <a:t>4</a:t>
            </a:fld>
            <a:endParaRPr lang="en-US"/>
          </a:p>
        </p:txBody>
      </p:sp>
    </p:spTree>
    <p:extLst>
      <p:ext uri="{BB962C8B-B14F-4D97-AF65-F5344CB8AC3E}">
        <p14:creationId xmlns:p14="http://schemas.microsoft.com/office/powerpoint/2010/main" val="2929343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54AED-FB2D-0B7E-2661-79D73ED785D8}"/>
              </a:ext>
            </a:extLst>
          </p:cNvPr>
          <p:cNvSpPr>
            <a:spLocks noGrp="1"/>
          </p:cNvSpPr>
          <p:nvPr>
            <p:ph type="title"/>
          </p:nvPr>
        </p:nvSpPr>
        <p:spPr/>
        <p:txBody>
          <a:bodyPr/>
          <a:lstStyle/>
          <a:p>
            <a:r>
              <a:rPr lang="en-US" b="1" dirty="0"/>
              <a:t>Keys Types</a:t>
            </a:r>
          </a:p>
        </p:txBody>
      </p:sp>
      <p:sp>
        <p:nvSpPr>
          <p:cNvPr id="3" name="Content Placeholder 2">
            <a:extLst>
              <a:ext uri="{FF2B5EF4-FFF2-40B4-BE49-F238E27FC236}">
                <a16:creationId xmlns:a16="http://schemas.microsoft.com/office/drawing/2014/main" id="{380632FA-366A-CB42-2011-9DBA07DF0BDE}"/>
              </a:ext>
            </a:extLst>
          </p:cNvPr>
          <p:cNvSpPr>
            <a:spLocks noGrp="1"/>
          </p:cNvSpPr>
          <p:nvPr>
            <p:ph idx="1"/>
          </p:nvPr>
        </p:nvSpPr>
        <p:spPr/>
        <p:txBody>
          <a:bodyPr>
            <a:normAutofit/>
          </a:bodyPr>
          <a:lstStyle/>
          <a:p>
            <a:pPr marL="225425" indent="-225425">
              <a:lnSpc>
                <a:spcPct val="150000"/>
              </a:lnSpc>
              <a:buClr>
                <a:srgbClr val="009CAC"/>
              </a:buClr>
              <a:buFont typeface="Wingdings" panose="05000000000000000000" pitchFamily="2" charset="2"/>
              <a:buChar char="§"/>
            </a:pPr>
            <a:r>
              <a:rPr lang="en-US" sz="1600" b="1" dirty="0"/>
              <a:t>Super Key (SK):</a:t>
            </a:r>
            <a:r>
              <a:rPr lang="en-US" sz="1600" dirty="0"/>
              <a:t> any combination of fields within a table that uniquely identifies each record within that table (</a:t>
            </a:r>
            <a:r>
              <a:rPr lang="en-US" altLang="en-US" sz="1600" dirty="0"/>
              <a:t>No two tuples will have the same value for SK). Any set of attributes that includes a key is a super key.</a:t>
            </a:r>
          </a:p>
          <a:p>
            <a:pPr marL="225425" indent="-225425">
              <a:lnSpc>
                <a:spcPct val="150000"/>
              </a:lnSpc>
              <a:buClr>
                <a:srgbClr val="009CAC"/>
              </a:buClr>
              <a:buFont typeface="Wingdings" panose="05000000000000000000" pitchFamily="2" charset="2"/>
              <a:buChar char="§"/>
            </a:pPr>
            <a:r>
              <a:rPr lang="en-US" sz="1600" b="1" dirty="0"/>
              <a:t>Candidate Key: </a:t>
            </a:r>
            <a:r>
              <a:rPr lang="en-US" sz="1600" dirty="0"/>
              <a:t>a key that contains the </a:t>
            </a:r>
            <a:r>
              <a:rPr lang="en-US" sz="1600" b="1" dirty="0"/>
              <a:t>least possible attributes</a:t>
            </a:r>
            <a:r>
              <a:rPr lang="en-US" sz="1600" dirty="0"/>
              <a:t>, and that maintains the criteria that it can uniquely identify any table row (subset of a super key).</a:t>
            </a:r>
            <a:endParaRPr lang="en-US" sz="1600" b="1" dirty="0"/>
          </a:p>
          <a:p>
            <a:pPr marL="225425" indent="-225425">
              <a:lnSpc>
                <a:spcPct val="150000"/>
              </a:lnSpc>
              <a:buClr>
                <a:srgbClr val="009CAC"/>
              </a:buClr>
              <a:buFont typeface="Wingdings" panose="05000000000000000000" pitchFamily="2" charset="2"/>
              <a:buChar char="§"/>
            </a:pPr>
            <a:r>
              <a:rPr lang="en-US" sz="1600" b="1" dirty="0"/>
              <a:t>Primary Key: </a:t>
            </a:r>
            <a:r>
              <a:rPr lang="en-US" sz="1600" dirty="0"/>
              <a:t>One candidate key from the set of all possible candidate keys is chosen to be the primary key.</a:t>
            </a:r>
          </a:p>
          <a:p>
            <a:pPr marL="225425" indent="-225425">
              <a:lnSpc>
                <a:spcPct val="150000"/>
              </a:lnSpc>
              <a:buClr>
                <a:srgbClr val="009CAC"/>
              </a:buClr>
              <a:buFont typeface="Wingdings" panose="05000000000000000000" pitchFamily="2" charset="2"/>
              <a:buChar char="§"/>
            </a:pPr>
            <a:r>
              <a:rPr lang="en-US" sz="1600" b="1" dirty="0"/>
              <a:t>Secondary Key or Alternative Key: </a:t>
            </a:r>
            <a:r>
              <a:rPr lang="en-US" sz="1600" dirty="0"/>
              <a:t>keys left after chose the PK from candidate keys.</a:t>
            </a:r>
          </a:p>
          <a:p>
            <a:pPr marL="225425" indent="-225425">
              <a:lnSpc>
                <a:spcPct val="150000"/>
              </a:lnSpc>
              <a:buClr>
                <a:srgbClr val="009CAC"/>
              </a:buClr>
              <a:buFont typeface="Wingdings" panose="05000000000000000000" pitchFamily="2" charset="2"/>
              <a:buChar char="§"/>
            </a:pPr>
            <a:r>
              <a:rPr lang="en-US" sz="1600" b="1" dirty="0"/>
              <a:t>Foreign Key: </a:t>
            </a:r>
            <a:r>
              <a:rPr lang="en-US" sz="1600" dirty="0"/>
              <a:t>a primary key from one table that appears as a field in another table, where the first table has a relationship to the second table.</a:t>
            </a:r>
            <a:endParaRPr lang="en-US" sz="1600" b="1" dirty="0"/>
          </a:p>
          <a:p>
            <a:pPr marL="225425" indent="-225425">
              <a:buFont typeface="Wingdings" panose="05000000000000000000" pitchFamily="2" charset="2"/>
              <a:buChar char="§"/>
            </a:pPr>
            <a:endParaRPr lang="en-US" sz="1600" dirty="0"/>
          </a:p>
        </p:txBody>
      </p:sp>
      <p:sp>
        <p:nvSpPr>
          <p:cNvPr id="6" name="Footer Placeholder 5">
            <a:extLst>
              <a:ext uri="{FF2B5EF4-FFF2-40B4-BE49-F238E27FC236}">
                <a16:creationId xmlns:a16="http://schemas.microsoft.com/office/drawing/2014/main" id="{F51F3FC6-B6E6-112E-0159-4DDE49BF4933}"/>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5F34C27F-7F96-A061-A61D-95A8AAE2DAEA}"/>
              </a:ext>
            </a:extLst>
          </p:cNvPr>
          <p:cNvSpPr>
            <a:spLocks noGrp="1"/>
          </p:cNvSpPr>
          <p:nvPr>
            <p:ph type="sldNum" sz="quarter" idx="12"/>
          </p:nvPr>
        </p:nvSpPr>
        <p:spPr/>
        <p:txBody>
          <a:bodyPr/>
          <a:lstStyle/>
          <a:p>
            <a:fld id="{E6B03378-CDB7-40C1-827C-F54129224789}" type="slidenum">
              <a:rPr lang="en-US" smtClean="0"/>
              <a:t>5</a:t>
            </a:fld>
            <a:endParaRPr lang="en-US"/>
          </a:p>
        </p:txBody>
      </p:sp>
    </p:spTree>
    <p:extLst>
      <p:ext uri="{BB962C8B-B14F-4D97-AF65-F5344CB8AC3E}">
        <p14:creationId xmlns:p14="http://schemas.microsoft.com/office/powerpoint/2010/main" val="2367496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18909-76AF-EB17-A2A4-DB65BAC6406E}"/>
              </a:ext>
            </a:extLst>
          </p:cNvPr>
          <p:cNvSpPr>
            <a:spLocks noGrp="1"/>
          </p:cNvSpPr>
          <p:nvPr>
            <p:ph type="title"/>
          </p:nvPr>
        </p:nvSpPr>
        <p:spPr/>
        <p:txBody>
          <a:bodyPr/>
          <a:lstStyle/>
          <a:p>
            <a:r>
              <a:rPr lang="en-US" b="1" dirty="0"/>
              <a:t>Keys – Example</a:t>
            </a:r>
          </a:p>
        </p:txBody>
      </p:sp>
      <p:sp>
        <p:nvSpPr>
          <p:cNvPr id="3" name="Content Placeholder 2">
            <a:extLst>
              <a:ext uri="{FF2B5EF4-FFF2-40B4-BE49-F238E27FC236}">
                <a16:creationId xmlns:a16="http://schemas.microsoft.com/office/drawing/2014/main" id="{5EB14077-B8CC-6977-1193-FB424293C2D3}"/>
              </a:ext>
            </a:extLst>
          </p:cNvPr>
          <p:cNvSpPr>
            <a:spLocks noGrp="1"/>
          </p:cNvSpPr>
          <p:nvPr>
            <p:ph idx="1"/>
          </p:nvPr>
        </p:nvSpPr>
        <p:spPr>
          <a:xfrm>
            <a:off x="6762740" y="4562162"/>
            <a:ext cx="5901209" cy="2443316"/>
          </a:xfrm>
        </p:spPr>
        <p:txBody>
          <a:bodyPr>
            <a:normAutofit/>
          </a:bodyPr>
          <a:lstStyle/>
          <a:p>
            <a:pPr marL="225425" indent="-225425">
              <a:buFont typeface="Wingdings" panose="05000000000000000000" pitchFamily="2" charset="2"/>
              <a:buChar char="§"/>
            </a:pPr>
            <a:r>
              <a:rPr lang="en-US" sz="1800" b="1" dirty="0"/>
              <a:t>Candidate keys</a:t>
            </a:r>
            <a:r>
              <a:rPr lang="en-US" sz="1800" dirty="0"/>
              <a:t>: {</a:t>
            </a:r>
            <a:r>
              <a:rPr lang="en-US" sz="1800" dirty="0" err="1"/>
              <a:t>StudID</a:t>
            </a:r>
            <a:r>
              <a:rPr lang="en-US" sz="1800" dirty="0"/>
              <a:t>}, {</a:t>
            </a:r>
            <a:r>
              <a:rPr lang="en-US" sz="1800" dirty="0" err="1"/>
              <a:t>Stud_phone</a:t>
            </a:r>
            <a:r>
              <a:rPr lang="en-US" sz="1800" dirty="0"/>
              <a:t>}, {</a:t>
            </a:r>
            <a:r>
              <a:rPr lang="en-US" sz="1800" dirty="0" err="1"/>
              <a:t>Stud_email</a:t>
            </a:r>
            <a:r>
              <a:rPr lang="en-US" sz="1800" dirty="0"/>
              <a:t>}, {</a:t>
            </a:r>
            <a:r>
              <a:rPr lang="en-US" sz="1800" dirty="0" err="1"/>
              <a:t>stud_address</a:t>
            </a:r>
            <a:r>
              <a:rPr lang="en-US" sz="1800" dirty="0"/>
              <a:t>}</a:t>
            </a:r>
          </a:p>
          <a:p>
            <a:pPr marL="225425" indent="-225425">
              <a:buFont typeface="Wingdings" panose="05000000000000000000" pitchFamily="2" charset="2"/>
              <a:buChar char="§"/>
            </a:pPr>
            <a:r>
              <a:rPr lang="en-US" sz="1800" b="1" dirty="0"/>
              <a:t>Primary key</a:t>
            </a:r>
            <a:r>
              <a:rPr lang="en-US" sz="1800" dirty="0"/>
              <a:t>: {</a:t>
            </a:r>
            <a:r>
              <a:rPr lang="en-US" sz="1800" dirty="0" err="1"/>
              <a:t>StudID</a:t>
            </a:r>
            <a:r>
              <a:rPr lang="en-US" sz="1800" dirty="0"/>
              <a:t>}</a:t>
            </a:r>
          </a:p>
          <a:p>
            <a:pPr marL="225425" indent="-225425">
              <a:buFont typeface="Wingdings" panose="05000000000000000000" pitchFamily="2" charset="2"/>
              <a:buChar char="§"/>
            </a:pPr>
            <a:r>
              <a:rPr lang="en-US" sz="1800" b="1" dirty="0"/>
              <a:t>Alternative Keys</a:t>
            </a:r>
            <a:r>
              <a:rPr lang="en-US" sz="1800" dirty="0"/>
              <a:t>: {</a:t>
            </a:r>
            <a:r>
              <a:rPr lang="en-US" sz="1800" dirty="0" err="1"/>
              <a:t>Stud_phone</a:t>
            </a:r>
            <a:r>
              <a:rPr lang="en-US" sz="1800" dirty="0"/>
              <a:t>} , {</a:t>
            </a:r>
            <a:r>
              <a:rPr lang="en-US" sz="1800" dirty="0" err="1"/>
              <a:t>Stud_email</a:t>
            </a:r>
            <a:r>
              <a:rPr lang="en-US" sz="1800" dirty="0"/>
              <a:t>}, {</a:t>
            </a:r>
            <a:r>
              <a:rPr lang="en-US" sz="1800" dirty="0" err="1"/>
              <a:t>stud_address</a:t>
            </a:r>
            <a:r>
              <a:rPr lang="en-US" sz="1800" dirty="0"/>
              <a:t>} </a:t>
            </a:r>
          </a:p>
          <a:p>
            <a:pPr marL="225425" indent="-225425">
              <a:buFont typeface="Wingdings" panose="05000000000000000000" pitchFamily="2" charset="2"/>
              <a:buChar char="§"/>
            </a:pPr>
            <a:endParaRPr lang="en-US" sz="1800" dirty="0"/>
          </a:p>
          <a:p>
            <a:pPr marL="225425" indent="-225425">
              <a:buFont typeface="Wingdings" panose="05000000000000000000" pitchFamily="2" charset="2"/>
              <a:buChar char="§"/>
            </a:pPr>
            <a:endParaRPr lang="en-US" sz="1800" dirty="0"/>
          </a:p>
          <a:p>
            <a:pPr marL="0" indent="0">
              <a:buNone/>
            </a:pPr>
            <a:endParaRPr lang="en-US" sz="1800" dirty="0"/>
          </a:p>
          <a:p>
            <a:pPr marL="0" indent="0">
              <a:buNone/>
            </a:pPr>
            <a:endParaRPr lang="en-US" sz="1800" dirty="0"/>
          </a:p>
        </p:txBody>
      </p:sp>
      <p:sp>
        <p:nvSpPr>
          <p:cNvPr id="6" name="Footer Placeholder 5">
            <a:extLst>
              <a:ext uri="{FF2B5EF4-FFF2-40B4-BE49-F238E27FC236}">
                <a16:creationId xmlns:a16="http://schemas.microsoft.com/office/drawing/2014/main" id="{5D550D0D-B30C-7AFC-8368-753246351414}"/>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CE11A143-8129-DBC5-E7CB-FEF648F97EC9}"/>
              </a:ext>
            </a:extLst>
          </p:cNvPr>
          <p:cNvSpPr>
            <a:spLocks noGrp="1"/>
          </p:cNvSpPr>
          <p:nvPr>
            <p:ph type="sldNum" sz="quarter" idx="12"/>
          </p:nvPr>
        </p:nvSpPr>
        <p:spPr/>
        <p:txBody>
          <a:bodyPr/>
          <a:lstStyle/>
          <a:p>
            <a:fld id="{E6B03378-CDB7-40C1-827C-F54129224789}" type="slidenum">
              <a:rPr lang="en-US" smtClean="0"/>
              <a:t>6</a:t>
            </a:fld>
            <a:endParaRPr lang="en-US"/>
          </a:p>
        </p:txBody>
      </p:sp>
      <p:graphicFrame>
        <p:nvGraphicFramePr>
          <p:cNvPr id="9" name="Table 9">
            <a:extLst>
              <a:ext uri="{FF2B5EF4-FFF2-40B4-BE49-F238E27FC236}">
                <a16:creationId xmlns:a16="http://schemas.microsoft.com/office/drawing/2014/main" id="{CA37D168-976A-35AA-DE87-5B54B172E43F}"/>
              </a:ext>
            </a:extLst>
          </p:cNvPr>
          <p:cNvGraphicFramePr>
            <a:graphicFrameLocks noGrp="1"/>
          </p:cNvGraphicFramePr>
          <p:nvPr>
            <p:extLst>
              <p:ext uri="{D42A27DB-BD31-4B8C-83A1-F6EECF244321}">
                <p14:modId xmlns:p14="http://schemas.microsoft.com/office/powerpoint/2010/main" val="232807492"/>
              </p:ext>
            </p:extLst>
          </p:nvPr>
        </p:nvGraphicFramePr>
        <p:xfrm>
          <a:off x="1093892" y="1833708"/>
          <a:ext cx="8699039" cy="2512144"/>
        </p:xfrm>
        <a:graphic>
          <a:graphicData uri="http://schemas.openxmlformats.org/drawingml/2006/table">
            <a:tbl>
              <a:tblPr firstRow="1" bandRow="1">
                <a:tableStyleId>{5C22544A-7EE6-4342-B048-85BDC9FD1C3A}</a:tableStyleId>
              </a:tblPr>
              <a:tblGrid>
                <a:gridCol w="842217">
                  <a:extLst>
                    <a:ext uri="{9D8B030D-6E8A-4147-A177-3AD203B41FA5}">
                      <a16:colId xmlns:a16="http://schemas.microsoft.com/office/drawing/2014/main" val="1248433385"/>
                    </a:ext>
                  </a:extLst>
                </a:gridCol>
                <a:gridCol w="1152246">
                  <a:extLst>
                    <a:ext uri="{9D8B030D-6E8A-4147-A177-3AD203B41FA5}">
                      <a16:colId xmlns:a16="http://schemas.microsoft.com/office/drawing/2014/main" val="379532561"/>
                    </a:ext>
                  </a:extLst>
                </a:gridCol>
                <a:gridCol w="1177114">
                  <a:extLst>
                    <a:ext uri="{9D8B030D-6E8A-4147-A177-3AD203B41FA5}">
                      <a16:colId xmlns:a16="http://schemas.microsoft.com/office/drawing/2014/main" val="209730848"/>
                    </a:ext>
                  </a:extLst>
                </a:gridCol>
                <a:gridCol w="1185404">
                  <a:extLst>
                    <a:ext uri="{9D8B030D-6E8A-4147-A177-3AD203B41FA5}">
                      <a16:colId xmlns:a16="http://schemas.microsoft.com/office/drawing/2014/main" val="1857607293"/>
                    </a:ext>
                  </a:extLst>
                </a:gridCol>
                <a:gridCol w="1135666">
                  <a:extLst>
                    <a:ext uri="{9D8B030D-6E8A-4147-A177-3AD203B41FA5}">
                      <a16:colId xmlns:a16="http://schemas.microsoft.com/office/drawing/2014/main" val="1647508827"/>
                    </a:ext>
                  </a:extLst>
                </a:gridCol>
                <a:gridCol w="1541853">
                  <a:extLst>
                    <a:ext uri="{9D8B030D-6E8A-4147-A177-3AD203B41FA5}">
                      <a16:colId xmlns:a16="http://schemas.microsoft.com/office/drawing/2014/main" val="398175193"/>
                    </a:ext>
                  </a:extLst>
                </a:gridCol>
                <a:gridCol w="1664539">
                  <a:extLst>
                    <a:ext uri="{9D8B030D-6E8A-4147-A177-3AD203B41FA5}">
                      <a16:colId xmlns:a16="http://schemas.microsoft.com/office/drawing/2014/main" val="4088387711"/>
                    </a:ext>
                  </a:extLst>
                </a:gridCol>
              </a:tblGrid>
              <a:tr h="439504">
                <a:tc>
                  <a:txBody>
                    <a:bodyPr/>
                    <a:lstStyle/>
                    <a:p>
                      <a:r>
                        <a:rPr lang="en-US" sz="1400" dirty="0" err="1"/>
                        <a:t>StudID</a:t>
                      </a:r>
                      <a:endParaRPr lang="en-US" sz="1400" dirty="0"/>
                    </a:p>
                  </a:txBody>
                  <a:tcPr/>
                </a:tc>
                <a:tc>
                  <a:txBody>
                    <a:bodyPr/>
                    <a:lstStyle/>
                    <a:p>
                      <a:r>
                        <a:rPr lang="en-US" sz="1400" dirty="0" err="1"/>
                        <a:t>Stud_fname</a:t>
                      </a:r>
                      <a:endParaRPr lang="en-US" sz="1400" dirty="0"/>
                    </a:p>
                  </a:txBody>
                  <a:tcPr/>
                </a:tc>
                <a:tc>
                  <a:txBody>
                    <a:bodyPr/>
                    <a:lstStyle/>
                    <a:p>
                      <a:r>
                        <a:rPr lang="en-US" sz="1400"/>
                        <a:t>Stud_lname</a:t>
                      </a:r>
                      <a:endParaRPr lang="en-US" sz="1400" dirty="0"/>
                    </a:p>
                  </a:txBody>
                  <a:tcPr/>
                </a:tc>
                <a:tc>
                  <a:txBody>
                    <a:bodyPr/>
                    <a:lstStyle/>
                    <a:p>
                      <a:r>
                        <a:rPr lang="en-US" sz="1400" dirty="0" err="1"/>
                        <a:t>Stud_phone</a:t>
                      </a:r>
                      <a:endParaRPr lang="en-US" sz="1400" dirty="0"/>
                    </a:p>
                  </a:txBody>
                  <a:tcPr/>
                </a:tc>
                <a:tc>
                  <a:txBody>
                    <a:bodyPr/>
                    <a:lstStyle/>
                    <a:p>
                      <a:r>
                        <a:rPr lang="en-US" sz="1400" dirty="0" err="1"/>
                        <a:t>Stud_email</a:t>
                      </a:r>
                      <a:endParaRPr lang="en-US" sz="1400" dirty="0"/>
                    </a:p>
                  </a:txBody>
                  <a:tcPr/>
                </a:tc>
                <a:tc>
                  <a:txBody>
                    <a:bodyPr/>
                    <a:lstStyle/>
                    <a:p>
                      <a:r>
                        <a:rPr lang="en-US" sz="1400" dirty="0" err="1"/>
                        <a:t>Stud_address</a:t>
                      </a:r>
                      <a:endParaRPr lang="en-US" sz="1400" dirty="0"/>
                    </a:p>
                  </a:txBody>
                  <a:tcPr/>
                </a:tc>
                <a:tc>
                  <a:txBody>
                    <a:bodyPr/>
                    <a:lstStyle/>
                    <a:p>
                      <a:r>
                        <a:rPr lang="en-US" sz="1400" dirty="0" err="1"/>
                        <a:t>Department_No</a:t>
                      </a:r>
                      <a:endParaRPr lang="en-US" sz="1400" dirty="0"/>
                    </a:p>
                  </a:txBody>
                  <a:tcPr/>
                </a:tc>
                <a:extLst>
                  <a:ext uri="{0D108BD9-81ED-4DB2-BD59-A6C34878D82A}">
                    <a16:rowId xmlns:a16="http://schemas.microsoft.com/office/drawing/2014/main" val="2839743883"/>
                  </a:ext>
                </a:extLst>
              </a:tr>
              <a:tr h="439504">
                <a:tc>
                  <a:txBody>
                    <a:bodyPr/>
                    <a:lstStyle/>
                    <a:p>
                      <a:r>
                        <a:rPr lang="en-US" sz="1400" dirty="0"/>
                        <a:t>1</a:t>
                      </a:r>
                    </a:p>
                  </a:txBody>
                  <a:tcPr/>
                </a:tc>
                <a:tc>
                  <a:txBody>
                    <a:bodyPr/>
                    <a:lstStyle/>
                    <a:p>
                      <a:r>
                        <a:rPr lang="en-US" sz="1400" kern="1200" dirty="0">
                          <a:solidFill>
                            <a:schemeClr val="dk1"/>
                          </a:solidFill>
                          <a:effectLst/>
                          <a:latin typeface="+mn-lt"/>
                          <a:ea typeface="+mn-ea"/>
                          <a:cs typeface="+mn-cs"/>
                        </a:rPr>
                        <a:t>John </a:t>
                      </a:r>
                      <a:endParaRPr lang="en-US" sz="1400" dirty="0"/>
                    </a:p>
                  </a:txBody>
                  <a:tcPr/>
                </a:tc>
                <a:tc>
                  <a:txBody>
                    <a:bodyPr/>
                    <a:lstStyle/>
                    <a:p>
                      <a:r>
                        <a:rPr lang="en-US" sz="1400" kern="1200" dirty="0">
                          <a:solidFill>
                            <a:schemeClr val="dk1"/>
                          </a:solidFill>
                          <a:effectLst/>
                          <a:latin typeface="+mn-lt"/>
                          <a:ea typeface="+mn-ea"/>
                          <a:cs typeface="+mn-cs"/>
                        </a:rPr>
                        <a:t>Smith </a:t>
                      </a:r>
                      <a:endParaRPr lang="en-US" sz="1400" dirty="0"/>
                    </a:p>
                  </a:txBody>
                  <a:tcPr/>
                </a:tc>
                <a:tc>
                  <a:txBody>
                    <a:bodyPr/>
                    <a:lstStyle/>
                    <a:p>
                      <a:r>
                        <a:rPr lang="en-US" sz="1400" kern="1200" dirty="0">
                          <a:solidFill>
                            <a:schemeClr val="dk1"/>
                          </a:solidFill>
                          <a:effectLst/>
                          <a:latin typeface="+mn-lt"/>
                          <a:ea typeface="+mn-ea"/>
                          <a:cs typeface="+mn-cs"/>
                        </a:rPr>
                        <a:t>1234567890 </a:t>
                      </a:r>
                      <a:endParaRPr lang="en-US" sz="1400" dirty="0"/>
                    </a:p>
                  </a:txBody>
                  <a:tcPr/>
                </a:tc>
                <a:tc>
                  <a:txBody>
                    <a:bodyPr/>
                    <a:lstStyle/>
                    <a:p>
                      <a:r>
                        <a:rPr lang="en-US" sz="1400" kern="1200" dirty="0">
                          <a:solidFill>
                            <a:schemeClr val="dk1"/>
                          </a:solidFill>
                          <a:effectLst/>
                          <a:latin typeface="+mn-lt"/>
                          <a:ea typeface="+mn-ea"/>
                          <a:cs typeface="+mn-cs"/>
                        </a:rPr>
                        <a:t>john@example.com </a:t>
                      </a:r>
                      <a:endParaRPr lang="en-US" sz="1400" dirty="0"/>
                    </a:p>
                  </a:txBody>
                  <a:tcPr/>
                </a:tc>
                <a:tc>
                  <a:txBody>
                    <a:bodyPr/>
                    <a:lstStyle/>
                    <a:p>
                      <a:r>
                        <a:rPr lang="en-US" sz="1400" kern="1200" dirty="0">
                          <a:solidFill>
                            <a:schemeClr val="dk1"/>
                          </a:solidFill>
                          <a:effectLst/>
                          <a:latin typeface="+mn-lt"/>
                          <a:ea typeface="+mn-ea"/>
                          <a:cs typeface="+mn-cs"/>
                        </a:rPr>
                        <a:t>123 Main Street </a:t>
                      </a:r>
                      <a:endParaRPr lang="en-US" sz="1400" dirty="0"/>
                    </a:p>
                  </a:txBody>
                  <a:tcPr/>
                </a:tc>
                <a:tc>
                  <a:txBody>
                    <a:bodyPr/>
                    <a:lstStyle/>
                    <a:p>
                      <a:r>
                        <a:rPr lang="en-US" sz="1400" dirty="0"/>
                        <a:t>101</a:t>
                      </a:r>
                    </a:p>
                  </a:txBody>
                  <a:tcPr/>
                </a:tc>
                <a:extLst>
                  <a:ext uri="{0D108BD9-81ED-4DB2-BD59-A6C34878D82A}">
                    <a16:rowId xmlns:a16="http://schemas.microsoft.com/office/drawing/2014/main" val="3168398921"/>
                  </a:ext>
                </a:extLst>
              </a:tr>
              <a:tr h="439504">
                <a:tc>
                  <a:txBody>
                    <a:bodyPr/>
                    <a:lstStyle/>
                    <a:p>
                      <a:r>
                        <a:rPr lang="en-US" sz="1400" dirty="0"/>
                        <a:t>2</a:t>
                      </a:r>
                    </a:p>
                  </a:txBody>
                  <a:tcPr/>
                </a:tc>
                <a:tc>
                  <a:txBody>
                    <a:bodyPr/>
                    <a:lstStyle/>
                    <a:p>
                      <a:r>
                        <a:rPr lang="en-US" sz="1400" kern="1200" dirty="0">
                          <a:solidFill>
                            <a:schemeClr val="dk1"/>
                          </a:solidFill>
                          <a:effectLst/>
                          <a:latin typeface="+mn-lt"/>
                          <a:ea typeface="+mn-ea"/>
                          <a:cs typeface="+mn-cs"/>
                        </a:rPr>
                        <a:t>Alice </a:t>
                      </a:r>
                      <a:endParaRPr lang="en-US" sz="1400" dirty="0"/>
                    </a:p>
                  </a:txBody>
                  <a:tcPr/>
                </a:tc>
                <a:tc>
                  <a:txBody>
                    <a:bodyPr/>
                    <a:lstStyle/>
                    <a:p>
                      <a:r>
                        <a:rPr lang="en-US" sz="1400" kern="1200" dirty="0">
                          <a:solidFill>
                            <a:schemeClr val="dk1"/>
                          </a:solidFill>
                          <a:effectLst/>
                          <a:latin typeface="+mn-lt"/>
                          <a:ea typeface="+mn-ea"/>
                          <a:cs typeface="+mn-cs"/>
                        </a:rPr>
                        <a:t>Johnson </a:t>
                      </a:r>
                      <a:endParaRPr lang="en-US" sz="1400" dirty="0"/>
                    </a:p>
                  </a:txBody>
                  <a:tcPr/>
                </a:tc>
                <a:tc>
                  <a:txBody>
                    <a:bodyPr/>
                    <a:lstStyle/>
                    <a:p>
                      <a:r>
                        <a:rPr lang="en-US" sz="1400" kern="1200" dirty="0">
                          <a:solidFill>
                            <a:schemeClr val="dk1"/>
                          </a:solidFill>
                          <a:effectLst/>
                          <a:latin typeface="+mn-lt"/>
                          <a:ea typeface="+mn-ea"/>
                          <a:cs typeface="+mn-cs"/>
                        </a:rPr>
                        <a:t>9876543210 </a:t>
                      </a:r>
                      <a:endParaRPr lang="en-US" sz="1400" dirty="0"/>
                    </a:p>
                  </a:txBody>
                  <a:tcPr/>
                </a:tc>
                <a:tc>
                  <a:txBody>
                    <a:bodyPr/>
                    <a:lstStyle/>
                    <a:p>
                      <a:r>
                        <a:rPr lang="en-US" sz="1400" kern="1200" dirty="0">
                          <a:solidFill>
                            <a:schemeClr val="dk1"/>
                          </a:solidFill>
                          <a:effectLst/>
                          <a:latin typeface="+mn-lt"/>
                          <a:ea typeface="+mn-ea"/>
                          <a:cs typeface="+mn-cs"/>
                        </a:rPr>
                        <a:t>alice@example.com </a:t>
                      </a:r>
                      <a:endParaRPr lang="en-US" sz="1400" dirty="0"/>
                    </a:p>
                  </a:txBody>
                  <a:tcPr/>
                </a:tc>
                <a:tc>
                  <a:txBody>
                    <a:bodyPr/>
                    <a:lstStyle/>
                    <a:p>
                      <a:r>
                        <a:rPr lang="en-US" sz="1400" kern="1200" dirty="0">
                          <a:solidFill>
                            <a:schemeClr val="dk1"/>
                          </a:solidFill>
                          <a:effectLst/>
                          <a:latin typeface="+mn-lt"/>
                          <a:ea typeface="+mn-ea"/>
                          <a:cs typeface="+mn-cs"/>
                        </a:rPr>
                        <a:t>456 Park Avenue </a:t>
                      </a:r>
                      <a:endParaRPr lang="en-US" sz="1400" dirty="0"/>
                    </a:p>
                  </a:txBody>
                  <a:tcPr/>
                </a:tc>
                <a:tc>
                  <a:txBody>
                    <a:bodyPr/>
                    <a:lstStyle/>
                    <a:p>
                      <a:r>
                        <a:rPr lang="en-US" sz="1400" dirty="0"/>
                        <a:t>102</a:t>
                      </a:r>
                    </a:p>
                  </a:txBody>
                  <a:tcPr/>
                </a:tc>
                <a:extLst>
                  <a:ext uri="{0D108BD9-81ED-4DB2-BD59-A6C34878D82A}">
                    <a16:rowId xmlns:a16="http://schemas.microsoft.com/office/drawing/2014/main" val="2386956949"/>
                  </a:ext>
                </a:extLst>
              </a:tr>
              <a:tr h="439504">
                <a:tc>
                  <a:txBody>
                    <a:bodyPr/>
                    <a:lstStyle/>
                    <a:p>
                      <a:r>
                        <a:rPr lang="en-US" sz="1400" dirty="0"/>
                        <a:t>3</a:t>
                      </a:r>
                    </a:p>
                  </a:txBody>
                  <a:tcPr/>
                </a:tc>
                <a:tc>
                  <a:txBody>
                    <a:bodyPr/>
                    <a:lstStyle/>
                    <a:p>
                      <a:r>
                        <a:rPr lang="en-US" sz="1400" kern="1200" dirty="0">
                          <a:solidFill>
                            <a:schemeClr val="dk1"/>
                          </a:solidFill>
                          <a:effectLst/>
                          <a:latin typeface="+mn-lt"/>
                          <a:ea typeface="+mn-ea"/>
                          <a:cs typeface="+mn-cs"/>
                        </a:rPr>
                        <a:t>Bob </a:t>
                      </a:r>
                      <a:endParaRPr lang="en-US" sz="1400" dirty="0"/>
                    </a:p>
                  </a:txBody>
                  <a:tcPr/>
                </a:tc>
                <a:tc>
                  <a:txBody>
                    <a:bodyPr/>
                    <a:lstStyle/>
                    <a:p>
                      <a:r>
                        <a:rPr lang="en-US" sz="1400" kern="1200" dirty="0">
                          <a:solidFill>
                            <a:schemeClr val="dk1"/>
                          </a:solidFill>
                          <a:effectLst/>
                          <a:latin typeface="+mn-lt"/>
                          <a:ea typeface="+mn-ea"/>
                          <a:cs typeface="+mn-cs"/>
                        </a:rPr>
                        <a:t>Williams </a:t>
                      </a:r>
                      <a:endParaRPr lang="en-US" sz="1400" dirty="0"/>
                    </a:p>
                  </a:txBody>
                  <a:tcPr/>
                </a:tc>
                <a:tc>
                  <a:txBody>
                    <a:bodyPr/>
                    <a:lstStyle/>
                    <a:p>
                      <a:r>
                        <a:rPr lang="en-US" sz="1400" kern="1200" dirty="0">
                          <a:solidFill>
                            <a:schemeClr val="dk1"/>
                          </a:solidFill>
                          <a:effectLst/>
                          <a:latin typeface="+mn-lt"/>
                          <a:ea typeface="+mn-ea"/>
                          <a:cs typeface="+mn-cs"/>
                        </a:rPr>
                        <a:t>5551234567 </a:t>
                      </a:r>
                      <a:endParaRPr lang="en-US" sz="1400" dirty="0"/>
                    </a:p>
                  </a:txBody>
                  <a:tcPr/>
                </a:tc>
                <a:tc>
                  <a:txBody>
                    <a:bodyPr/>
                    <a:lstStyle/>
                    <a:p>
                      <a:r>
                        <a:rPr lang="en-US" sz="1400" kern="1200" dirty="0">
                          <a:solidFill>
                            <a:schemeClr val="dk1"/>
                          </a:solidFill>
                          <a:effectLst/>
                          <a:latin typeface="+mn-lt"/>
                          <a:ea typeface="+mn-ea"/>
                          <a:cs typeface="+mn-cs"/>
                        </a:rPr>
                        <a:t>bob@example.com </a:t>
                      </a:r>
                      <a:endParaRPr lang="en-US" sz="1400" dirty="0"/>
                    </a:p>
                  </a:txBody>
                  <a:tcPr/>
                </a:tc>
                <a:tc>
                  <a:txBody>
                    <a:bodyPr/>
                    <a:lstStyle/>
                    <a:p>
                      <a:r>
                        <a:rPr lang="en-US" sz="1400" kern="1200" dirty="0">
                          <a:solidFill>
                            <a:schemeClr val="dk1"/>
                          </a:solidFill>
                          <a:effectLst/>
                          <a:latin typeface="+mn-lt"/>
                          <a:ea typeface="+mn-ea"/>
                          <a:cs typeface="+mn-cs"/>
                        </a:rPr>
                        <a:t>789 Broadway Boulevard </a:t>
                      </a:r>
                      <a:endParaRPr lang="en-US" sz="1400" dirty="0"/>
                    </a:p>
                  </a:txBody>
                  <a:tcPr/>
                </a:tc>
                <a:tc>
                  <a:txBody>
                    <a:bodyPr/>
                    <a:lstStyle/>
                    <a:p>
                      <a:r>
                        <a:rPr lang="en-US" sz="1400" kern="1200" dirty="0">
                          <a:solidFill>
                            <a:schemeClr val="dk1"/>
                          </a:solidFill>
                          <a:effectLst/>
                          <a:latin typeface="+mn-lt"/>
                          <a:ea typeface="+mn-ea"/>
                          <a:cs typeface="+mn-cs"/>
                        </a:rPr>
                        <a:t>101</a:t>
                      </a:r>
                      <a:endParaRPr lang="en-US" sz="1400" dirty="0"/>
                    </a:p>
                  </a:txBody>
                  <a:tcPr/>
                </a:tc>
                <a:extLst>
                  <a:ext uri="{0D108BD9-81ED-4DB2-BD59-A6C34878D82A}">
                    <a16:rowId xmlns:a16="http://schemas.microsoft.com/office/drawing/2014/main" val="2695537582"/>
                  </a:ext>
                </a:extLst>
              </a:tr>
              <a:tr h="439504">
                <a:tc>
                  <a:txBody>
                    <a:bodyPr/>
                    <a:lstStyle/>
                    <a:p>
                      <a:r>
                        <a:rPr lang="en-US" sz="1400" dirty="0"/>
                        <a:t>4</a:t>
                      </a:r>
                    </a:p>
                  </a:txBody>
                  <a:tcPr/>
                </a:tc>
                <a:tc>
                  <a:txBody>
                    <a:bodyPr/>
                    <a:lstStyle/>
                    <a:p>
                      <a:r>
                        <a:rPr lang="en-US" sz="1400" kern="1200" dirty="0">
                          <a:solidFill>
                            <a:schemeClr val="dk1"/>
                          </a:solidFill>
                          <a:effectLst/>
                          <a:latin typeface="+mn-lt"/>
                          <a:ea typeface="+mn-ea"/>
                          <a:cs typeface="+mn-cs"/>
                        </a:rPr>
                        <a:t>Jane </a:t>
                      </a:r>
                      <a:endParaRPr lang="en-US" sz="1400" dirty="0"/>
                    </a:p>
                  </a:txBody>
                  <a:tcPr/>
                </a:tc>
                <a:tc>
                  <a:txBody>
                    <a:bodyPr/>
                    <a:lstStyle/>
                    <a:p>
                      <a:r>
                        <a:rPr lang="en-US" sz="1400" kern="1200" dirty="0">
                          <a:solidFill>
                            <a:schemeClr val="dk1"/>
                          </a:solidFill>
                          <a:effectLst/>
                          <a:latin typeface="+mn-lt"/>
                          <a:ea typeface="+mn-ea"/>
                          <a:cs typeface="+mn-cs"/>
                        </a:rPr>
                        <a:t>Brown </a:t>
                      </a:r>
                      <a:endParaRPr lang="en-US" sz="1400" dirty="0"/>
                    </a:p>
                  </a:txBody>
                  <a:tcPr/>
                </a:tc>
                <a:tc>
                  <a:txBody>
                    <a:bodyPr/>
                    <a:lstStyle/>
                    <a:p>
                      <a:r>
                        <a:rPr lang="en-US" sz="1400" kern="1200" dirty="0">
                          <a:solidFill>
                            <a:schemeClr val="dk1"/>
                          </a:solidFill>
                          <a:effectLst/>
                          <a:latin typeface="+mn-lt"/>
                          <a:ea typeface="+mn-ea"/>
                          <a:cs typeface="+mn-cs"/>
                        </a:rPr>
                        <a:t>7778889999 </a:t>
                      </a:r>
                      <a:endParaRPr lang="en-US" sz="1400" dirty="0"/>
                    </a:p>
                  </a:txBody>
                  <a:tcPr/>
                </a:tc>
                <a:tc>
                  <a:txBody>
                    <a:bodyPr/>
                    <a:lstStyle/>
                    <a:p>
                      <a:r>
                        <a:rPr lang="en-US" sz="1400" kern="1200" dirty="0">
                          <a:solidFill>
                            <a:schemeClr val="dk1"/>
                          </a:solidFill>
                          <a:effectLst/>
                          <a:latin typeface="+mn-lt"/>
                          <a:ea typeface="+mn-ea"/>
                          <a:cs typeface="+mn-cs"/>
                        </a:rPr>
                        <a:t>jane@example.com </a:t>
                      </a:r>
                      <a:endParaRPr lang="en-US" sz="1400" dirty="0"/>
                    </a:p>
                  </a:txBody>
                  <a:tcPr/>
                </a:tc>
                <a:tc>
                  <a:txBody>
                    <a:bodyPr/>
                    <a:lstStyle/>
                    <a:p>
                      <a:r>
                        <a:rPr lang="en-US" sz="1400" kern="1200" dirty="0">
                          <a:solidFill>
                            <a:schemeClr val="dk1"/>
                          </a:solidFill>
                          <a:effectLst/>
                          <a:latin typeface="+mn-lt"/>
                          <a:ea typeface="+mn-ea"/>
                          <a:cs typeface="+mn-cs"/>
                        </a:rPr>
                        <a:t>101 Oakwood Drive </a:t>
                      </a:r>
                      <a:endParaRPr lang="en-US" sz="1400" dirty="0"/>
                    </a:p>
                  </a:txBody>
                  <a:tcPr/>
                </a:tc>
                <a:tc>
                  <a:txBody>
                    <a:bodyPr/>
                    <a:lstStyle/>
                    <a:p>
                      <a:r>
                        <a:rPr lang="en-US" sz="1400" dirty="0"/>
                        <a:t>103</a:t>
                      </a:r>
                    </a:p>
                  </a:txBody>
                  <a:tcPr/>
                </a:tc>
                <a:extLst>
                  <a:ext uri="{0D108BD9-81ED-4DB2-BD59-A6C34878D82A}">
                    <a16:rowId xmlns:a16="http://schemas.microsoft.com/office/drawing/2014/main" val="2275753402"/>
                  </a:ext>
                </a:extLst>
              </a:tr>
            </a:tbl>
          </a:graphicData>
        </a:graphic>
      </p:graphicFrame>
      <p:sp>
        <p:nvSpPr>
          <p:cNvPr id="4" name="TextBox 3">
            <a:extLst>
              <a:ext uri="{FF2B5EF4-FFF2-40B4-BE49-F238E27FC236}">
                <a16:creationId xmlns:a16="http://schemas.microsoft.com/office/drawing/2014/main" id="{B5606E07-B1D6-7562-254D-C4D3A54B5A36}"/>
              </a:ext>
            </a:extLst>
          </p:cNvPr>
          <p:cNvSpPr txBox="1"/>
          <p:nvPr/>
        </p:nvSpPr>
        <p:spPr>
          <a:xfrm>
            <a:off x="415465" y="4572000"/>
            <a:ext cx="6021052" cy="1754326"/>
          </a:xfrm>
          <a:prstGeom prst="rect">
            <a:avLst/>
          </a:prstGeom>
          <a:noFill/>
        </p:spPr>
        <p:txBody>
          <a:bodyPr wrap="square" rtlCol="0">
            <a:spAutoFit/>
          </a:bodyPr>
          <a:lstStyle/>
          <a:p>
            <a:r>
              <a:rPr lang="en-US" b="1" dirty="0"/>
              <a:t>Super keys:</a:t>
            </a:r>
          </a:p>
          <a:p>
            <a:pPr algn="l"/>
            <a:r>
              <a:rPr lang="en-US" b="0" i="0" dirty="0">
                <a:solidFill>
                  <a:srgbClr val="374151"/>
                </a:solidFill>
                <a:effectLst/>
                <a:latin typeface="Söhne"/>
              </a:rPr>
              <a:t>{</a:t>
            </a:r>
            <a:r>
              <a:rPr lang="en-US" b="0" i="0" dirty="0" err="1">
                <a:solidFill>
                  <a:srgbClr val="374151"/>
                </a:solidFill>
                <a:effectLst/>
                <a:latin typeface="Söhne"/>
              </a:rPr>
              <a:t>StudID</a:t>
            </a:r>
            <a:r>
              <a:rPr lang="en-US" b="0" i="0" dirty="0">
                <a:solidFill>
                  <a:srgbClr val="374151"/>
                </a:solidFill>
                <a:effectLst/>
                <a:latin typeface="Söhne"/>
              </a:rPr>
              <a:t>}, {</a:t>
            </a:r>
            <a:r>
              <a:rPr lang="en-US" b="0" i="0" dirty="0" err="1">
                <a:solidFill>
                  <a:srgbClr val="374151"/>
                </a:solidFill>
                <a:effectLst/>
                <a:latin typeface="Söhne"/>
              </a:rPr>
              <a:t>Stud_fname</a:t>
            </a:r>
            <a:r>
              <a:rPr lang="en-US" b="0" i="0" dirty="0">
                <a:solidFill>
                  <a:srgbClr val="374151"/>
                </a:solidFill>
                <a:effectLst/>
                <a:latin typeface="Söhne"/>
              </a:rPr>
              <a:t>, </a:t>
            </a:r>
            <a:r>
              <a:rPr lang="en-US" b="0" i="0" dirty="0" err="1">
                <a:solidFill>
                  <a:srgbClr val="374151"/>
                </a:solidFill>
                <a:effectLst/>
                <a:latin typeface="Söhne"/>
              </a:rPr>
              <a:t>Stud_lname</a:t>
            </a:r>
            <a:r>
              <a:rPr lang="en-US" b="0" i="0" dirty="0">
                <a:solidFill>
                  <a:srgbClr val="374151"/>
                </a:solidFill>
                <a:effectLst/>
                <a:latin typeface="Söhne"/>
              </a:rPr>
              <a:t>}, {</a:t>
            </a:r>
            <a:r>
              <a:rPr lang="en-US" b="0" i="0" dirty="0" err="1">
                <a:solidFill>
                  <a:srgbClr val="374151"/>
                </a:solidFill>
                <a:effectLst/>
                <a:latin typeface="Söhne"/>
              </a:rPr>
              <a:t>Stud_phone</a:t>
            </a:r>
            <a:r>
              <a:rPr lang="en-US" b="0" i="0" dirty="0">
                <a:solidFill>
                  <a:srgbClr val="374151"/>
                </a:solidFill>
                <a:effectLst/>
                <a:latin typeface="Söhne"/>
              </a:rPr>
              <a:t>}, {</a:t>
            </a:r>
            <a:r>
              <a:rPr lang="en-US" b="0" i="0" dirty="0" err="1">
                <a:solidFill>
                  <a:srgbClr val="374151"/>
                </a:solidFill>
                <a:effectLst/>
                <a:latin typeface="Söhne"/>
              </a:rPr>
              <a:t>Stud_email</a:t>
            </a:r>
            <a:r>
              <a:rPr lang="en-US" b="0" i="0" dirty="0">
                <a:solidFill>
                  <a:srgbClr val="374151"/>
                </a:solidFill>
                <a:effectLst/>
                <a:latin typeface="Söhne"/>
              </a:rPr>
              <a:t>}, {</a:t>
            </a:r>
            <a:r>
              <a:rPr lang="en-US" b="0" i="0" dirty="0" err="1">
                <a:solidFill>
                  <a:srgbClr val="374151"/>
                </a:solidFill>
                <a:effectLst/>
                <a:latin typeface="Söhne"/>
              </a:rPr>
              <a:t>Stud_address</a:t>
            </a:r>
            <a:r>
              <a:rPr lang="en-US" b="0" i="0" dirty="0">
                <a:solidFill>
                  <a:srgbClr val="374151"/>
                </a:solidFill>
                <a:effectLst/>
                <a:latin typeface="Söhne"/>
              </a:rPr>
              <a:t>}, {</a:t>
            </a:r>
            <a:r>
              <a:rPr lang="en-US" b="0" i="0" dirty="0" err="1">
                <a:solidFill>
                  <a:srgbClr val="374151"/>
                </a:solidFill>
                <a:effectLst/>
                <a:latin typeface="Söhne"/>
              </a:rPr>
              <a:t>Stud_fname</a:t>
            </a:r>
            <a:r>
              <a:rPr lang="en-US" b="0" i="0" dirty="0">
                <a:solidFill>
                  <a:srgbClr val="374151"/>
                </a:solidFill>
                <a:effectLst/>
                <a:latin typeface="Söhne"/>
              </a:rPr>
              <a:t>, </a:t>
            </a:r>
            <a:r>
              <a:rPr lang="en-US" b="0" i="0" dirty="0" err="1">
                <a:solidFill>
                  <a:srgbClr val="374151"/>
                </a:solidFill>
                <a:effectLst/>
                <a:latin typeface="Söhne"/>
              </a:rPr>
              <a:t>Stud_lname</a:t>
            </a:r>
            <a:r>
              <a:rPr lang="en-US" b="0" i="0" dirty="0">
                <a:solidFill>
                  <a:srgbClr val="374151"/>
                </a:solidFill>
                <a:effectLst/>
                <a:latin typeface="Söhne"/>
              </a:rPr>
              <a:t>, </a:t>
            </a:r>
            <a:r>
              <a:rPr lang="en-US" b="0" i="0" dirty="0" err="1">
                <a:solidFill>
                  <a:srgbClr val="374151"/>
                </a:solidFill>
                <a:effectLst/>
                <a:latin typeface="Söhne"/>
              </a:rPr>
              <a:t>Stud_phone</a:t>
            </a:r>
            <a:r>
              <a:rPr lang="en-US" b="0" i="0" dirty="0">
                <a:solidFill>
                  <a:srgbClr val="374151"/>
                </a:solidFill>
                <a:effectLst/>
                <a:latin typeface="Söhne"/>
              </a:rPr>
              <a:t>}, {</a:t>
            </a:r>
            <a:r>
              <a:rPr lang="en-US" b="0" i="0" dirty="0" err="1">
                <a:solidFill>
                  <a:srgbClr val="374151"/>
                </a:solidFill>
                <a:effectLst/>
                <a:latin typeface="Söhne"/>
              </a:rPr>
              <a:t>StudID</a:t>
            </a:r>
            <a:r>
              <a:rPr lang="en-US" b="0" i="0" dirty="0">
                <a:solidFill>
                  <a:srgbClr val="374151"/>
                </a:solidFill>
                <a:effectLst/>
                <a:latin typeface="Söhne"/>
              </a:rPr>
              <a:t>, </a:t>
            </a:r>
            <a:r>
              <a:rPr lang="en-US" b="0" i="0" dirty="0" err="1">
                <a:solidFill>
                  <a:srgbClr val="374151"/>
                </a:solidFill>
                <a:effectLst/>
                <a:latin typeface="Söhne"/>
              </a:rPr>
              <a:t>Stud_email</a:t>
            </a:r>
            <a:r>
              <a:rPr lang="en-US" b="0" i="0" dirty="0">
                <a:solidFill>
                  <a:srgbClr val="374151"/>
                </a:solidFill>
                <a:effectLst/>
                <a:latin typeface="Söhne"/>
              </a:rPr>
              <a:t>}, {</a:t>
            </a:r>
            <a:r>
              <a:rPr lang="en-US" b="0" i="0" dirty="0" err="1">
                <a:solidFill>
                  <a:srgbClr val="374151"/>
                </a:solidFill>
                <a:effectLst/>
                <a:latin typeface="Söhne"/>
              </a:rPr>
              <a:t>Stud_fname</a:t>
            </a:r>
            <a:r>
              <a:rPr lang="en-US" b="0" i="0" dirty="0">
                <a:solidFill>
                  <a:srgbClr val="374151"/>
                </a:solidFill>
                <a:effectLst/>
                <a:latin typeface="Söhne"/>
              </a:rPr>
              <a:t>, </a:t>
            </a:r>
            <a:r>
              <a:rPr lang="en-US" b="0" i="0" dirty="0" err="1">
                <a:solidFill>
                  <a:srgbClr val="374151"/>
                </a:solidFill>
                <a:effectLst/>
                <a:latin typeface="Söhne"/>
              </a:rPr>
              <a:t>Stud_lname</a:t>
            </a:r>
            <a:r>
              <a:rPr lang="en-US" b="0" i="0" dirty="0">
                <a:solidFill>
                  <a:srgbClr val="374151"/>
                </a:solidFill>
                <a:effectLst/>
                <a:latin typeface="Söhne"/>
              </a:rPr>
              <a:t>, </a:t>
            </a:r>
            <a:r>
              <a:rPr lang="en-US" b="0" i="0" dirty="0" err="1">
                <a:solidFill>
                  <a:srgbClr val="374151"/>
                </a:solidFill>
                <a:effectLst/>
                <a:latin typeface="Söhne"/>
              </a:rPr>
              <a:t>Stud_address</a:t>
            </a:r>
            <a:r>
              <a:rPr lang="en-US" b="0" i="0" dirty="0">
                <a:solidFill>
                  <a:srgbClr val="374151"/>
                </a:solidFill>
                <a:effectLst/>
                <a:latin typeface="Söhne"/>
              </a:rPr>
              <a:t>, </a:t>
            </a:r>
            <a:r>
              <a:rPr lang="en-US" b="0" i="0" dirty="0" err="1">
                <a:solidFill>
                  <a:srgbClr val="374151"/>
                </a:solidFill>
                <a:effectLst/>
                <a:latin typeface="Söhne"/>
              </a:rPr>
              <a:t>Department_No</a:t>
            </a:r>
            <a:r>
              <a:rPr lang="en-US" b="0" i="0" dirty="0">
                <a:solidFill>
                  <a:srgbClr val="374151"/>
                </a:solidFill>
                <a:effectLst/>
                <a:latin typeface="Söhne"/>
              </a:rPr>
              <a:t>}, </a:t>
            </a:r>
            <a:r>
              <a:rPr lang="en-US" dirty="0">
                <a:solidFill>
                  <a:srgbClr val="374151"/>
                </a:solidFill>
                <a:latin typeface="Söhne"/>
              </a:rPr>
              <a:t>Etc.</a:t>
            </a:r>
            <a:endParaRPr lang="en-US" b="0" i="0" dirty="0">
              <a:solidFill>
                <a:srgbClr val="374151"/>
              </a:solidFill>
              <a:effectLst/>
              <a:latin typeface="Söhne"/>
            </a:endParaRPr>
          </a:p>
          <a:p>
            <a:endParaRPr lang="en-US" dirty="0"/>
          </a:p>
        </p:txBody>
      </p:sp>
      <p:sp>
        <p:nvSpPr>
          <p:cNvPr id="8" name="TextBox 7">
            <a:extLst>
              <a:ext uri="{FF2B5EF4-FFF2-40B4-BE49-F238E27FC236}">
                <a16:creationId xmlns:a16="http://schemas.microsoft.com/office/drawing/2014/main" id="{622A22C2-D48A-9B8F-7E46-D4E27D29E330}"/>
              </a:ext>
            </a:extLst>
          </p:cNvPr>
          <p:cNvSpPr txBox="1"/>
          <p:nvPr/>
        </p:nvSpPr>
        <p:spPr>
          <a:xfrm>
            <a:off x="9888547" y="3488794"/>
            <a:ext cx="2534265" cy="646331"/>
          </a:xfrm>
          <a:prstGeom prst="rect">
            <a:avLst/>
          </a:prstGeom>
          <a:noFill/>
        </p:spPr>
        <p:txBody>
          <a:bodyPr wrap="square">
            <a:spAutoFit/>
          </a:bodyPr>
          <a:lstStyle/>
          <a:p>
            <a:pPr marL="225425" indent="-225425">
              <a:buFont typeface="Wingdings" panose="05000000000000000000" pitchFamily="2" charset="2"/>
              <a:buChar char="§"/>
            </a:pPr>
            <a:r>
              <a:rPr lang="en-US" sz="1800" b="1" dirty="0"/>
              <a:t>Foreign Key: </a:t>
            </a:r>
            <a:r>
              <a:rPr lang="en-US" sz="1800" dirty="0" err="1"/>
              <a:t>Department_No</a:t>
            </a:r>
            <a:endParaRPr lang="en-US" sz="1800" dirty="0"/>
          </a:p>
        </p:txBody>
      </p:sp>
    </p:spTree>
    <p:extLst>
      <p:ext uri="{BB962C8B-B14F-4D97-AF65-F5344CB8AC3E}">
        <p14:creationId xmlns:p14="http://schemas.microsoft.com/office/powerpoint/2010/main" val="2988522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A6C84-2E98-B335-9360-A1F73F9EF310}"/>
              </a:ext>
            </a:extLst>
          </p:cNvPr>
          <p:cNvSpPr>
            <a:spLocks noGrp="1"/>
          </p:cNvSpPr>
          <p:nvPr>
            <p:ph type="title"/>
          </p:nvPr>
        </p:nvSpPr>
        <p:spPr/>
        <p:txBody>
          <a:bodyPr/>
          <a:lstStyle/>
          <a:p>
            <a:r>
              <a:rPr lang="en-US" b="1" dirty="0"/>
              <a:t>Keys – Example</a:t>
            </a:r>
            <a:endParaRPr lang="en-US" dirty="0"/>
          </a:p>
        </p:txBody>
      </p:sp>
      <p:pic>
        <p:nvPicPr>
          <p:cNvPr id="2052" name="Picture 4" descr="Foreign Key in DBMS">
            <a:extLst>
              <a:ext uri="{FF2B5EF4-FFF2-40B4-BE49-F238E27FC236}">
                <a16:creationId xmlns:a16="http://schemas.microsoft.com/office/drawing/2014/main" id="{71742AE8-BAAF-B600-D5BB-95F7F9D806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8502" y="2330246"/>
            <a:ext cx="8377498" cy="2628440"/>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D7442335-DB10-2C7D-81CB-76DEAD3FD66D}"/>
              </a:ext>
            </a:extLst>
          </p:cNvPr>
          <p:cNvSpPr>
            <a:spLocks noGrp="1"/>
          </p:cNvSpPr>
          <p:nvPr>
            <p:ph type="ftr" sz="quarter" idx="11"/>
          </p:nvPr>
        </p:nvSpPr>
        <p:spPr/>
        <p:txBody>
          <a:bodyPr/>
          <a:lstStyle/>
          <a:p>
            <a:r>
              <a:rPr lang="en-US"/>
              <a:t>Eng. Aisha Al-Sadi | HTU | Al Hussein Technical University</a:t>
            </a:r>
          </a:p>
        </p:txBody>
      </p:sp>
      <p:sp>
        <p:nvSpPr>
          <p:cNvPr id="6" name="Slide Number Placeholder 5">
            <a:extLst>
              <a:ext uri="{FF2B5EF4-FFF2-40B4-BE49-F238E27FC236}">
                <a16:creationId xmlns:a16="http://schemas.microsoft.com/office/drawing/2014/main" id="{0C936F2F-E0F7-4AD3-9F8D-4717D22DC72F}"/>
              </a:ext>
            </a:extLst>
          </p:cNvPr>
          <p:cNvSpPr>
            <a:spLocks noGrp="1"/>
          </p:cNvSpPr>
          <p:nvPr>
            <p:ph type="sldNum" sz="quarter" idx="12"/>
          </p:nvPr>
        </p:nvSpPr>
        <p:spPr/>
        <p:txBody>
          <a:bodyPr/>
          <a:lstStyle/>
          <a:p>
            <a:fld id="{E6B03378-CDB7-40C1-827C-F54129224789}" type="slidenum">
              <a:rPr lang="en-US" smtClean="0"/>
              <a:t>7</a:t>
            </a:fld>
            <a:endParaRPr lang="en-US"/>
          </a:p>
        </p:txBody>
      </p:sp>
    </p:spTree>
    <p:extLst>
      <p:ext uri="{BB962C8B-B14F-4D97-AF65-F5344CB8AC3E}">
        <p14:creationId xmlns:p14="http://schemas.microsoft.com/office/powerpoint/2010/main" val="3236145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52B44-9C4F-5CB7-901E-A51E6953D4A4}"/>
              </a:ext>
            </a:extLst>
          </p:cNvPr>
          <p:cNvSpPr>
            <a:spLocks noGrp="1"/>
          </p:cNvSpPr>
          <p:nvPr>
            <p:ph type="title"/>
          </p:nvPr>
        </p:nvSpPr>
        <p:spPr/>
        <p:txBody>
          <a:bodyPr/>
          <a:lstStyle/>
          <a:p>
            <a:r>
              <a:rPr lang="en-US" b="1" dirty="0"/>
              <a:t>PK Vs. FK</a:t>
            </a:r>
          </a:p>
        </p:txBody>
      </p:sp>
      <p:graphicFrame>
        <p:nvGraphicFramePr>
          <p:cNvPr id="4" name="Table 4">
            <a:extLst>
              <a:ext uri="{FF2B5EF4-FFF2-40B4-BE49-F238E27FC236}">
                <a16:creationId xmlns:a16="http://schemas.microsoft.com/office/drawing/2014/main" id="{B3F74191-72DB-EFA5-1235-ED5AA5269973}"/>
              </a:ext>
            </a:extLst>
          </p:cNvPr>
          <p:cNvGraphicFramePr>
            <a:graphicFrameLocks noGrp="1"/>
          </p:cNvGraphicFramePr>
          <p:nvPr>
            <p:ph idx="1"/>
            <p:extLst>
              <p:ext uri="{D42A27DB-BD31-4B8C-83A1-F6EECF244321}">
                <p14:modId xmlns:p14="http://schemas.microsoft.com/office/powerpoint/2010/main" val="8856670"/>
              </p:ext>
            </p:extLst>
          </p:nvPr>
        </p:nvGraphicFramePr>
        <p:xfrm>
          <a:off x="1097280" y="2268220"/>
          <a:ext cx="10058397" cy="2052320"/>
        </p:xfrm>
        <a:graphic>
          <a:graphicData uri="http://schemas.openxmlformats.org/drawingml/2006/table">
            <a:tbl>
              <a:tblPr firstRow="1" bandRow="1">
                <a:tableStyleId>{5C22544A-7EE6-4342-B048-85BDC9FD1C3A}</a:tableStyleId>
              </a:tblPr>
              <a:tblGrid>
                <a:gridCol w="1950720">
                  <a:extLst>
                    <a:ext uri="{9D8B030D-6E8A-4147-A177-3AD203B41FA5}">
                      <a16:colId xmlns:a16="http://schemas.microsoft.com/office/drawing/2014/main" val="1944792660"/>
                    </a:ext>
                  </a:extLst>
                </a:gridCol>
                <a:gridCol w="4355690">
                  <a:extLst>
                    <a:ext uri="{9D8B030D-6E8A-4147-A177-3AD203B41FA5}">
                      <a16:colId xmlns:a16="http://schemas.microsoft.com/office/drawing/2014/main" val="99888881"/>
                    </a:ext>
                  </a:extLst>
                </a:gridCol>
                <a:gridCol w="3751987">
                  <a:extLst>
                    <a:ext uri="{9D8B030D-6E8A-4147-A177-3AD203B41FA5}">
                      <a16:colId xmlns:a16="http://schemas.microsoft.com/office/drawing/2014/main" val="399893013"/>
                    </a:ext>
                  </a:extLst>
                </a:gridCol>
              </a:tblGrid>
              <a:tr h="370840">
                <a:tc>
                  <a:txBody>
                    <a:bodyPr/>
                    <a:lstStyle/>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Primary key</a:t>
                      </a:r>
                    </a:p>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Foreign key</a:t>
                      </a:r>
                      <a:r>
                        <a:rPr lang="en-US" baseline="0" dirty="0"/>
                        <a:t> </a:t>
                      </a:r>
                      <a:endParaRPr lang="en-US" dirty="0"/>
                    </a:p>
                    <a:p>
                      <a:pPr algn="ctr"/>
                      <a:endParaRPr lang="en-US" dirty="0"/>
                    </a:p>
                  </a:txBody>
                  <a:tcPr/>
                </a:tc>
                <a:extLst>
                  <a:ext uri="{0D108BD9-81ED-4DB2-BD59-A6C34878D82A}">
                    <a16:rowId xmlns:a16="http://schemas.microsoft.com/office/drawing/2014/main" val="2829067507"/>
                  </a:ext>
                </a:extLst>
              </a:tr>
              <a:tr h="370840">
                <a:tc>
                  <a:txBody>
                    <a:bodyPr/>
                    <a:lstStyle/>
                    <a:p>
                      <a:pPr algn="just" fontAlgn="ctr"/>
                      <a:r>
                        <a:rPr lang="en-US" b="1">
                          <a:solidFill>
                            <a:srgbClr val="000000"/>
                          </a:solidFill>
                          <a:effectLst/>
                        </a:rPr>
                        <a:t>Basic</a:t>
                      </a:r>
                    </a:p>
                  </a:txBody>
                  <a:tcPr marL="60960" marR="60960" marT="60960" marB="60960" anchor="ctr"/>
                </a:tc>
                <a:tc>
                  <a:txBody>
                    <a:bodyPr/>
                    <a:lstStyle/>
                    <a:p>
                      <a:pPr algn="just" fontAlgn="t"/>
                      <a:r>
                        <a:rPr lang="en-US">
                          <a:solidFill>
                            <a:srgbClr val="000000"/>
                          </a:solidFill>
                          <a:effectLst/>
                        </a:rPr>
                        <a:t>It is used to uniquely identify data in the table.</a:t>
                      </a:r>
                    </a:p>
                  </a:txBody>
                  <a:tcPr marL="60960" marR="60960" marT="60960" marB="60960"/>
                </a:tc>
                <a:tc>
                  <a:txBody>
                    <a:bodyPr/>
                    <a:lstStyle/>
                    <a:p>
                      <a:pPr algn="just" fontAlgn="t"/>
                      <a:r>
                        <a:rPr lang="en-US" dirty="0">
                          <a:solidFill>
                            <a:srgbClr val="000000"/>
                          </a:solidFill>
                          <a:effectLst/>
                        </a:rPr>
                        <a:t>It is used to maintain relationship between tables.</a:t>
                      </a:r>
                    </a:p>
                  </a:txBody>
                  <a:tcPr marL="60960" marR="60960" marT="60960" marB="60960"/>
                </a:tc>
                <a:extLst>
                  <a:ext uri="{0D108BD9-81ED-4DB2-BD59-A6C34878D82A}">
                    <a16:rowId xmlns:a16="http://schemas.microsoft.com/office/drawing/2014/main" val="1587878442"/>
                  </a:ext>
                </a:extLst>
              </a:tr>
              <a:tr h="370840">
                <a:tc>
                  <a:txBody>
                    <a:bodyPr/>
                    <a:lstStyle/>
                    <a:p>
                      <a:r>
                        <a:rPr lang="en-US" b="1" dirty="0"/>
                        <a:t>NULL</a:t>
                      </a:r>
                    </a:p>
                  </a:txBody>
                  <a:tcPr/>
                </a:tc>
                <a:tc>
                  <a:txBody>
                    <a:bodyPr/>
                    <a:lstStyle/>
                    <a:p>
                      <a:r>
                        <a:rPr lang="en-US" dirty="0"/>
                        <a:t>PK Can not accept</a:t>
                      </a:r>
                      <a:r>
                        <a:rPr lang="en-US" baseline="0" dirty="0"/>
                        <a:t> null values</a:t>
                      </a:r>
                      <a:endParaRPr lang="en-US" dirty="0"/>
                    </a:p>
                  </a:txBody>
                  <a:tcPr/>
                </a:tc>
                <a:tc>
                  <a:txBody>
                    <a:bodyPr/>
                    <a:lstStyle/>
                    <a:p>
                      <a:pPr marL="0" marR="0" lvl="0" indent="0" algn="l" defTabSz="457200" rtl="0" eaLnBrk="1" fontAlgn="auto" latinLnBrk="0" hangingPunct="1">
                        <a:lnSpc>
                          <a:spcPct val="100000"/>
                        </a:lnSpc>
                        <a:spcBef>
                          <a:spcPct val="0"/>
                        </a:spcBef>
                        <a:spcAft>
                          <a:spcPct val="0"/>
                        </a:spcAft>
                        <a:buClrTx/>
                        <a:buSzTx/>
                        <a:buFontTx/>
                        <a:buNone/>
                        <a:defRPr/>
                      </a:pPr>
                      <a:r>
                        <a:rPr lang="en-US" dirty="0"/>
                        <a:t>FK can accept</a:t>
                      </a:r>
                      <a:r>
                        <a:rPr lang="en-US" baseline="0" dirty="0"/>
                        <a:t> multiple null values</a:t>
                      </a:r>
                      <a:endParaRPr lang="en-US" dirty="0"/>
                    </a:p>
                  </a:txBody>
                  <a:tcPr/>
                </a:tc>
                <a:extLst>
                  <a:ext uri="{0D108BD9-81ED-4DB2-BD59-A6C34878D82A}">
                    <a16:rowId xmlns:a16="http://schemas.microsoft.com/office/drawing/2014/main" val="997374846"/>
                  </a:ext>
                </a:extLst>
              </a:tr>
              <a:tr h="370840">
                <a:tc>
                  <a:txBody>
                    <a:bodyPr/>
                    <a:lstStyle/>
                    <a:p>
                      <a:r>
                        <a:rPr lang="en-US" sz="1800" b="1" i="0" kern="1200" dirty="0">
                          <a:solidFill>
                            <a:schemeClr val="dk1"/>
                          </a:solidFill>
                          <a:effectLst/>
                          <a:latin typeface="+mn-lt"/>
                          <a:ea typeface="+mn-ea"/>
                          <a:cs typeface="+mn-cs"/>
                        </a:rPr>
                        <a:t>Duplicate</a:t>
                      </a:r>
                      <a:endParaRPr lang="en-US" b="1" dirty="0"/>
                    </a:p>
                  </a:txBody>
                  <a:tcPr/>
                </a:tc>
                <a:tc>
                  <a:txBody>
                    <a:bodyPr/>
                    <a:lstStyle/>
                    <a:p>
                      <a:r>
                        <a:rPr lang="en-US" dirty="0"/>
                        <a:t>Only one primary key in a table </a:t>
                      </a:r>
                    </a:p>
                  </a:txBody>
                  <a:tcPr/>
                </a:tc>
                <a:tc>
                  <a:txBody>
                    <a:bodyPr/>
                    <a:lstStyle/>
                    <a:p>
                      <a:r>
                        <a:rPr lang="en-US" dirty="0"/>
                        <a:t>More than one foreign key in a table</a:t>
                      </a:r>
                    </a:p>
                  </a:txBody>
                  <a:tcPr/>
                </a:tc>
                <a:extLst>
                  <a:ext uri="{0D108BD9-81ED-4DB2-BD59-A6C34878D82A}">
                    <a16:rowId xmlns:a16="http://schemas.microsoft.com/office/drawing/2014/main" val="2584341150"/>
                  </a:ext>
                </a:extLst>
              </a:tr>
            </a:tbl>
          </a:graphicData>
        </a:graphic>
      </p:graphicFrame>
      <p:sp>
        <p:nvSpPr>
          <p:cNvPr id="6" name="Footer Placeholder 5">
            <a:extLst>
              <a:ext uri="{FF2B5EF4-FFF2-40B4-BE49-F238E27FC236}">
                <a16:creationId xmlns:a16="http://schemas.microsoft.com/office/drawing/2014/main" id="{A4DF4A4B-E648-5B89-6C5F-E683FCF1AA22}"/>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122C54A5-3137-D3A8-816A-9057390AD597}"/>
              </a:ext>
            </a:extLst>
          </p:cNvPr>
          <p:cNvSpPr>
            <a:spLocks noGrp="1"/>
          </p:cNvSpPr>
          <p:nvPr>
            <p:ph type="sldNum" sz="quarter" idx="12"/>
          </p:nvPr>
        </p:nvSpPr>
        <p:spPr/>
        <p:txBody>
          <a:bodyPr/>
          <a:lstStyle/>
          <a:p>
            <a:fld id="{E6B03378-CDB7-40C1-827C-F54129224789}" type="slidenum">
              <a:rPr lang="en-US" smtClean="0"/>
              <a:t>8</a:t>
            </a:fld>
            <a:endParaRPr lang="en-US"/>
          </a:p>
        </p:txBody>
      </p:sp>
    </p:spTree>
    <p:extLst>
      <p:ext uri="{BB962C8B-B14F-4D97-AF65-F5344CB8AC3E}">
        <p14:creationId xmlns:p14="http://schemas.microsoft.com/office/powerpoint/2010/main" val="692880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5FB8F-A3B5-8A9C-1833-5294659630C2}"/>
              </a:ext>
            </a:extLst>
          </p:cNvPr>
          <p:cNvSpPr>
            <a:spLocks noGrp="1"/>
          </p:cNvSpPr>
          <p:nvPr>
            <p:ph type="title"/>
          </p:nvPr>
        </p:nvSpPr>
        <p:spPr/>
        <p:txBody>
          <a:bodyPr/>
          <a:lstStyle/>
          <a:p>
            <a:r>
              <a:rPr lang="en-US" b="1" dirty="0"/>
              <a:t>Prime and Non-Prime Attributes</a:t>
            </a:r>
          </a:p>
        </p:txBody>
      </p:sp>
      <p:sp>
        <p:nvSpPr>
          <p:cNvPr id="3" name="Content Placeholder 2">
            <a:extLst>
              <a:ext uri="{FF2B5EF4-FFF2-40B4-BE49-F238E27FC236}">
                <a16:creationId xmlns:a16="http://schemas.microsoft.com/office/drawing/2014/main" id="{3F9B304C-76E0-9787-4B98-2AF00088106A}"/>
              </a:ext>
            </a:extLst>
          </p:cNvPr>
          <p:cNvSpPr>
            <a:spLocks noGrp="1"/>
          </p:cNvSpPr>
          <p:nvPr>
            <p:ph idx="1"/>
          </p:nvPr>
        </p:nvSpPr>
        <p:spPr/>
        <p:txBody>
          <a:bodyPr/>
          <a:lstStyle/>
          <a:p>
            <a:r>
              <a:rPr lang="en-US" b="1" i="0" dirty="0">
                <a:solidFill>
                  <a:srgbClr val="374151"/>
                </a:solidFill>
                <a:effectLst/>
                <a:latin typeface="Söhne"/>
              </a:rPr>
              <a:t>Prime attributes</a:t>
            </a:r>
            <a:r>
              <a:rPr lang="en-US" b="0" i="0" dirty="0">
                <a:solidFill>
                  <a:srgbClr val="374151"/>
                </a:solidFill>
                <a:effectLst/>
                <a:latin typeface="Söhne"/>
              </a:rPr>
              <a:t>: are attributes that </a:t>
            </a:r>
            <a:r>
              <a:rPr lang="en-US" b="1" i="0" dirty="0">
                <a:solidFill>
                  <a:srgbClr val="374151"/>
                </a:solidFill>
                <a:effectLst/>
                <a:latin typeface="Söhne"/>
              </a:rPr>
              <a:t>are part </a:t>
            </a:r>
            <a:r>
              <a:rPr lang="en-US" b="0" i="0" dirty="0">
                <a:solidFill>
                  <a:srgbClr val="374151"/>
                </a:solidFill>
                <a:effectLst/>
                <a:latin typeface="Söhne"/>
              </a:rPr>
              <a:t>of the candidate key(s) in a relation.</a:t>
            </a:r>
          </a:p>
          <a:p>
            <a:r>
              <a:rPr lang="en-US" b="1" i="0" dirty="0">
                <a:solidFill>
                  <a:srgbClr val="374151"/>
                </a:solidFill>
                <a:effectLst/>
                <a:latin typeface="Söhne"/>
              </a:rPr>
              <a:t>Non-prime attributes: </a:t>
            </a:r>
            <a:r>
              <a:rPr lang="en-US" b="0" i="0" dirty="0">
                <a:solidFill>
                  <a:srgbClr val="374151"/>
                </a:solidFill>
                <a:effectLst/>
                <a:latin typeface="Söhne"/>
              </a:rPr>
              <a:t>are attributes that </a:t>
            </a:r>
            <a:r>
              <a:rPr lang="en-US" b="1" i="0" dirty="0">
                <a:solidFill>
                  <a:srgbClr val="374151"/>
                </a:solidFill>
                <a:effectLst/>
                <a:latin typeface="Söhne"/>
              </a:rPr>
              <a:t>are not part </a:t>
            </a:r>
            <a:r>
              <a:rPr lang="en-US" b="0" i="0" dirty="0">
                <a:solidFill>
                  <a:srgbClr val="374151"/>
                </a:solidFill>
                <a:effectLst/>
                <a:latin typeface="Söhne"/>
              </a:rPr>
              <a:t>of the candidate key(s) in a relation.</a:t>
            </a:r>
            <a:endParaRPr lang="en-US" dirty="0"/>
          </a:p>
        </p:txBody>
      </p:sp>
      <p:sp>
        <p:nvSpPr>
          <p:cNvPr id="4" name="Footer Placeholder 3">
            <a:extLst>
              <a:ext uri="{FF2B5EF4-FFF2-40B4-BE49-F238E27FC236}">
                <a16:creationId xmlns:a16="http://schemas.microsoft.com/office/drawing/2014/main" id="{50EAE76A-4A24-2828-0FE9-F79282BB0FB4}"/>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B8DBC56C-7DE6-737D-0393-FB6ED8D275EB}"/>
              </a:ext>
            </a:extLst>
          </p:cNvPr>
          <p:cNvSpPr>
            <a:spLocks noGrp="1"/>
          </p:cNvSpPr>
          <p:nvPr>
            <p:ph type="sldNum" sz="quarter" idx="12"/>
          </p:nvPr>
        </p:nvSpPr>
        <p:spPr/>
        <p:txBody>
          <a:bodyPr/>
          <a:lstStyle/>
          <a:p>
            <a:fld id="{E6B03378-CDB7-40C1-827C-F54129224789}" type="slidenum">
              <a:rPr lang="en-US" smtClean="0"/>
              <a:t>9</a:t>
            </a:fld>
            <a:endParaRPr lang="en-US"/>
          </a:p>
        </p:txBody>
      </p:sp>
      <p:sp>
        <p:nvSpPr>
          <p:cNvPr id="9" name="TextBox 8">
            <a:extLst>
              <a:ext uri="{FF2B5EF4-FFF2-40B4-BE49-F238E27FC236}">
                <a16:creationId xmlns:a16="http://schemas.microsoft.com/office/drawing/2014/main" id="{EE342C92-E07E-D147-C0B8-600B23BEF03C}"/>
              </a:ext>
            </a:extLst>
          </p:cNvPr>
          <p:cNvSpPr txBox="1"/>
          <p:nvPr/>
        </p:nvSpPr>
        <p:spPr>
          <a:xfrm>
            <a:off x="2212258" y="4791475"/>
            <a:ext cx="7128387" cy="923330"/>
          </a:xfrm>
          <a:prstGeom prst="rect">
            <a:avLst/>
          </a:prstGeom>
          <a:noFill/>
        </p:spPr>
        <p:txBody>
          <a:bodyPr wrap="square">
            <a:spAutoFit/>
          </a:bodyPr>
          <a:lstStyle/>
          <a:p>
            <a:r>
              <a:rPr lang="en-US" b="1" i="0" dirty="0">
                <a:solidFill>
                  <a:srgbClr val="374151"/>
                </a:solidFill>
                <a:effectLst/>
                <a:latin typeface="Söhne"/>
              </a:rPr>
              <a:t>“</a:t>
            </a:r>
            <a:r>
              <a:rPr lang="en-US" b="1" i="0" dirty="0" err="1">
                <a:solidFill>
                  <a:srgbClr val="374151"/>
                </a:solidFill>
                <a:effectLst/>
                <a:latin typeface="Söhne"/>
              </a:rPr>
              <a:t>StudentID</a:t>
            </a:r>
            <a:r>
              <a:rPr lang="en-US" b="1" i="0" dirty="0">
                <a:solidFill>
                  <a:srgbClr val="374151"/>
                </a:solidFill>
                <a:effectLst/>
                <a:latin typeface="Söhne"/>
              </a:rPr>
              <a:t>" </a:t>
            </a:r>
            <a:r>
              <a:rPr lang="en-US" dirty="0">
                <a:solidFill>
                  <a:srgbClr val="374151"/>
                </a:solidFill>
                <a:latin typeface="Söhne"/>
              </a:rPr>
              <a:t>is</a:t>
            </a:r>
            <a:r>
              <a:rPr lang="en-US" b="1" dirty="0">
                <a:solidFill>
                  <a:srgbClr val="374151"/>
                </a:solidFill>
                <a:latin typeface="Söhne"/>
              </a:rPr>
              <a:t> </a:t>
            </a:r>
            <a:r>
              <a:rPr lang="en-US" b="0" i="0" dirty="0">
                <a:solidFill>
                  <a:srgbClr val="374151"/>
                </a:solidFill>
                <a:effectLst/>
                <a:latin typeface="Söhne"/>
              </a:rPr>
              <a:t>candidate key, making it prime attributes.</a:t>
            </a:r>
          </a:p>
          <a:p>
            <a:endParaRPr lang="en-US" dirty="0">
              <a:solidFill>
                <a:srgbClr val="374151"/>
              </a:solidFill>
              <a:latin typeface="Söhne"/>
            </a:endParaRPr>
          </a:p>
          <a:p>
            <a:r>
              <a:rPr lang="en-US" dirty="0">
                <a:solidFill>
                  <a:srgbClr val="374151"/>
                </a:solidFill>
                <a:latin typeface="Söhne"/>
              </a:rPr>
              <a:t>Other attributes are non-prime as they aren’t part of any candidate key!</a:t>
            </a:r>
            <a:endParaRPr lang="en-US" dirty="0"/>
          </a:p>
        </p:txBody>
      </p:sp>
      <p:pic>
        <p:nvPicPr>
          <p:cNvPr id="13" name="Picture 12">
            <a:extLst>
              <a:ext uri="{FF2B5EF4-FFF2-40B4-BE49-F238E27FC236}">
                <a16:creationId xmlns:a16="http://schemas.microsoft.com/office/drawing/2014/main" id="{169354A5-A4D1-7110-1294-92900D5FD055}"/>
              </a:ext>
            </a:extLst>
          </p:cNvPr>
          <p:cNvPicPr>
            <a:picLocks noChangeAspect="1"/>
          </p:cNvPicPr>
          <p:nvPr/>
        </p:nvPicPr>
        <p:blipFill>
          <a:blip r:embed="rId2"/>
          <a:stretch>
            <a:fillRect/>
          </a:stretch>
        </p:blipFill>
        <p:spPr>
          <a:xfrm>
            <a:off x="1956608" y="2753125"/>
            <a:ext cx="7943850" cy="2038350"/>
          </a:xfrm>
          <a:prstGeom prst="rect">
            <a:avLst/>
          </a:prstGeom>
        </p:spPr>
      </p:pic>
    </p:spTree>
    <p:extLst>
      <p:ext uri="{BB962C8B-B14F-4D97-AF65-F5344CB8AC3E}">
        <p14:creationId xmlns:p14="http://schemas.microsoft.com/office/powerpoint/2010/main" val="3777264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5FB8F-A3B5-8A9C-1833-5294659630C2}"/>
              </a:ext>
            </a:extLst>
          </p:cNvPr>
          <p:cNvSpPr>
            <a:spLocks noGrp="1"/>
          </p:cNvSpPr>
          <p:nvPr>
            <p:ph type="title"/>
          </p:nvPr>
        </p:nvSpPr>
        <p:spPr/>
        <p:txBody>
          <a:bodyPr/>
          <a:lstStyle/>
          <a:p>
            <a:r>
              <a:rPr lang="en-US" b="1" dirty="0"/>
              <a:t>Prime and Non-Prime Attributes</a:t>
            </a:r>
          </a:p>
        </p:txBody>
      </p:sp>
      <p:sp>
        <p:nvSpPr>
          <p:cNvPr id="3" name="Content Placeholder 2">
            <a:extLst>
              <a:ext uri="{FF2B5EF4-FFF2-40B4-BE49-F238E27FC236}">
                <a16:creationId xmlns:a16="http://schemas.microsoft.com/office/drawing/2014/main" id="{3F9B304C-76E0-9787-4B98-2AF00088106A}"/>
              </a:ext>
            </a:extLst>
          </p:cNvPr>
          <p:cNvSpPr>
            <a:spLocks noGrp="1"/>
          </p:cNvSpPr>
          <p:nvPr>
            <p:ph idx="1"/>
          </p:nvPr>
        </p:nvSpPr>
        <p:spPr/>
        <p:txBody>
          <a:bodyPr/>
          <a:lstStyle/>
          <a:p>
            <a:r>
              <a:rPr lang="en-US" b="1" i="0" dirty="0">
                <a:solidFill>
                  <a:srgbClr val="374151"/>
                </a:solidFill>
                <a:effectLst/>
                <a:latin typeface="Söhne"/>
              </a:rPr>
              <a:t>Prime attributes</a:t>
            </a:r>
            <a:r>
              <a:rPr lang="en-US" b="0" i="0" dirty="0">
                <a:solidFill>
                  <a:srgbClr val="374151"/>
                </a:solidFill>
                <a:effectLst/>
                <a:latin typeface="Söhne"/>
              </a:rPr>
              <a:t>: are attributes that </a:t>
            </a:r>
            <a:r>
              <a:rPr lang="en-US" b="1" i="0" dirty="0">
                <a:solidFill>
                  <a:srgbClr val="374151"/>
                </a:solidFill>
                <a:effectLst/>
                <a:latin typeface="Söhne"/>
              </a:rPr>
              <a:t>are part </a:t>
            </a:r>
            <a:r>
              <a:rPr lang="en-US" b="0" i="0" dirty="0">
                <a:solidFill>
                  <a:srgbClr val="374151"/>
                </a:solidFill>
                <a:effectLst/>
                <a:latin typeface="Söhne"/>
              </a:rPr>
              <a:t>of the candidate key(s) in a relation.</a:t>
            </a:r>
          </a:p>
          <a:p>
            <a:r>
              <a:rPr lang="en-US" b="1" i="0" dirty="0">
                <a:solidFill>
                  <a:srgbClr val="374151"/>
                </a:solidFill>
                <a:effectLst/>
                <a:latin typeface="Söhne"/>
              </a:rPr>
              <a:t>Non-prime attributes: </a:t>
            </a:r>
            <a:r>
              <a:rPr lang="en-US" b="0" i="0" dirty="0">
                <a:solidFill>
                  <a:srgbClr val="374151"/>
                </a:solidFill>
                <a:effectLst/>
                <a:latin typeface="Söhne"/>
              </a:rPr>
              <a:t>are attributes that </a:t>
            </a:r>
            <a:r>
              <a:rPr lang="en-US" b="1" i="0" dirty="0">
                <a:solidFill>
                  <a:srgbClr val="374151"/>
                </a:solidFill>
                <a:effectLst/>
                <a:latin typeface="Söhne"/>
              </a:rPr>
              <a:t>are not part </a:t>
            </a:r>
            <a:r>
              <a:rPr lang="en-US" b="0" i="0" dirty="0">
                <a:solidFill>
                  <a:srgbClr val="374151"/>
                </a:solidFill>
                <a:effectLst/>
                <a:latin typeface="Söhne"/>
              </a:rPr>
              <a:t>of the candidate key(s) in a relation.</a:t>
            </a:r>
            <a:endParaRPr lang="en-US" dirty="0"/>
          </a:p>
        </p:txBody>
      </p:sp>
      <p:sp>
        <p:nvSpPr>
          <p:cNvPr id="4" name="Footer Placeholder 3">
            <a:extLst>
              <a:ext uri="{FF2B5EF4-FFF2-40B4-BE49-F238E27FC236}">
                <a16:creationId xmlns:a16="http://schemas.microsoft.com/office/drawing/2014/main" id="{50EAE76A-4A24-2828-0FE9-F79282BB0FB4}"/>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B8DBC56C-7DE6-737D-0393-FB6ED8D275EB}"/>
              </a:ext>
            </a:extLst>
          </p:cNvPr>
          <p:cNvSpPr>
            <a:spLocks noGrp="1"/>
          </p:cNvSpPr>
          <p:nvPr>
            <p:ph type="sldNum" sz="quarter" idx="12"/>
          </p:nvPr>
        </p:nvSpPr>
        <p:spPr/>
        <p:txBody>
          <a:bodyPr/>
          <a:lstStyle/>
          <a:p>
            <a:fld id="{E6B03378-CDB7-40C1-827C-F54129224789}" type="slidenum">
              <a:rPr lang="en-US" smtClean="0"/>
              <a:t>10</a:t>
            </a:fld>
            <a:endParaRPr lang="en-US"/>
          </a:p>
        </p:txBody>
      </p:sp>
      <p:pic>
        <p:nvPicPr>
          <p:cNvPr id="7" name="Picture 6">
            <a:extLst>
              <a:ext uri="{FF2B5EF4-FFF2-40B4-BE49-F238E27FC236}">
                <a16:creationId xmlns:a16="http://schemas.microsoft.com/office/drawing/2014/main" id="{14E76EAB-FA24-D701-5061-C47552DFA81B}"/>
              </a:ext>
            </a:extLst>
          </p:cNvPr>
          <p:cNvPicPr>
            <a:picLocks noChangeAspect="1"/>
          </p:cNvPicPr>
          <p:nvPr/>
        </p:nvPicPr>
        <p:blipFill>
          <a:blip r:embed="rId2"/>
          <a:stretch>
            <a:fillRect/>
          </a:stretch>
        </p:blipFill>
        <p:spPr>
          <a:xfrm>
            <a:off x="1036320" y="2979824"/>
            <a:ext cx="7121501" cy="3184615"/>
          </a:xfrm>
          <a:prstGeom prst="rect">
            <a:avLst/>
          </a:prstGeom>
        </p:spPr>
      </p:pic>
      <p:sp>
        <p:nvSpPr>
          <p:cNvPr id="9" name="TextBox 8">
            <a:extLst>
              <a:ext uri="{FF2B5EF4-FFF2-40B4-BE49-F238E27FC236}">
                <a16:creationId xmlns:a16="http://schemas.microsoft.com/office/drawing/2014/main" id="{EE342C92-E07E-D147-C0B8-600B23BEF03C}"/>
              </a:ext>
            </a:extLst>
          </p:cNvPr>
          <p:cNvSpPr txBox="1"/>
          <p:nvPr/>
        </p:nvSpPr>
        <p:spPr>
          <a:xfrm>
            <a:off x="8218781" y="3321297"/>
            <a:ext cx="3255464" cy="2308324"/>
          </a:xfrm>
          <a:prstGeom prst="rect">
            <a:avLst/>
          </a:prstGeom>
          <a:noFill/>
        </p:spPr>
        <p:txBody>
          <a:bodyPr wrap="square">
            <a:spAutoFit/>
          </a:bodyPr>
          <a:lstStyle/>
          <a:p>
            <a:r>
              <a:rPr lang="en-US" b="1" i="0" dirty="0">
                <a:solidFill>
                  <a:srgbClr val="374151"/>
                </a:solidFill>
                <a:effectLst/>
                <a:latin typeface="Söhne"/>
              </a:rPr>
              <a:t>"ISBN" and "Copy Number" </a:t>
            </a:r>
            <a:r>
              <a:rPr lang="en-US" b="0" i="0" dirty="0">
                <a:solidFill>
                  <a:srgbClr val="374151"/>
                </a:solidFill>
                <a:effectLst/>
                <a:latin typeface="Söhne"/>
              </a:rPr>
              <a:t>together form the composite candidate key, making them prime attributes.</a:t>
            </a:r>
          </a:p>
          <a:p>
            <a:endParaRPr lang="en-US" dirty="0">
              <a:solidFill>
                <a:srgbClr val="374151"/>
              </a:solidFill>
              <a:latin typeface="Söhne"/>
            </a:endParaRPr>
          </a:p>
          <a:p>
            <a:r>
              <a:rPr lang="en-US" dirty="0">
                <a:solidFill>
                  <a:srgbClr val="374151"/>
                </a:solidFill>
                <a:latin typeface="Söhne"/>
              </a:rPr>
              <a:t>Other attributes are non-prime as they aren’t part of any candidate key!</a:t>
            </a:r>
            <a:endParaRPr lang="en-US" dirty="0"/>
          </a:p>
        </p:txBody>
      </p:sp>
    </p:spTree>
    <p:extLst>
      <p:ext uri="{BB962C8B-B14F-4D97-AF65-F5344CB8AC3E}">
        <p14:creationId xmlns:p14="http://schemas.microsoft.com/office/powerpoint/2010/main" val="4141699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B9C81-E6DA-F88B-123E-8D34474E4F2A}"/>
              </a:ext>
            </a:extLst>
          </p:cNvPr>
          <p:cNvSpPr>
            <a:spLocks noGrp="1"/>
          </p:cNvSpPr>
          <p:nvPr>
            <p:ph type="title"/>
          </p:nvPr>
        </p:nvSpPr>
        <p:spPr/>
        <p:txBody>
          <a:bodyPr/>
          <a:lstStyle/>
          <a:p>
            <a:r>
              <a:rPr lang="en-US" b="1" dirty="0"/>
              <a:t>Keys Categories</a:t>
            </a:r>
          </a:p>
        </p:txBody>
      </p:sp>
      <p:sp>
        <p:nvSpPr>
          <p:cNvPr id="3" name="Content Placeholder 2">
            <a:extLst>
              <a:ext uri="{FF2B5EF4-FFF2-40B4-BE49-F238E27FC236}">
                <a16:creationId xmlns:a16="http://schemas.microsoft.com/office/drawing/2014/main" id="{8CB33D11-96C3-083B-0312-0540B3C18167}"/>
              </a:ext>
            </a:extLst>
          </p:cNvPr>
          <p:cNvSpPr>
            <a:spLocks noGrp="1"/>
          </p:cNvSpPr>
          <p:nvPr>
            <p:ph idx="1"/>
          </p:nvPr>
        </p:nvSpPr>
        <p:spPr/>
        <p:txBody>
          <a:bodyPr>
            <a:normAutofit lnSpcReduction="10000"/>
          </a:bodyPr>
          <a:lstStyle/>
          <a:p>
            <a:pPr>
              <a:buFont typeface="Wingdings" panose="05000000000000000000" pitchFamily="2" charset="2"/>
              <a:buChar char="§"/>
            </a:pPr>
            <a:r>
              <a:rPr lang="en-US" dirty="0"/>
              <a:t>  </a:t>
            </a:r>
            <a:r>
              <a:rPr lang="en-US" b="1" dirty="0"/>
              <a:t>Natural Key</a:t>
            </a:r>
            <a:r>
              <a:rPr lang="en-US" dirty="0"/>
              <a:t>: </a:t>
            </a:r>
          </a:p>
          <a:p>
            <a:pPr lvl="1">
              <a:buFont typeface="Wingdings" panose="05000000000000000000" pitchFamily="2" charset="2"/>
              <a:buChar char="§"/>
            </a:pPr>
            <a:r>
              <a:rPr lang="en-US" dirty="0"/>
              <a:t>a natural key is an attribute that exists in the real world or is used by the business. It can be used to uniquely identify the row.</a:t>
            </a:r>
          </a:p>
          <a:p>
            <a:pPr lvl="1">
              <a:buFont typeface="Wingdings" panose="05000000000000000000" pitchFamily="2" charset="2"/>
              <a:buChar char="§"/>
            </a:pPr>
            <a:r>
              <a:rPr lang="en-US" dirty="0"/>
              <a:t> An example of a natural key is a Social Security Number (for US citizens). It’s usually a unique number that applies to a person and has a use for tax purposes. In Australia, they have a Tax File Number (TFN) which has a similar purpose. It’s a way to uniquely identify a record, and actually has a meaning in the world outside the database.</a:t>
            </a:r>
          </a:p>
          <a:p>
            <a:pPr lvl="1">
              <a:buFont typeface="Wingdings" panose="05000000000000000000" pitchFamily="2" charset="2"/>
              <a:buChar char="§"/>
            </a:pPr>
            <a:endParaRPr lang="en-US" dirty="0"/>
          </a:p>
          <a:p>
            <a:pPr marL="117475" indent="-90488">
              <a:buFont typeface="Wingdings" panose="05000000000000000000" pitchFamily="2" charset="2"/>
              <a:buChar char="§"/>
            </a:pPr>
            <a:r>
              <a:rPr lang="en-US" b="1" dirty="0"/>
              <a:t>  Surrogate Key:</a:t>
            </a:r>
          </a:p>
          <a:p>
            <a:pPr lvl="1">
              <a:buFont typeface="Wingdings" panose="05000000000000000000" pitchFamily="2" charset="2"/>
              <a:buChar char="§"/>
            </a:pPr>
            <a:r>
              <a:rPr lang="en-US" dirty="0"/>
              <a:t>A surrogate key is an attribute that is invented or made up for the sole purpose of being used as the primary key. It has no value to the business or the real world.</a:t>
            </a:r>
          </a:p>
          <a:p>
            <a:pPr lvl="1">
              <a:buFont typeface="Wingdings" panose="05000000000000000000" pitchFamily="2" charset="2"/>
              <a:buChar char="§"/>
            </a:pPr>
            <a:r>
              <a:rPr lang="en-US" dirty="0"/>
              <a:t>Surrogate keys are often used when there is no other way to identify a record – when there is no natural key. They are often an integer value, starting at 1 and incrementing for each new record.</a:t>
            </a:r>
          </a:p>
          <a:p>
            <a:pPr lvl="1">
              <a:buFont typeface="Wingdings" panose="05000000000000000000" pitchFamily="2" charset="2"/>
              <a:buChar char="§"/>
            </a:pPr>
            <a:r>
              <a:rPr lang="en-US" sz="1800" dirty="0"/>
              <a:t>Example: customer ID , employee ID, etc.</a:t>
            </a:r>
          </a:p>
          <a:p>
            <a:pPr lvl="1">
              <a:buFont typeface="Wingdings" panose="05000000000000000000" pitchFamily="2" charset="2"/>
              <a:buChar char="§"/>
            </a:pPr>
            <a:endParaRPr lang="en-US" dirty="0"/>
          </a:p>
          <a:p>
            <a:pPr lvl="1">
              <a:buFont typeface="Wingdings" panose="05000000000000000000" pitchFamily="2" charset="2"/>
              <a:buChar char="§"/>
            </a:pPr>
            <a:endParaRPr lang="en-US" dirty="0"/>
          </a:p>
        </p:txBody>
      </p:sp>
      <p:sp>
        <p:nvSpPr>
          <p:cNvPr id="6" name="Footer Placeholder 5">
            <a:extLst>
              <a:ext uri="{FF2B5EF4-FFF2-40B4-BE49-F238E27FC236}">
                <a16:creationId xmlns:a16="http://schemas.microsoft.com/office/drawing/2014/main" id="{18D52F69-DBD6-9628-DC9A-A70FB09B1840}"/>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81F7632B-D650-32CE-E91D-8B59381F8395}"/>
              </a:ext>
            </a:extLst>
          </p:cNvPr>
          <p:cNvSpPr>
            <a:spLocks noGrp="1"/>
          </p:cNvSpPr>
          <p:nvPr>
            <p:ph type="sldNum" sz="quarter" idx="12"/>
          </p:nvPr>
        </p:nvSpPr>
        <p:spPr/>
        <p:txBody>
          <a:bodyPr/>
          <a:lstStyle/>
          <a:p>
            <a:fld id="{E6B03378-CDB7-40C1-827C-F54129224789}" type="slidenum">
              <a:rPr lang="en-US" smtClean="0"/>
              <a:t>11</a:t>
            </a:fld>
            <a:endParaRPr lang="en-US"/>
          </a:p>
        </p:txBody>
      </p:sp>
    </p:spTree>
    <p:extLst>
      <p:ext uri="{BB962C8B-B14F-4D97-AF65-F5344CB8AC3E}">
        <p14:creationId xmlns:p14="http://schemas.microsoft.com/office/powerpoint/2010/main" val="719448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2E9D0-7DD6-A395-9883-370A2E666A6D}"/>
              </a:ext>
            </a:extLst>
          </p:cNvPr>
          <p:cNvSpPr>
            <a:spLocks noGrp="1"/>
          </p:cNvSpPr>
          <p:nvPr>
            <p:ph type="title"/>
          </p:nvPr>
        </p:nvSpPr>
        <p:spPr/>
        <p:txBody>
          <a:bodyPr/>
          <a:lstStyle/>
          <a:p>
            <a:r>
              <a:rPr lang="en-US" b="1" dirty="0"/>
              <a:t>Constraints</a:t>
            </a:r>
          </a:p>
        </p:txBody>
      </p:sp>
      <p:sp>
        <p:nvSpPr>
          <p:cNvPr id="3" name="Content Placeholder 2">
            <a:extLst>
              <a:ext uri="{FF2B5EF4-FFF2-40B4-BE49-F238E27FC236}">
                <a16:creationId xmlns:a16="http://schemas.microsoft.com/office/drawing/2014/main" id="{6BBD8BA6-7D89-2BFD-8B7B-15646A326922}"/>
              </a:ext>
            </a:extLst>
          </p:cNvPr>
          <p:cNvSpPr>
            <a:spLocks noGrp="1"/>
          </p:cNvSpPr>
          <p:nvPr>
            <p:ph idx="1"/>
          </p:nvPr>
        </p:nvSpPr>
        <p:spPr/>
        <p:txBody>
          <a:bodyPr/>
          <a:lstStyle/>
          <a:p>
            <a:pPr algn="just"/>
            <a:r>
              <a:rPr lang="en-US" b="1" dirty="0"/>
              <a:t>Constraints</a:t>
            </a:r>
            <a:r>
              <a:rPr lang="en-US" dirty="0"/>
              <a:t>: restrictions or sets of rules imposed on the database contents. It validates the quality of the database. It validates the various operations like data insertion, updating, and other processes which have to be performed without affecting the integrity of the data. So, it protects us against threats/damages to the database.</a:t>
            </a:r>
          </a:p>
          <a:p>
            <a:pPr algn="just"/>
            <a:endParaRPr lang="en-US" dirty="0"/>
          </a:p>
          <a:p>
            <a:pPr algn="just"/>
            <a:endParaRPr lang="en-US" dirty="0"/>
          </a:p>
        </p:txBody>
      </p:sp>
      <p:pic>
        <p:nvPicPr>
          <p:cNvPr id="3074" name="Picture 2" descr="Types of Relational Constraint">
            <a:extLst>
              <a:ext uri="{FF2B5EF4-FFF2-40B4-BE49-F238E27FC236}">
                <a16:creationId xmlns:a16="http://schemas.microsoft.com/office/drawing/2014/main" id="{355F9EB7-2F90-70D7-07EA-08CFB8CEFA0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244" t="15521" r="4330" b="12643"/>
          <a:stretch/>
        </p:blipFill>
        <p:spPr bwMode="auto">
          <a:xfrm>
            <a:off x="2730604" y="3429000"/>
            <a:ext cx="6730791" cy="2703443"/>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5">
            <a:extLst>
              <a:ext uri="{FF2B5EF4-FFF2-40B4-BE49-F238E27FC236}">
                <a16:creationId xmlns:a16="http://schemas.microsoft.com/office/drawing/2014/main" id="{BF958332-8479-67B9-8C23-4D17AF062782}"/>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FFF6F7D2-F677-E504-2913-EA8F91019B0F}"/>
              </a:ext>
            </a:extLst>
          </p:cNvPr>
          <p:cNvSpPr>
            <a:spLocks noGrp="1"/>
          </p:cNvSpPr>
          <p:nvPr>
            <p:ph type="sldNum" sz="quarter" idx="12"/>
          </p:nvPr>
        </p:nvSpPr>
        <p:spPr/>
        <p:txBody>
          <a:bodyPr/>
          <a:lstStyle/>
          <a:p>
            <a:fld id="{E6B03378-CDB7-40C1-827C-F54129224789}" type="slidenum">
              <a:rPr lang="en-US" smtClean="0"/>
              <a:t>12</a:t>
            </a:fld>
            <a:endParaRPr lang="en-US"/>
          </a:p>
        </p:txBody>
      </p:sp>
    </p:spTree>
    <p:extLst>
      <p:ext uri="{BB962C8B-B14F-4D97-AF65-F5344CB8AC3E}">
        <p14:creationId xmlns:p14="http://schemas.microsoft.com/office/powerpoint/2010/main" val="1149191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275B9-97F2-8C38-FFD2-5EB6E13A47D5}"/>
              </a:ext>
            </a:extLst>
          </p:cNvPr>
          <p:cNvSpPr>
            <a:spLocks noGrp="1"/>
          </p:cNvSpPr>
          <p:nvPr>
            <p:ph type="title"/>
          </p:nvPr>
        </p:nvSpPr>
        <p:spPr/>
        <p:txBody>
          <a:bodyPr/>
          <a:lstStyle/>
          <a:p>
            <a:r>
              <a:rPr lang="en-US" b="1" dirty="0"/>
              <a:t>Constraints </a:t>
            </a:r>
          </a:p>
        </p:txBody>
      </p:sp>
      <p:sp>
        <p:nvSpPr>
          <p:cNvPr id="3" name="Content Placeholder 2">
            <a:extLst>
              <a:ext uri="{FF2B5EF4-FFF2-40B4-BE49-F238E27FC236}">
                <a16:creationId xmlns:a16="http://schemas.microsoft.com/office/drawing/2014/main" id="{FF5B8628-4F94-1A20-138B-A0B9AE17C7DF}"/>
              </a:ext>
            </a:extLst>
          </p:cNvPr>
          <p:cNvSpPr>
            <a:spLocks noGrp="1"/>
          </p:cNvSpPr>
          <p:nvPr>
            <p:ph idx="1"/>
          </p:nvPr>
        </p:nvSpPr>
        <p:spPr>
          <a:xfrm>
            <a:off x="1097280" y="1826818"/>
            <a:ext cx="10058400" cy="4023360"/>
          </a:xfrm>
        </p:spPr>
        <p:txBody>
          <a:bodyPr>
            <a:noAutofit/>
          </a:bodyPr>
          <a:lstStyle/>
          <a:p>
            <a:pPr marL="450342" indent="-285750">
              <a:spcBef>
                <a:spcPts val="300"/>
              </a:spcBef>
              <a:buClr>
                <a:srgbClr val="009CAC"/>
              </a:buClr>
              <a:buSzPct val="90000"/>
              <a:buFont typeface="Wingdings" panose="05000000000000000000" pitchFamily="2" charset="2"/>
              <a:buChar char="§"/>
            </a:pPr>
            <a:r>
              <a:rPr lang="en-US" sz="1800" b="1" dirty="0">
                <a:solidFill>
                  <a:srgbClr val="006B76"/>
                </a:solidFill>
              </a:rPr>
              <a:t>NOT NULL: </a:t>
            </a:r>
            <a:r>
              <a:rPr lang="en-US" sz="1800" dirty="0"/>
              <a:t>makes sure that a column does not hold NULL value</a:t>
            </a:r>
          </a:p>
          <a:p>
            <a:pPr marL="742950" lvl="1" indent="-285750">
              <a:spcBef>
                <a:spcPts val="300"/>
              </a:spcBef>
              <a:buClr>
                <a:srgbClr val="009CAC"/>
              </a:buClr>
              <a:buSzPct val="90000"/>
              <a:buFont typeface="Wingdings" panose="05000000000000000000" pitchFamily="2" charset="2"/>
              <a:buChar char="§"/>
            </a:pPr>
            <a:r>
              <a:rPr lang="en-US" dirty="0"/>
              <a:t>Example: Student Name shouldn’t be null.</a:t>
            </a:r>
          </a:p>
          <a:p>
            <a:pPr marL="742950" lvl="1" indent="-285750">
              <a:spcBef>
                <a:spcPts val="300"/>
              </a:spcBef>
              <a:buClr>
                <a:srgbClr val="009CAC"/>
              </a:buClr>
              <a:buSzPct val="90000"/>
              <a:buFont typeface="Wingdings" panose="05000000000000000000" pitchFamily="2" charset="2"/>
              <a:buChar char="§"/>
            </a:pPr>
            <a:endParaRPr lang="en-US" dirty="0"/>
          </a:p>
          <a:p>
            <a:pPr marL="450342" indent="-285750">
              <a:spcBef>
                <a:spcPts val="300"/>
              </a:spcBef>
              <a:buClr>
                <a:srgbClr val="009CAC"/>
              </a:buClr>
              <a:buSzPct val="90000"/>
              <a:buFont typeface="Wingdings" panose="05000000000000000000" pitchFamily="2" charset="2"/>
              <a:buChar char="§"/>
            </a:pPr>
            <a:r>
              <a:rPr lang="en-US" sz="1800" b="1" dirty="0">
                <a:solidFill>
                  <a:srgbClr val="006B76"/>
                </a:solidFill>
              </a:rPr>
              <a:t>UNIQUE</a:t>
            </a:r>
            <a:r>
              <a:rPr lang="en-US" sz="1800" dirty="0">
                <a:solidFill>
                  <a:srgbClr val="006B76"/>
                </a:solidFill>
              </a:rPr>
              <a:t>:</a:t>
            </a:r>
            <a:r>
              <a:rPr lang="en-US" sz="1800" dirty="0"/>
              <a:t> enforces a column to have unique values (cannot have duplicate values).</a:t>
            </a:r>
          </a:p>
          <a:p>
            <a:pPr marL="742950" lvl="1" indent="-285750">
              <a:spcBef>
                <a:spcPts val="300"/>
              </a:spcBef>
              <a:buClr>
                <a:srgbClr val="009CAC"/>
              </a:buClr>
              <a:buSzPct val="90000"/>
              <a:buFont typeface="Wingdings" panose="05000000000000000000" pitchFamily="2" charset="2"/>
              <a:buChar char="§"/>
            </a:pPr>
            <a:r>
              <a:rPr lang="en-US" dirty="0"/>
              <a:t>Example: Product code should be unique.</a:t>
            </a:r>
          </a:p>
          <a:p>
            <a:pPr marL="742950" lvl="1" indent="-285750">
              <a:spcBef>
                <a:spcPts val="300"/>
              </a:spcBef>
              <a:buClr>
                <a:srgbClr val="009CAC"/>
              </a:buClr>
              <a:buSzPct val="90000"/>
              <a:buFont typeface="Wingdings" panose="05000000000000000000" pitchFamily="2" charset="2"/>
              <a:buChar char="§"/>
            </a:pPr>
            <a:r>
              <a:rPr lang="en-US" dirty="0"/>
              <a:t>Example: department name should be unique.</a:t>
            </a:r>
          </a:p>
          <a:p>
            <a:pPr marL="742950" lvl="1" indent="-285750">
              <a:spcBef>
                <a:spcPts val="300"/>
              </a:spcBef>
              <a:buClr>
                <a:srgbClr val="009CAC"/>
              </a:buClr>
              <a:buSzPct val="90000"/>
              <a:buFont typeface="Wingdings" panose="05000000000000000000" pitchFamily="2" charset="2"/>
              <a:buChar char="§"/>
            </a:pPr>
            <a:endParaRPr lang="en-US" dirty="0"/>
          </a:p>
          <a:p>
            <a:pPr marL="450342" indent="-285750">
              <a:spcBef>
                <a:spcPts val="300"/>
              </a:spcBef>
              <a:buClr>
                <a:srgbClr val="009CAC"/>
              </a:buClr>
              <a:buSzPct val="90000"/>
              <a:buFont typeface="Wingdings" panose="05000000000000000000" pitchFamily="2" charset="2"/>
              <a:buChar char="§"/>
            </a:pPr>
            <a:r>
              <a:rPr lang="en-US" sz="1800" b="1" dirty="0">
                <a:solidFill>
                  <a:srgbClr val="006B76"/>
                </a:solidFill>
              </a:rPr>
              <a:t>DEFAULT</a:t>
            </a:r>
            <a:r>
              <a:rPr lang="en-US" sz="1800" dirty="0">
                <a:solidFill>
                  <a:srgbClr val="006B76"/>
                </a:solidFill>
              </a:rPr>
              <a:t>:</a:t>
            </a:r>
            <a:r>
              <a:rPr lang="en-US" sz="1800" dirty="0"/>
              <a:t> provides a default value to a column when there is no value provided while inserting a record into a table.</a:t>
            </a:r>
          </a:p>
          <a:p>
            <a:pPr marL="742950" lvl="1" indent="-285750">
              <a:spcBef>
                <a:spcPts val="300"/>
              </a:spcBef>
              <a:buClr>
                <a:srgbClr val="009CAC"/>
              </a:buClr>
              <a:buSzPct val="90000"/>
              <a:buFont typeface="Wingdings" panose="05000000000000000000" pitchFamily="2" charset="2"/>
              <a:buChar char="§"/>
            </a:pPr>
            <a:r>
              <a:rPr lang="en-US" dirty="0"/>
              <a:t>Example: Default country for student birth in HTU is Jordan.</a:t>
            </a:r>
          </a:p>
          <a:p>
            <a:pPr marL="742950" lvl="1" indent="-285750">
              <a:spcBef>
                <a:spcPts val="300"/>
              </a:spcBef>
              <a:buClr>
                <a:srgbClr val="009CAC"/>
              </a:buClr>
              <a:buSzPct val="90000"/>
              <a:buFont typeface="Wingdings" panose="05000000000000000000" pitchFamily="2" charset="2"/>
              <a:buChar char="§"/>
            </a:pPr>
            <a:endParaRPr lang="en-US" dirty="0"/>
          </a:p>
          <a:p>
            <a:pPr marL="450342" indent="-285750">
              <a:spcBef>
                <a:spcPts val="300"/>
              </a:spcBef>
              <a:buClr>
                <a:srgbClr val="009CAC"/>
              </a:buClr>
              <a:buSzPct val="90000"/>
              <a:buFont typeface="Wingdings" panose="05000000000000000000" pitchFamily="2" charset="2"/>
              <a:buChar char="§"/>
            </a:pPr>
            <a:r>
              <a:rPr lang="en-US" sz="1800" b="1" dirty="0">
                <a:solidFill>
                  <a:srgbClr val="006B76"/>
                </a:solidFill>
              </a:rPr>
              <a:t>CHECK</a:t>
            </a:r>
            <a:r>
              <a:rPr lang="en-US" sz="1800" dirty="0">
                <a:solidFill>
                  <a:srgbClr val="006B76"/>
                </a:solidFill>
              </a:rPr>
              <a:t>: </a:t>
            </a:r>
            <a:r>
              <a:rPr lang="en-US" sz="1800" dirty="0"/>
              <a:t> used for specifying range of values for a particular column of a table.</a:t>
            </a:r>
          </a:p>
          <a:p>
            <a:pPr marL="742950" lvl="1" indent="-285750">
              <a:spcBef>
                <a:spcPts val="300"/>
              </a:spcBef>
              <a:buClr>
                <a:srgbClr val="009CAC"/>
              </a:buClr>
              <a:buSzPct val="90000"/>
              <a:buFont typeface="Wingdings" panose="05000000000000000000" pitchFamily="2" charset="2"/>
              <a:buChar char="§"/>
            </a:pPr>
            <a:r>
              <a:rPr lang="en-US" b="0" i="0" dirty="0">
                <a:solidFill>
                  <a:srgbClr val="374151"/>
                </a:solidFill>
                <a:effectLst/>
                <a:latin typeface="Söhne"/>
              </a:rPr>
              <a:t>Example: "</a:t>
            </a:r>
            <a:r>
              <a:rPr lang="en-US" b="0" i="0" dirty="0" err="1">
                <a:solidFill>
                  <a:srgbClr val="374151"/>
                </a:solidFill>
                <a:effectLst/>
                <a:latin typeface="Söhne"/>
              </a:rPr>
              <a:t>OrderStatus</a:t>
            </a:r>
            <a:r>
              <a:rPr lang="en-US" b="0" i="0" dirty="0">
                <a:solidFill>
                  <a:srgbClr val="374151"/>
                </a:solidFill>
                <a:effectLst/>
                <a:latin typeface="Söhne"/>
              </a:rPr>
              <a:t>" column can only have values 'Pending,' 'Shipped,' or 'Delivered.’</a:t>
            </a:r>
          </a:p>
          <a:p>
            <a:pPr marL="742950" lvl="1" indent="-285750">
              <a:spcBef>
                <a:spcPts val="300"/>
              </a:spcBef>
              <a:buClr>
                <a:srgbClr val="009CAC"/>
              </a:buClr>
              <a:buSzPct val="90000"/>
              <a:buFont typeface="Wingdings" panose="05000000000000000000" pitchFamily="2" charset="2"/>
              <a:buChar char="§"/>
            </a:pPr>
            <a:r>
              <a:rPr lang="en-US" dirty="0"/>
              <a:t>Example:  GPA should be more than 80 to attend IT College.</a:t>
            </a:r>
          </a:p>
        </p:txBody>
      </p:sp>
      <p:sp>
        <p:nvSpPr>
          <p:cNvPr id="6" name="Footer Placeholder 5">
            <a:extLst>
              <a:ext uri="{FF2B5EF4-FFF2-40B4-BE49-F238E27FC236}">
                <a16:creationId xmlns:a16="http://schemas.microsoft.com/office/drawing/2014/main" id="{E2A4B1DB-B696-07A1-7F41-618A0F33F304}"/>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C0E22499-C17C-8FAA-B73B-9E5FC6B7E12C}"/>
              </a:ext>
            </a:extLst>
          </p:cNvPr>
          <p:cNvSpPr>
            <a:spLocks noGrp="1"/>
          </p:cNvSpPr>
          <p:nvPr>
            <p:ph type="sldNum" sz="quarter" idx="12"/>
          </p:nvPr>
        </p:nvSpPr>
        <p:spPr/>
        <p:txBody>
          <a:bodyPr/>
          <a:lstStyle/>
          <a:p>
            <a:fld id="{E6B03378-CDB7-40C1-827C-F54129224789}" type="slidenum">
              <a:rPr lang="en-US" smtClean="0"/>
              <a:t>13</a:t>
            </a:fld>
            <a:endParaRPr lang="en-US"/>
          </a:p>
        </p:txBody>
      </p:sp>
    </p:spTree>
    <p:extLst>
      <p:ext uri="{BB962C8B-B14F-4D97-AF65-F5344CB8AC3E}">
        <p14:creationId xmlns:p14="http://schemas.microsoft.com/office/powerpoint/2010/main" val="2779328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275B9-97F2-8C38-FFD2-5EB6E13A47D5}"/>
              </a:ext>
            </a:extLst>
          </p:cNvPr>
          <p:cNvSpPr>
            <a:spLocks noGrp="1"/>
          </p:cNvSpPr>
          <p:nvPr>
            <p:ph type="title"/>
          </p:nvPr>
        </p:nvSpPr>
        <p:spPr/>
        <p:txBody>
          <a:bodyPr/>
          <a:lstStyle/>
          <a:p>
            <a:r>
              <a:rPr lang="en-US" b="1" dirty="0"/>
              <a:t>Constraints </a:t>
            </a:r>
          </a:p>
        </p:txBody>
      </p:sp>
      <p:sp>
        <p:nvSpPr>
          <p:cNvPr id="3" name="Content Placeholder 2">
            <a:extLst>
              <a:ext uri="{FF2B5EF4-FFF2-40B4-BE49-F238E27FC236}">
                <a16:creationId xmlns:a16="http://schemas.microsoft.com/office/drawing/2014/main" id="{FF5B8628-4F94-1A20-138B-A0B9AE17C7DF}"/>
              </a:ext>
            </a:extLst>
          </p:cNvPr>
          <p:cNvSpPr>
            <a:spLocks noGrp="1"/>
          </p:cNvSpPr>
          <p:nvPr>
            <p:ph idx="1"/>
          </p:nvPr>
        </p:nvSpPr>
        <p:spPr>
          <a:xfrm>
            <a:off x="1097280" y="1915308"/>
            <a:ext cx="10058400" cy="4023360"/>
          </a:xfrm>
        </p:spPr>
        <p:txBody>
          <a:bodyPr>
            <a:noAutofit/>
          </a:bodyPr>
          <a:lstStyle/>
          <a:p>
            <a:pPr marL="450342" indent="-285750">
              <a:spcBef>
                <a:spcPts val="300"/>
              </a:spcBef>
              <a:buClr>
                <a:srgbClr val="009CAC"/>
              </a:buClr>
              <a:buSzPct val="90000"/>
              <a:buFont typeface="Wingdings" panose="05000000000000000000" pitchFamily="2" charset="2"/>
              <a:buChar char="§"/>
            </a:pPr>
            <a:r>
              <a:rPr lang="en-US" sz="1800" b="1" dirty="0">
                <a:solidFill>
                  <a:srgbClr val="006B76"/>
                </a:solidFill>
              </a:rPr>
              <a:t>DATA TYPE</a:t>
            </a:r>
            <a:r>
              <a:rPr lang="en-US" sz="1800" dirty="0">
                <a:solidFill>
                  <a:srgbClr val="006B76"/>
                </a:solidFill>
              </a:rPr>
              <a:t>: </a:t>
            </a:r>
            <a:r>
              <a:rPr lang="en-US" sz="1800" dirty="0"/>
              <a:t>Each table has certain set of columns, and each column allows a same type of data, based on its data type. The column does not accept values of any other data type.</a:t>
            </a:r>
          </a:p>
          <a:p>
            <a:pPr marL="742950" lvl="1" indent="-285750">
              <a:spcBef>
                <a:spcPts val="300"/>
              </a:spcBef>
              <a:buClr>
                <a:srgbClr val="009CAC"/>
              </a:buClr>
              <a:buSzPct val="90000"/>
              <a:buFont typeface="Wingdings" panose="05000000000000000000" pitchFamily="2" charset="2"/>
              <a:buChar char="§"/>
            </a:pPr>
            <a:r>
              <a:rPr lang="en-US" dirty="0"/>
              <a:t>Example: Age column should have integers only (discard months)</a:t>
            </a:r>
          </a:p>
          <a:p>
            <a:pPr marL="742950" lvl="1" indent="-285750">
              <a:spcBef>
                <a:spcPts val="300"/>
              </a:spcBef>
              <a:buClr>
                <a:srgbClr val="009CAC"/>
              </a:buClr>
              <a:buSzPct val="90000"/>
              <a:buFont typeface="Wingdings" panose="05000000000000000000" pitchFamily="2" charset="2"/>
              <a:buChar char="§"/>
            </a:pPr>
            <a:endParaRPr lang="en-US" dirty="0"/>
          </a:p>
          <a:p>
            <a:pPr marL="450342" indent="-285750">
              <a:spcBef>
                <a:spcPts val="300"/>
              </a:spcBef>
              <a:buClr>
                <a:srgbClr val="009CAC"/>
              </a:buClr>
              <a:buSzPct val="90000"/>
              <a:buFont typeface="Wingdings" panose="05000000000000000000" pitchFamily="2" charset="2"/>
              <a:buChar char="§"/>
            </a:pPr>
            <a:r>
              <a:rPr lang="en-US" sz="1800" b="1" dirty="0">
                <a:solidFill>
                  <a:srgbClr val="006B76"/>
                </a:solidFill>
              </a:rPr>
              <a:t>Domain constraints</a:t>
            </a:r>
            <a:r>
              <a:rPr lang="en-US" sz="1800" dirty="0">
                <a:solidFill>
                  <a:srgbClr val="006B76"/>
                </a:solidFill>
              </a:rPr>
              <a:t>:</a:t>
            </a:r>
            <a:r>
              <a:rPr lang="en-US" sz="1800" dirty="0"/>
              <a:t> data type + Constraints (NOT NULL / UNIQUE / CHECK / DEFAULT).</a:t>
            </a:r>
          </a:p>
          <a:p>
            <a:pPr marL="742950" lvl="1" indent="-285750">
              <a:spcBef>
                <a:spcPts val="300"/>
              </a:spcBef>
              <a:buClr>
                <a:srgbClr val="009CAC"/>
              </a:buClr>
              <a:buSzPct val="90000"/>
              <a:buFont typeface="Wingdings" panose="05000000000000000000" pitchFamily="2" charset="2"/>
              <a:buChar char="§"/>
            </a:pPr>
            <a:r>
              <a:rPr lang="en-US" dirty="0"/>
              <a:t>Example: </a:t>
            </a:r>
            <a:r>
              <a:rPr lang="en-US" b="0" i="0" dirty="0">
                <a:solidFill>
                  <a:srgbClr val="374151"/>
                </a:solidFill>
                <a:effectLst/>
                <a:latin typeface="Söhne"/>
              </a:rPr>
              <a:t>"Email" column is of type VARCHAR and has both UNIQUE and NOT NULL constraints</a:t>
            </a:r>
          </a:p>
          <a:p>
            <a:pPr marL="450342" indent="-285750">
              <a:spcBef>
                <a:spcPts val="300"/>
              </a:spcBef>
              <a:buClr>
                <a:srgbClr val="009CAC"/>
              </a:buClr>
              <a:buSzPct val="90000"/>
              <a:buFont typeface="Wingdings" panose="05000000000000000000" pitchFamily="2" charset="2"/>
              <a:buChar char="§"/>
            </a:pPr>
            <a:endParaRPr lang="en-US" sz="1800" dirty="0"/>
          </a:p>
          <a:p>
            <a:pPr marL="450342" indent="-285750">
              <a:spcBef>
                <a:spcPts val="300"/>
              </a:spcBef>
              <a:buClr>
                <a:srgbClr val="009CAC"/>
              </a:buClr>
              <a:buSzPct val="90000"/>
              <a:buFont typeface="Wingdings" panose="05000000000000000000" pitchFamily="2" charset="2"/>
              <a:buChar char="§"/>
            </a:pPr>
            <a:r>
              <a:rPr lang="en-US" sz="1800" b="1" dirty="0">
                <a:solidFill>
                  <a:srgbClr val="006B76"/>
                </a:solidFill>
              </a:rPr>
              <a:t>Referential Integrity Constraints (Mapping constraints):  </a:t>
            </a:r>
            <a:r>
              <a:rPr lang="en-US" sz="1800" dirty="0"/>
              <a:t>foreign key constraints and mapping cardinality (relation).</a:t>
            </a:r>
          </a:p>
          <a:p>
            <a:pPr marL="742950" lvl="1" indent="-285750">
              <a:spcBef>
                <a:spcPts val="300"/>
              </a:spcBef>
              <a:buClr>
                <a:srgbClr val="009CAC"/>
              </a:buClr>
              <a:buSzPct val="90000"/>
              <a:buFont typeface="Wingdings" panose="05000000000000000000" pitchFamily="2" charset="2"/>
              <a:buChar char="§"/>
            </a:pPr>
            <a:r>
              <a:rPr lang="en-US" dirty="0"/>
              <a:t> Example: The "</a:t>
            </a:r>
            <a:r>
              <a:rPr lang="en-US" dirty="0" err="1"/>
              <a:t>AssigneeDoctorID</a:t>
            </a:r>
            <a:r>
              <a:rPr lang="en-US" dirty="0"/>
              <a:t>" in the "Appointments" table is a foreign key that references the "Doctors" table, ensuring that only valid doctor IDs can be assigned to appointments.</a:t>
            </a:r>
          </a:p>
        </p:txBody>
      </p:sp>
      <p:sp>
        <p:nvSpPr>
          <p:cNvPr id="6" name="Footer Placeholder 5">
            <a:extLst>
              <a:ext uri="{FF2B5EF4-FFF2-40B4-BE49-F238E27FC236}">
                <a16:creationId xmlns:a16="http://schemas.microsoft.com/office/drawing/2014/main" id="{E2A4B1DB-B696-07A1-7F41-618A0F33F304}"/>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C0E22499-C17C-8FAA-B73B-9E5FC6B7E12C}"/>
              </a:ext>
            </a:extLst>
          </p:cNvPr>
          <p:cNvSpPr>
            <a:spLocks noGrp="1"/>
          </p:cNvSpPr>
          <p:nvPr>
            <p:ph type="sldNum" sz="quarter" idx="12"/>
          </p:nvPr>
        </p:nvSpPr>
        <p:spPr/>
        <p:txBody>
          <a:bodyPr/>
          <a:lstStyle/>
          <a:p>
            <a:fld id="{E6B03378-CDB7-40C1-827C-F54129224789}" type="slidenum">
              <a:rPr lang="en-US" smtClean="0"/>
              <a:t>14</a:t>
            </a:fld>
            <a:endParaRPr lang="en-US"/>
          </a:p>
        </p:txBody>
      </p:sp>
    </p:spTree>
    <p:extLst>
      <p:ext uri="{BB962C8B-B14F-4D97-AF65-F5344CB8AC3E}">
        <p14:creationId xmlns:p14="http://schemas.microsoft.com/office/powerpoint/2010/main" val="672386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41AB4-6A14-BF82-C128-A94CD3E88380}"/>
              </a:ext>
            </a:extLst>
          </p:cNvPr>
          <p:cNvSpPr>
            <a:spLocks noGrp="1"/>
          </p:cNvSpPr>
          <p:nvPr>
            <p:ph type="title"/>
          </p:nvPr>
        </p:nvSpPr>
        <p:spPr/>
        <p:txBody>
          <a:bodyPr/>
          <a:lstStyle/>
          <a:p>
            <a:r>
              <a:rPr lang="en-US" b="1" dirty="0"/>
              <a:t>References</a:t>
            </a:r>
          </a:p>
        </p:txBody>
      </p:sp>
      <p:sp>
        <p:nvSpPr>
          <p:cNvPr id="3" name="Content Placeholder 2">
            <a:extLst>
              <a:ext uri="{FF2B5EF4-FFF2-40B4-BE49-F238E27FC236}">
                <a16:creationId xmlns:a16="http://schemas.microsoft.com/office/drawing/2014/main" id="{9F3034B6-3BDF-9049-4B43-E2409BDEDE8D}"/>
              </a:ext>
            </a:extLst>
          </p:cNvPr>
          <p:cNvSpPr>
            <a:spLocks noGrp="1"/>
          </p:cNvSpPr>
          <p:nvPr>
            <p:ph idx="1"/>
          </p:nvPr>
        </p:nvSpPr>
        <p:spPr/>
        <p:txBody>
          <a:bodyPr/>
          <a:lstStyle/>
          <a:p>
            <a:pPr marL="461963" indent="-342900">
              <a:buFont typeface="Wingdings" panose="05000000000000000000" pitchFamily="2" charset="2"/>
              <a:buChar char="§"/>
            </a:pPr>
            <a:r>
              <a:rPr lang="en-US" dirty="0" err="1"/>
              <a:t>Elmasri</a:t>
            </a:r>
            <a:r>
              <a:rPr lang="en-US" dirty="0"/>
              <a:t>, R., &amp; Navathe, S. (2017). Fundamentals of database systems (Vol. 7). Pearson</a:t>
            </a:r>
          </a:p>
          <a:p>
            <a:pPr marL="461963" indent="-342900">
              <a:buFont typeface="Wingdings" panose="05000000000000000000" pitchFamily="2" charset="2"/>
              <a:buChar char="§"/>
            </a:pPr>
            <a:r>
              <a:rPr lang="en-US" dirty="0"/>
              <a:t>Eng. Lina’s slides</a:t>
            </a:r>
          </a:p>
          <a:p>
            <a:pPr marL="461963" indent="-342900">
              <a:buFont typeface="Wingdings" panose="05000000000000000000" pitchFamily="2" charset="2"/>
              <a:buChar char="§"/>
            </a:pPr>
            <a:r>
              <a:rPr lang="en-US" dirty="0"/>
              <a:t>Dr. </a:t>
            </a:r>
            <a:r>
              <a:rPr lang="en-US" dirty="0" err="1"/>
              <a:t>Raneem’s</a:t>
            </a:r>
            <a:r>
              <a:rPr lang="en-US" dirty="0"/>
              <a:t> slides.</a:t>
            </a:r>
          </a:p>
          <a:p>
            <a:endParaRPr lang="en-US" dirty="0"/>
          </a:p>
          <a:p>
            <a:pPr marL="290513" indent="-290513">
              <a:buFont typeface="Wingdings" panose="05000000000000000000" pitchFamily="2" charset="2"/>
              <a:buChar char="§"/>
              <a:tabLst>
                <a:tab pos="344488" algn="l"/>
              </a:tabLst>
            </a:pPr>
            <a:endParaRPr lang="en-US" dirty="0"/>
          </a:p>
          <a:p>
            <a:pPr marL="290513" indent="-290513">
              <a:buFont typeface="Wingdings" panose="05000000000000000000" pitchFamily="2" charset="2"/>
              <a:buChar char="§"/>
              <a:tabLst>
                <a:tab pos="344488" algn="l"/>
              </a:tabLst>
            </a:pPr>
            <a:endParaRPr lang="en-US" dirty="0"/>
          </a:p>
        </p:txBody>
      </p:sp>
      <p:sp>
        <p:nvSpPr>
          <p:cNvPr id="6" name="Footer Placeholder 5">
            <a:extLst>
              <a:ext uri="{FF2B5EF4-FFF2-40B4-BE49-F238E27FC236}">
                <a16:creationId xmlns:a16="http://schemas.microsoft.com/office/drawing/2014/main" id="{5EE8B007-FFA6-341A-915A-262DF6342AD6}"/>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2F612894-D886-3775-7F32-99C5AE524230}"/>
              </a:ext>
            </a:extLst>
          </p:cNvPr>
          <p:cNvSpPr>
            <a:spLocks noGrp="1"/>
          </p:cNvSpPr>
          <p:nvPr>
            <p:ph type="sldNum" sz="quarter" idx="12"/>
          </p:nvPr>
        </p:nvSpPr>
        <p:spPr/>
        <p:txBody>
          <a:bodyPr/>
          <a:lstStyle/>
          <a:p>
            <a:fld id="{E6B03378-CDB7-40C1-827C-F54129224789}" type="slidenum">
              <a:rPr lang="en-US" smtClean="0"/>
              <a:t>15</a:t>
            </a:fld>
            <a:endParaRPr lang="en-US"/>
          </a:p>
        </p:txBody>
      </p:sp>
    </p:spTree>
    <p:extLst>
      <p:ext uri="{BB962C8B-B14F-4D97-AF65-F5344CB8AC3E}">
        <p14:creationId xmlns:p14="http://schemas.microsoft.com/office/powerpoint/2010/main" val="2157786103"/>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1134</TotalTime>
  <Words>1633</Words>
  <Application>Microsoft Office PowerPoint</Application>
  <PresentationFormat>Widescreen</PresentationFormat>
  <Paragraphs>167</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Calibri</vt:lpstr>
      <vt:lpstr>Calibri Light</vt:lpstr>
      <vt:lpstr>Söhne</vt:lpstr>
      <vt:lpstr>Wingdings</vt:lpstr>
      <vt:lpstr>Retrospect</vt:lpstr>
      <vt:lpstr>Database Development &amp; Design </vt:lpstr>
      <vt:lpstr>Outline</vt:lpstr>
      <vt:lpstr>Attributes</vt:lpstr>
      <vt:lpstr>Keys</vt:lpstr>
      <vt:lpstr>Keys Types</vt:lpstr>
      <vt:lpstr>Keys – Example</vt:lpstr>
      <vt:lpstr>Keys – Example</vt:lpstr>
      <vt:lpstr>PK Vs. FK</vt:lpstr>
      <vt:lpstr>Prime and Non-Prime Attributes</vt:lpstr>
      <vt:lpstr>Prime and Non-Prime Attributes</vt:lpstr>
      <vt:lpstr>Keys Categories</vt:lpstr>
      <vt:lpstr>Constraints</vt:lpstr>
      <vt:lpstr>Constraints </vt:lpstr>
      <vt:lpstr>Constraints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Development &amp; Design </dc:title>
  <dc:creator>Aisha Alsadi</dc:creator>
  <cp:lastModifiedBy>Aisha Alsadi</cp:lastModifiedBy>
  <cp:revision>81</cp:revision>
  <dcterms:created xsi:type="dcterms:W3CDTF">2023-03-18T05:57:26Z</dcterms:created>
  <dcterms:modified xsi:type="dcterms:W3CDTF">2023-10-31T09:43:45Z</dcterms:modified>
</cp:coreProperties>
</file>