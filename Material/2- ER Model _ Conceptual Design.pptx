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4"/>
  </p:notesMasterIdLst>
  <p:sldIdLst>
    <p:sldId id="428" r:id="rId5"/>
    <p:sldId id="429" r:id="rId6"/>
    <p:sldId id="410" r:id="rId7"/>
    <p:sldId id="273" r:id="rId8"/>
    <p:sldId id="274" r:id="rId9"/>
    <p:sldId id="430" r:id="rId10"/>
    <p:sldId id="431" r:id="rId11"/>
    <p:sldId id="432" r:id="rId12"/>
    <p:sldId id="433" r:id="rId13"/>
    <p:sldId id="434" r:id="rId14"/>
    <p:sldId id="435" r:id="rId15"/>
    <p:sldId id="277" r:id="rId16"/>
    <p:sldId id="465" r:id="rId17"/>
    <p:sldId id="466" r:id="rId18"/>
    <p:sldId id="436" r:id="rId19"/>
    <p:sldId id="464" r:id="rId20"/>
    <p:sldId id="422" r:id="rId21"/>
    <p:sldId id="473" r:id="rId22"/>
    <p:sldId id="426" r:id="rId23"/>
    <p:sldId id="483" r:id="rId24"/>
    <p:sldId id="413" r:id="rId25"/>
    <p:sldId id="409" r:id="rId26"/>
    <p:sldId id="462" r:id="rId27"/>
    <p:sldId id="408" r:id="rId28"/>
    <p:sldId id="468" r:id="rId29"/>
    <p:sldId id="414" r:id="rId30"/>
    <p:sldId id="469" r:id="rId31"/>
    <p:sldId id="419" r:id="rId32"/>
    <p:sldId id="485" r:id="rId33"/>
    <p:sldId id="363" r:id="rId34"/>
    <p:sldId id="403" r:id="rId35"/>
    <p:sldId id="477" r:id="rId36"/>
    <p:sldId id="476" r:id="rId37"/>
    <p:sldId id="360" r:id="rId38"/>
    <p:sldId id="474" r:id="rId39"/>
    <p:sldId id="484" r:id="rId40"/>
    <p:sldId id="480" r:id="rId41"/>
    <p:sldId id="482" r:id="rId42"/>
    <p:sldId id="470" r:id="rId43"/>
  </p:sldIdLst>
  <p:sldSz cx="12192000" cy="6858000"/>
  <p:notesSz cx="6858000" cy="9144000"/>
  <p:custDataLst>
    <p:tags r:id="rId4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na Hammad" initials="LH" lastIdx="1" clrIdx="0">
    <p:extLst>
      <p:ext uri="{19B8F6BF-5375-455C-9EA6-DF929625EA0E}">
        <p15:presenceInfo xmlns:p15="http://schemas.microsoft.com/office/powerpoint/2012/main" userId="Lina Hamma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F8F9"/>
    <a:srgbClr val="009CAC"/>
    <a:srgbClr val="006B76"/>
    <a:srgbClr val="F3FAFB"/>
    <a:srgbClr val="E5F5F7"/>
    <a:srgbClr val="DFF3F5"/>
    <a:srgbClr val="D1EEF1"/>
    <a:srgbClr val="007D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720" autoAdjust="0"/>
    <p:restoredTop sz="86782" autoAdjust="0"/>
  </p:normalViewPr>
  <p:slideViewPr>
    <p:cSldViewPr snapToGrid="0">
      <p:cViewPr varScale="1">
        <p:scale>
          <a:sx n="71" d="100"/>
          <a:sy n="71" d="100"/>
        </p:scale>
        <p:origin x="734" y="62"/>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brraghad10@gmail.com" userId="045bed1d119b7274" providerId="LiveId" clId="{4D46CCBF-4EE0-4E22-A3BF-BF69C355CCC5}"/>
    <pc:docChg chg="modSld">
      <pc:chgData name="jabrraghad10@gmail.com" userId="045bed1d119b7274" providerId="LiveId" clId="{4D46CCBF-4EE0-4E22-A3BF-BF69C355CCC5}" dt="2024-07-17T00:19:09.286" v="28" actId="20577"/>
      <pc:docMkLst>
        <pc:docMk/>
      </pc:docMkLst>
      <pc:sldChg chg="modSp mod">
        <pc:chgData name="jabrraghad10@gmail.com" userId="045bed1d119b7274" providerId="LiveId" clId="{4D46CCBF-4EE0-4E22-A3BF-BF69C355CCC5}" dt="2024-07-17T00:19:09.286" v="28" actId="20577"/>
        <pc:sldMkLst>
          <pc:docMk/>
          <pc:sldMk cId="544759253" sldId="484"/>
        </pc:sldMkLst>
        <pc:spChg chg="mod">
          <ac:chgData name="jabrraghad10@gmail.com" userId="045bed1d119b7274" providerId="LiveId" clId="{4D46CCBF-4EE0-4E22-A3BF-BF69C355CCC5}" dt="2024-07-17T00:19:09.286" v="28" actId="20577"/>
          <ac:spMkLst>
            <pc:docMk/>
            <pc:sldMk cId="544759253" sldId="484"/>
            <ac:spMk id="3" creationId="{EFAB19EB-DD3E-16BA-9F21-517F0C73214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E9F2F2-992A-4EEF-90F2-DA5BBE4E0087}" type="datetimeFigureOut">
              <a:rPr lang="en-US" smtClean="0"/>
              <a:t>7/17/2024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B506EC-E4FF-454E-9502-020BEE1549E9}" type="slidenum">
              <a:rPr lang="en-US" smtClean="0"/>
              <a:t>‹#›</a:t>
            </a:fld>
            <a:endParaRPr lang="en-US"/>
          </a:p>
        </p:txBody>
      </p:sp>
    </p:spTree>
    <p:extLst>
      <p:ext uri="{BB962C8B-B14F-4D97-AF65-F5344CB8AC3E}">
        <p14:creationId xmlns:p14="http://schemas.microsoft.com/office/powerpoint/2010/main" val="1050493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B506EC-E4FF-454E-9502-020BEE1549E9}" type="slidenum">
              <a:rPr lang="en-US" smtClean="0"/>
              <a:t>4</a:t>
            </a:fld>
            <a:endParaRPr lang="en-US"/>
          </a:p>
        </p:txBody>
      </p:sp>
    </p:spTree>
    <p:extLst>
      <p:ext uri="{BB962C8B-B14F-4D97-AF65-F5344CB8AC3E}">
        <p14:creationId xmlns:p14="http://schemas.microsoft.com/office/powerpoint/2010/main" val="1332550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B506EC-E4FF-454E-9502-020BEE1549E9}" type="slidenum">
              <a:rPr lang="en-US" smtClean="0"/>
              <a:t>24</a:t>
            </a:fld>
            <a:endParaRPr lang="en-US"/>
          </a:p>
        </p:txBody>
      </p:sp>
    </p:spTree>
    <p:extLst>
      <p:ext uri="{BB962C8B-B14F-4D97-AF65-F5344CB8AC3E}">
        <p14:creationId xmlns:p14="http://schemas.microsoft.com/office/powerpoint/2010/main" val="3697830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B506EC-E4FF-454E-9502-020BEE1549E9}" type="slidenum">
              <a:rPr lang="en-US" smtClean="0"/>
              <a:t>25</a:t>
            </a:fld>
            <a:endParaRPr lang="en-US"/>
          </a:p>
        </p:txBody>
      </p:sp>
    </p:spTree>
    <p:extLst>
      <p:ext uri="{BB962C8B-B14F-4D97-AF65-F5344CB8AC3E}">
        <p14:creationId xmlns:p14="http://schemas.microsoft.com/office/powerpoint/2010/main" val="3799978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B506EC-E4FF-454E-9502-020BEE1549E9}" type="slidenum">
              <a:rPr lang="en-US" smtClean="0"/>
              <a:t>28</a:t>
            </a:fld>
            <a:endParaRPr lang="en-US"/>
          </a:p>
        </p:txBody>
      </p:sp>
    </p:spTree>
    <p:extLst>
      <p:ext uri="{BB962C8B-B14F-4D97-AF65-F5344CB8AC3E}">
        <p14:creationId xmlns:p14="http://schemas.microsoft.com/office/powerpoint/2010/main" val="3313397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AEAEB5-4B32-44CE-82C4-0354D77ADC27}" type="datetime1">
              <a:rPr lang="en-US" smtClean="0"/>
              <a:t>7/17/2024</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FD97C469-14A9-4BE4-BDC2-AF98C32D29B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23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677CBA-F871-482C-80D6-B68050FFF7CA}" type="datetime1">
              <a:rPr lang="en-US" smtClean="0"/>
              <a:t>7/17/2024</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FD97C469-14A9-4BE4-BDC2-AF98C32D29B7}" type="slidenum">
              <a:rPr lang="en-US" smtClean="0"/>
              <a:t>‹#›</a:t>
            </a:fld>
            <a:endParaRPr lang="en-US"/>
          </a:p>
        </p:txBody>
      </p:sp>
    </p:spTree>
    <p:extLst>
      <p:ext uri="{BB962C8B-B14F-4D97-AF65-F5344CB8AC3E}">
        <p14:creationId xmlns:p14="http://schemas.microsoft.com/office/powerpoint/2010/main" val="3767138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DD28AC-74C1-4E73-A96D-DB8EE83259B3}" type="datetime1">
              <a:rPr lang="en-US" smtClean="0"/>
              <a:t>7/17/2024</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FD97C469-14A9-4BE4-BDC2-AF98C32D29B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4383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D18728-52FA-4133-9E72-D9720F5B3A0F}" type="datetime1">
              <a:rPr lang="en-US" smtClean="0"/>
              <a:t>7/17/2024</a:t>
            </a:fld>
            <a:endParaRPr lang="en-US"/>
          </a:p>
        </p:txBody>
      </p:sp>
      <p:sp>
        <p:nvSpPr>
          <p:cNvPr id="6" name="Footer Placeholder 5"/>
          <p:cNvSpPr>
            <a:spLocks noGrp="1"/>
          </p:cNvSpPr>
          <p:nvPr>
            <p:ph type="ftr" sz="quarter" idx="11"/>
          </p:nvPr>
        </p:nvSpPr>
        <p:spPr/>
        <p:txBody>
          <a:bodyPr/>
          <a:lstStyle/>
          <a:p>
            <a:r>
              <a:rPr lang="en-US"/>
              <a:t>Eng. Aisha Al-Sadi | HTU | Al Hussein Technical University</a:t>
            </a:r>
          </a:p>
        </p:txBody>
      </p:sp>
      <p:sp>
        <p:nvSpPr>
          <p:cNvPr id="7" name="Slide Number Placeholder 6"/>
          <p:cNvSpPr>
            <a:spLocks noGrp="1"/>
          </p:cNvSpPr>
          <p:nvPr>
            <p:ph type="sldNum" sz="quarter" idx="12"/>
          </p:nvPr>
        </p:nvSpPr>
        <p:spPr/>
        <p:txBody>
          <a:bodyPr/>
          <a:lstStyle/>
          <a:p>
            <a:fld id="{FD97C469-14A9-4BE4-BDC2-AF98C32D29B7}" type="slidenum">
              <a:rPr lang="en-US" smtClean="0"/>
              <a:t>‹#›</a:t>
            </a:fld>
            <a:endParaRPr lang="en-US"/>
          </a:p>
        </p:txBody>
      </p:sp>
    </p:spTree>
    <p:extLst>
      <p:ext uri="{BB962C8B-B14F-4D97-AF65-F5344CB8AC3E}">
        <p14:creationId xmlns:p14="http://schemas.microsoft.com/office/powerpoint/2010/main" val="3613228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AC2C2A-D31A-4EA1-90E7-14E41DCD70AF}" type="datetime1">
              <a:rPr lang="en-US" smtClean="0"/>
              <a:t>7/17/2024</a:t>
            </a:fld>
            <a:endParaRPr lang="en-US"/>
          </a:p>
        </p:txBody>
      </p:sp>
      <p:sp>
        <p:nvSpPr>
          <p:cNvPr id="8" name="Footer Placeholder 7"/>
          <p:cNvSpPr>
            <a:spLocks noGrp="1"/>
          </p:cNvSpPr>
          <p:nvPr>
            <p:ph type="ftr" sz="quarter" idx="11"/>
          </p:nvPr>
        </p:nvSpPr>
        <p:spPr/>
        <p:txBody>
          <a:bodyPr/>
          <a:lstStyle/>
          <a:p>
            <a:r>
              <a:rPr lang="en-US"/>
              <a:t>Eng. Aisha Al-Sadi | HTU | Al Hussein Technical University</a:t>
            </a:r>
          </a:p>
        </p:txBody>
      </p:sp>
      <p:sp>
        <p:nvSpPr>
          <p:cNvPr id="9" name="Slide Number Placeholder 8"/>
          <p:cNvSpPr>
            <a:spLocks noGrp="1"/>
          </p:cNvSpPr>
          <p:nvPr>
            <p:ph type="sldNum" sz="quarter" idx="12"/>
          </p:nvPr>
        </p:nvSpPr>
        <p:spPr/>
        <p:txBody>
          <a:bodyPr/>
          <a:lstStyle/>
          <a:p>
            <a:fld id="{FD97C469-14A9-4BE4-BDC2-AF98C32D29B7}" type="slidenum">
              <a:rPr lang="en-US" smtClean="0"/>
              <a:t>‹#›</a:t>
            </a:fld>
            <a:endParaRPr lang="en-US"/>
          </a:p>
        </p:txBody>
      </p:sp>
    </p:spTree>
    <p:extLst>
      <p:ext uri="{BB962C8B-B14F-4D97-AF65-F5344CB8AC3E}">
        <p14:creationId xmlns:p14="http://schemas.microsoft.com/office/powerpoint/2010/main" val="2470378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33EC75-CBA7-46B0-8CEF-22C4C755F978}" type="datetime1">
              <a:rPr lang="en-US" smtClean="0"/>
              <a:t>7/17/2024</a:t>
            </a:fld>
            <a:endParaRPr lang="en-US"/>
          </a:p>
        </p:txBody>
      </p:sp>
      <p:sp>
        <p:nvSpPr>
          <p:cNvPr id="4" name="Footer Placeholder 3"/>
          <p:cNvSpPr>
            <a:spLocks noGrp="1"/>
          </p:cNvSpPr>
          <p:nvPr>
            <p:ph type="ftr" sz="quarter" idx="11"/>
          </p:nvPr>
        </p:nvSpPr>
        <p:spPr/>
        <p:txBody>
          <a:bodyPr/>
          <a:lstStyle/>
          <a:p>
            <a:r>
              <a:rPr lang="en-US"/>
              <a:t>Eng. Aisha Al-Sadi | HTU | Al Hussein Technical University</a:t>
            </a:r>
          </a:p>
        </p:txBody>
      </p:sp>
      <p:sp>
        <p:nvSpPr>
          <p:cNvPr id="5" name="Slide Number Placeholder 4"/>
          <p:cNvSpPr>
            <a:spLocks noGrp="1"/>
          </p:cNvSpPr>
          <p:nvPr>
            <p:ph type="sldNum" sz="quarter" idx="12"/>
          </p:nvPr>
        </p:nvSpPr>
        <p:spPr/>
        <p:txBody>
          <a:bodyPr/>
          <a:lstStyle/>
          <a:p>
            <a:fld id="{FD97C469-14A9-4BE4-BDC2-AF98C32D29B7}" type="slidenum">
              <a:rPr lang="en-US" smtClean="0"/>
              <a:t>‹#›</a:t>
            </a:fld>
            <a:endParaRPr lang="en-US"/>
          </a:p>
        </p:txBody>
      </p:sp>
    </p:spTree>
    <p:extLst>
      <p:ext uri="{BB962C8B-B14F-4D97-AF65-F5344CB8AC3E}">
        <p14:creationId xmlns:p14="http://schemas.microsoft.com/office/powerpoint/2010/main" val="4056230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F8F0398-197A-4A71-B71F-97A4BD030A01}" type="datetime1">
              <a:rPr lang="en-US" smtClean="0"/>
              <a:t>7/17/2024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Eng. Aisha Al-Sadi | HTU | Al Hussein Technical University</a:t>
            </a:r>
          </a:p>
        </p:txBody>
      </p:sp>
      <p:sp>
        <p:nvSpPr>
          <p:cNvPr id="9" name="Slide Number Placeholder 8"/>
          <p:cNvSpPr>
            <a:spLocks noGrp="1"/>
          </p:cNvSpPr>
          <p:nvPr>
            <p:ph type="sldNum" sz="quarter" idx="12"/>
          </p:nvPr>
        </p:nvSpPr>
        <p:spPr/>
        <p:txBody>
          <a:bodyPr/>
          <a:lstStyle/>
          <a:p>
            <a:fld id="{FD97C469-14A9-4BE4-BDC2-AF98C32D29B7}" type="slidenum">
              <a:rPr lang="en-US" smtClean="0"/>
              <a:t>‹#›</a:t>
            </a:fld>
            <a:endParaRPr lang="en-US"/>
          </a:p>
        </p:txBody>
      </p:sp>
    </p:spTree>
    <p:extLst>
      <p:ext uri="{BB962C8B-B14F-4D97-AF65-F5344CB8AC3E}">
        <p14:creationId xmlns:p14="http://schemas.microsoft.com/office/powerpoint/2010/main" val="3312850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7062917-BB4B-4038-8051-69EAC4FD98A0}" type="datetime1">
              <a:rPr lang="en-US" smtClean="0"/>
              <a:t>7/17/2024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Eng. Aisha Al-Sadi | HTU | Al Hussein Technical University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D97C469-14A9-4BE4-BDC2-AF98C32D29B7}" type="slidenum">
              <a:rPr lang="en-US" smtClean="0"/>
              <a:t>‹#›</a:t>
            </a:fld>
            <a:endParaRPr lang="en-US"/>
          </a:p>
        </p:txBody>
      </p:sp>
    </p:spTree>
    <p:extLst>
      <p:ext uri="{BB962C8B-B14F-4D97-AF65-F5344CB8AC3E}">
        <p14:creationId xmlns:p14="http://schemas.microsoft.com/office/powerpoint/2010/main" val="3793326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7673B8-3F2A-4960-924F-CC10DEC97946}" type="datetime1">
              <a:rPr lang="en-US" smtClean="0"/>
              <a:t>7/17/2024</a:t>
            </a:fld>
            <a:endParaRPr lang="en-US"/>
          </a:p>
        </p:txBody>
      </p:sp>
      <p:sp>
        <p:nvSpPr>
          <p:cNvPr id="6" name="Footer Placeholder 5"/>
          <p:cNvSpPr>
            <a:spLocks noGrp="1"/>
          </p:cNvSpPr>
          <p:nvPr>
            <p:ph type="ftr" sz="quarter" idx="11"/>
          </p:nvPr>
        </p:nvSpPr>
        <p:spPr/>
        <p:txBody>
          <a:bodyPr/>
          <a:lstStyle/>
          <a:p>
            <a:r>
              <a:rPr lang="en-US"/>
              <a:t>Eng. Aisha Al-Sadi | HTU | Al Hussein Technical University</a:t>
            </a:r>
          </a:p>
        </p:txBody>
      </p:sp>
      <p:sp>
        <p:nvSpPr>
          <p:cNvPr id="7" name="Slide Number Placeholder 6"/>
          <p:cNvSpPr>
            <a:spLocks noGrp="1"/>
          </p:cNvSpPr>
          <p:nvPr>
            <p:ph type="sldNum" sz="quarter" idx="12"/>
          </p:nvPr>
        </p:nvSpPr>
        <p:spPr/>
        <p:txBody>
          <a:bodyPr/>
          <a:lstStyle/>
          <a:p>
            <a:fld id="{FD97C469-14A9-4BE4-BDC2-AF98C32D29B7}" type="slidenum">
              <a:rPr lang="en-US" smtClean="0"/>
              <a:t>‹#›</a:t>
            </a:fld>
            <a:endParaRPr lang="en-US"/>
          </a:p>
        </p:txBody>
      </p:sp>
    </p:spTree>
    <p:extLst>
      <p:ext uri="{BB962C8B-B14F-4D97-AF65-F5344CB8AC3E}">
        <p14:creationId xmlns:p14="http://schemas.microsoft.com/office/powerpoint/2010/main" val="883946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6D8C5A-B4F8-45FF-91F8-7F4D838352EA}" type="datetime1">
              <a:rPr lang="en-US" smtClean="0"/>
              <a:t>7/17/2024</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FD97C469-14A9-4BE4-BDC2-AF98C32D29B7}" type="slidenum">
              <a:rPr lang="en-US" smtClean="0"/>
              <a:t>‹#›</a:t>
            </a:fld>
            <a:endParaRPr lang="en-US"/>
          </a:p>
        </p:txBody>
      </p:sp>
    </p:spTree>
    <p:extLst>
      <p:ext uri="{BB962C8B-B14F-4D97-AF65-F5344CB8AC3E}">
        <p14:creationId xmlns:p14="http://schemas.microsoft.com/office/powerpoint/2010/main" val="691855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1ABBB0-6E5B-4DA8-BBB3-6B48C496ECDA}" type="datetime1">
              <a:rPr lang="en-US" smtClean="0"/>
              <a:t>7/17/2024</a:t>
            </a:fld>
            <a:endParaRPr lang="en-US"/>
          </a:p>
        </p:txBody>
      </p:sp>
      <p:sp>
        <p:nvSpPr>
          <p:cNvPr id="5" name="Footer Placeholder 4"/>
          <p:cNvSpPr>
            <a:spLocks noGrp="1"/>
          </p:cNvSpPr>
          <p:nvPr>
            <p:ph type="ftr" sz="quarter" idx="11"/>
          </p:nvPr>
        </p:nvSpPr>
        <p:spPr/>
        <p:txBody>
          <a:bodyPr/>
          <a:lstStyle/>
          <a:p>
            <a:r>
              <a:rPr lang="en-US"/>
              <a:t>Eng. Aisha Al-Sadi | HTU | Al Hussein Technical University</a:t>
            </a:r>
          </a:p>
        </p:txBody>
      </p:sp>
      <p:sp>
        <p:nvSpPr>
          <p:cNvPr id="6" name="Slide Number Placeholder 5"/>
          <p:cNvSpPr>
            <a:spLocks noGrp="1"/>
          </p:cNvSpPr>
          <p:nvPr>
            <p:ph type="sldNum" sz="quarter" idx="12"/>
          </p:nvPr>
        </p:nvSpPr>
        <p:spPr/>
        <p:txBody>
          <a:bodyPr/>
          <a:lstStyle/>
          <a:p>
            <a:fld id="{FD97C469-14A9-4BE4-BDC2-AF98C32D29B7}" type="slidenum">
              <a:rPr lang="en-US" smtClean="0"/>
              <a:t>‹#›</a:t>
            </a:fld>
            <a:endParaRPr lang="en-US"/>
          </a:p>
        </p:txBody>
      </p:sp>
    </p:spTree>
    <p:extLst>
      <p:ext uri="{BB962C8B-B14F-4D97-AF65-F5344CB8AC3E}">
        <p14:creationId xmlns:p14="http://schemas.microsoft.com/office/powerpoint/2010/main" val="3718318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C7C8754-2DAB-4780-935D-F33B52E76829}" type="datetime1">
              <a:rPr lang="en-US" smtClean="0"/>
              <a:t>7/17/2024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Eng. Aisha Al-Sadi | HTU | Al Hussein Technical University</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D97C469-14A9-4BE4-BDC2-AF98C32D29B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853461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E52CB7-5EDD-2A1E-B7F7-2088CA5ABCE0}"/>
              </a:ext>
            </a:extLst>
          </p:cNvPr>
          <p:cNvSpPr>
            <a:spLocks noGrp="1"/>
          </p:cNvSpPr>
          <p:nvPr>
            <p:ph type="ctrTitle"/>
          </p:nvPr>
        </p:nvSpPr>
        <p:spPr>
          <a:xfrm>
            <a:off x="1100051" y="758952"/>
            <a:ext cx="10058400" cy="3566160"/>
          </a:xfrm>
        </p:spPr>
        <p:txBody>
          <a:bodyPr>
            <a:normAutofit/>
          </a:bodyPr>
          <a:lstStyle/>
          <a:p>
            <a:r>
              <a:rPr lang="en-US" sz="5400" b="1" dirty="0">
                <a:solidFill>
                  <a:schemeClr val="accent2">
                    <a:lumMod val="75000"/>
                  </a:schemeClr>
                </a:solidFill>
              </a:rPr>
              <a:t>Database Development &amp; Design</a:t>
            </a:r>
            <a:br>
              <a:rPr lang="en-US" sz="5400" b="1" dirty="0">
                <a:solidFill>
                  <a:schemeClr val="accent2">
                    <a:lumMod val="75000"/>
                  </a:schemeClr>
                </a:solidFill>
              </a:rPr>
            </a:br>
            <a:endParaRPr lang="en-US" sz="5400" dirty="0">
              <a:solidFill>
                <a:schemeClr val="accent2">
                  <a:lumMod val="75000"/>
                </a:schemeClr>
              </a:solidFill>
            </a:endParaRPr>
          </a:p>
        </p:txBody>
      </p:sp>
      <p:sp>
        <p:nvSpPr>
          <p:cNvPr id="7" name="Subtitle 6">
            <a:extLst>
              <a:ext uri="{FF2B5EF4-FFF2-40B4-BE49-F238E27FC236}">
                <a16:creationId xmlns:a16="http://schemas.microsoft.com/office/drawing/2014/main" id="{F7C6220E-859F-19D9-963B-E3CFD19DA5BC}"/>
              </a:ext>
            </a:extLst>
          </p:cNvPr>
          <p:cNvSpPr>
            <a:spLocks noGrp="1"/>
          </p:cNvSpPr>
          <p:nvPr>
            <p:ph type="subTitle" idx="1"/>
          </p:nvPr>
        </p:nvSpPr>
        <p:spPr/>
        <p:txBody>
          <a:bodyPr>
            <a:normAutofit/>
          </a:bodyPr>
          <a:lstStyle/>
          <a:p>
            <a:r>
              <a:rPr lang="en-US" b="1" dirty="0">
                <a:solidFill>
                  <a:schemeClr val="accent2">
                    <a:lumMod val="75000"/>
                  </a:schemeClr>
                </a:solidFill>
              </a:rPr>
              <a:t>Entity Relationship (ER) MODEL</a:t>
            </a:r>
            <a:endParaRPr lang="en-US" b="1" dirty="0"/>
          </a:p>
        </p:txBody>
      </p:sp>
      <p:sp>
        <p:nvSpPr>
          <p:cNvPr id="2" name="Footer Placeholder 1">
            <a:extLst>
              <a:ext uri="{FF2B5EF4-FFF2-40B4-BE49-F238E27FC236}">
                <a16:creationId xmlns:a16="http://schemas.microsoft.com/office/drawing/2014/main" id="{E211BE59-A101-E9CF-D6CB-61AAA817C3CC}"/>
              </a:ext>
            </a:extLst>
          </p:cNvPr>
          <p:cNvSpPr>
            <a:spLocks noGrp="1"/>
          </p:cNvSpPr>
          <p:nvPr>
            <p:ph type="ftr" sz="quarter" idx="11"/>
          </p:nvPr>
        </p:nvSpPr>
        <p:spPr/>
        <p:txBody>
          <a:bodyPr/>
          <a:lstStyle/>
          <a:p>
            <a:r>
              <a:rPr lang="en-US"/>
              <a:t>Eng. Aisha Al-Sadi | HTU | Al Hussein Technical University</a:t>
            </a:r>
          </a:p>
        </p:txBody>
      </p:sp>
      <p:sp>
        <p:nvSpPr>
          <p:cNvPr id="3" name="Slide Number Placeholder 2">
            <a:extLst>
              <a:ext uri="{FF2B5EF4-FFF2-40B4-BE49-F238E27FC236}">
                <a16:creationId xmlns:a16="http://schemas.microsoft.com/office/drawing/2014/main" id="{416F9C40-9FDB-3417-83FA-AC518BCB3AD0}"/>
              </a:ext>
            </a:extLst>
          </p:cNvPr>
          <p:cNvSpPr>
            <a:spLocks noGrp="1"/>
          </p:cNvSpPr>
          <p:nvPr>
            <p:ph type="sldNum" sz="quarter" idx="12"/>
          </p:nvPr>
        </p:nvSpPr>
        <p:spPr/>
        <p:txBody>
          <a:bodyPr/>
          <a:lstStyle/>
          <a:p>
            <a:fld id="{FD97C469-14A9-4BE4-BDC2-AF98C32D29B7}" type="slidenum">
              <a:rPr lang="en-US" smtClean="0"/>
              <a:t>1</a:t>
            </a:fld>
            <a:endParaRPr lang="en-US"/>
          </a:p>
        </p:txBody>
      </p:sp>
    </p:spTree>
    <p:extLst>
      <p:ext uri="{BB962C8B-B14F-4D97-AF65-F5344CB8AC3E}">
        <p14:creationId xmlns:p14="http://schemas.microsoft.com/office/powerpoint/2010/main" val="443145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97E1E-E087-3C18-739C-527A6DF3BA26}"/>
              </a:ext>
            </a:extLst>
          </p:cNvPr>
          <p:cNvSpPr>
            <a:spLocks noGrp="1"/>
          </p:cNvSpPr>
          <p:nvPr>
            <p:ph type="title"/>
          </p:nvPr>
        </p:nvSpPr>
        <p:spPr/>
        <p:txBody>
          <a:bodyPr/>
          <a:lstStyle/>
          <a:p>
            <a:r>
              <a:rPr lang="en-US" b="1" dirty="0"/>
              <a:t>Outline</a:t>
            </a:r>
          </a:p>
        </p:txBody>
      </p:sp>
      <p:sp>
        <p:nvSpPr>
          <p:cNvPr id="3" name="Content Placeholder 2">
            <a:extLst>
              <a:ext uri="{FF2B5EF4-FFF2-40B4-BE49-F238E27FC236}">
                <a16:creationId xmlns:a16="http://schemas.microsoft.com/office/drawing/2014/main" id="{73B502CC-CBE5-220B-19B3-345368C9A896}"/>
              </a:ext>
            </a:extLst>
          </p:cNvPr>
          <p:cNvSpPr>
            <a:spLocks noGrp="1"/>
          </p:cNvSpPr>
          <p:nvPr>
            <p:ph idx="1"/>
          </p:nvPr>
        </p:nvSpPr>
        <p:spPr/>
        <p:txBody>
          <a:bodyPr/>
          <a:lstStyle/>
          <a:p>
            <a:pPr marL="344488" indent="-290513">
              <a:buFont typeface="Wingdings" panose="05000000000000000000" pitchFamily="2" charset="2"/>
              <a:buChar char="§"/>
            </a:pPr>
            <a:r>
              <a:rPr lang="en-US" dirty="0"/>
              <a:t>ER Model</a:t>
            </a:r>
          </a:p>
          <a:p>
            <a:pPr marL="344488" indent="-290513">
              <a:buFont typeface="Wingdings" panose="05000000000000000000" pitchFamily="2" charset="2"/>
              <a:buChar char="§"/>
            </a:pPr>
            <a:r>
              <a:rPr lang="en-US" dirty="0"/>
              <a:t>Data Models in DBMS</a:t>
            </a:r>
          </a:p>
          <a:p>
            <a:pPr marL="344488" indent="-290513">
              <a:buFont typeface="Wingdings" panose="05000000000000000000" pitchFamily="2" charset="2"/>
              <a:buChar char="§"/>
            </a:pPr>
            <a:r>
              <a:rPr lang="en-US" dirty="0"/>
              <a:t>Design Process</a:t>
            </a:r>
          </a:p>
          <a:p>
            <a:pPr marL="344488" indent="-290513">
              <a:buFont typeface="Wingdings" panose="05000000000000000000" pitchFamily="2" charset="2"/>
              <a:buChar char="§"/>
            </a:pPr>
            <a:r>
              <a:rPr lang="en-US" dirty="0"/>
              <a:t>Conceptual Model</a:t>
            </a:r>
          </a:p>
          <a:p>
            <a:pPr marL="344488" indent="-290513">
              <a:buFont typeface="Wingdings" panose="05000000000000000000" pitchFamily="2" charset="2"/>
              <a:buChar char="§"/>
            </a:pPr>
            <a:r>
              <a:rPr lang="en-US" dirty="0"/>
              <a:t>ER Model components</a:t>
            </a:r>
          </a:p>
          <a:p>
            <a:pPr marL="344488" indent="-290513">
              <a:buFont typeface="Wingdings" panose="05000000000000000000" pitchFamily="2" charset="2"/>
              <a:buChar char="§"/>
            </a:pPr>
            <a:r>
              <a:rPr lang="en-US" dirty="0"/>
              <a:t>ER Notations</a:t>
            </a:r>
          </a:p>
          <a:p>
            <a:pPr marL="344488" indent="-290513">
              <a:buFont typeface="Wingdings" panose="05000000000000000000" pitchFamily="2" charset="2"/>
              <a:buChar char="§"/>
            </a:pPr>
            <a:r>
              <a:rPr lang="en-US" dirty="0"/>
              <a:t>DBMS Scenario</a:t>
            </a:r>
          </a:p>
          <a:p>
            <a:pPr marL="344488" indent="-290513">
              <a:buFont typeface="Wingdings" panose="05000000000000000000" pitchFamily="2" charset="2"/>
              <a:buChar char="§"/>
            </a:pPr>
            <a:endParaRPr lang="en-US" dirty="0"/>
          </a:p>
          <a:p>
            <a:pPr marL="344488" indent="-290513">
              <a:buFont typeface="Wingdings" panose="05000000000000000000" pitchFamily="2" charset="2"/>
              <a:buChar char="§"/>
            </a:pPr>
            <a:endParaRPr lang="en-US" dirty="0"/>
          </a:p>
          <a:p>
            <a:pPr marL="344488" indent="-290513">
              <a:buFont typeface="Wingdings" panose="05000000000000000000" pitchFamily="2" charset="2"/>
              <a:buChar char="§"/>
            </a:pPr>
            <a:endParaRPr lang="en-US" dirty="0"/>
          </a:p>
          <a:p>
            <a:pPr marL="344488" indent="-290513">
              <a:buFont typeface="Wingdings" panose="05000000000000000000" pitchFamily="2" charset="2"/>
              <a:buChar char="§"/>
            </a:pPr>
            <a:endParaRPr lang="en-US" dirty="0"/>
          </a:p>
        </p:txBody>
      </p:sp>
      <p:sp>
        <p:nvSpPr>
          <p:cNvPr id="6" name="Footer Placeholder 5">
            <a:extLst>
              <a:ext uri="{FF2B5EF4-FFF2-40B4-BE49-F238E27FC236}">
                <a16:creationId xmlns:a16="http://schemas.microsoft.com/office/drawing/2014/main" id="{7B6BB8AD-91B4-1B51-387F-525ADF96B829}"/>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E04F53A5-D542-F11D-BBDA-F85AB9A91895}"/>
              </a:ext>
            </a:extLst>
          </p:cNvPr>
          <p:cNvSpPr>
            <a:spLocks noGrp="1"/>
          </p:cNvSpPr>
          <p:nvPr>
            <p:ph type="sldNum" sz="quarter" idx="12"/>
          </p:nvPr>
        </p:nvSpPr>
        <p:spPr/>
        <p:txBody>
          <a:bodyPr/>
          <a:lstStyle/>
          <a:p>
            <a:fld id="{FD97C469-14A9-4BE4-BDC2-AF98C32D29B7}" type="slidenum">
              <a:rPr lang="en-US" smtClean="0"/>
              <a:t>2</a:t>
            </a:fld>
            <a:endParaRPr lang="en-US"/>
          </a:p>
        </p:txBody>
      </p:sp>
    </p:spTree>
    <p:extLst>
      <p:ext uri="{BB962C8B-B14F-4D97-AF65-F5344CB8AC3E}">
        <p14:creationId xmlns:p14="http://schemas.microsoft.com/office/powerpoint/2010/main" val="2496688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85308" y="1327225"/>
            <a:ext cx="10607142" cy="5016758"/>
          </a:xfrm>
          <a:prstGeom prst="rect">
            <a:avLst/>
          </a:prstGeom>
        </p:spPr>
        <p:txBody>
          <a:bodyPr wrap="square">
            <a:spAutoFit/>
          </a:bodyPr>
          <a:lstStyle/>
          <a:p>
            <a:pPr>
              <a:buClr>
                <a:srgbClr val="009CAC"/>
              </a:buClr>
            </a:pPr>
            <a:endParaRPr lang="en-US" sz="2000" dirty="0"/>
          </a:p>
          <a:p>
            <a:pPr marL="285750" indent="-285750">
              <a:buClr>
                <a:srgbClr val="009CAC"/>
              </a:buClr>
              <a:buFont typeface="Arial" panose="020B0604020202020204" pitchFamily="34" charset="0"/>
              <a:buChar char="►"/>
            </a:pPr>
            <a:endParaRPr lang="en-US" sz="2000" dirty="0"/>
          </a:p>
          <a:p>
            <a:pPr marL="285750" indent="-285750">
              <a:buClr>
                <a:srgbClr val="009CAC"/>
              </a:buClr>
              <a:buFont typeface="Arial" panose="020B0604020202020204" pitchFamily="34" charset="0"/>
              <a:buChar char="►"/>
            </a:pPr>
            <a:r>
              <a:rPr lang="en-US" sz="2000" b="1" dirty="0"/>
              <a:t>An entity relationship diagram </a:t>
            </a:r>
            <a:r>
              <a:rPr lang="en-US" sz="2000" dirty="0"/>
              <a:t>(</a:t>
            </a:r>
            <a:r>
              <a:rPr lang="en-US" sz="2000" b="1" dirty="0"/>
              <a:t>ERD</a:t>
            </a:r>
            <a:r>
              <a:rPr lang="en-US" sz="2000" dirty="0"/>
              <a:t>) is a diagram that defines the structure of database instances.</a:t>
            </a:r>
            <a:br>
              <a:rPr lang="en-US" sz="2000" dirty="0"/>
            </a:br>
            <a:endParaRPr lang="en-US" sz="2000" dirty="0"/>
          </a:p>
          <a:p>
            <a:pPr marL="285750" indent="-285750">
              <a:buClr>
                <a:srgbClr val="009CAC"/>
              </a:buClr>
              <a:buFont typeface="Arial" panose="020B0604020202020204" pitchFamily="34" charset="0"/>
              <a:buChar char="►"/>
            </a:pPr>
            <a:r>
              <a:rPr lang="en-US" sz="2000" dirty="0"/>
              <a:t>An </a:t>
            </a:r>
            <a:r>
              <a:rPr lang="en-US" sz="2000" b="1" dirty="0"/>
              <a:t>Entity Relationship </a:t>
            </a:r>
            <a:r>
              <a:rPr lang="en-US" sz="2000" dirty="0"/>
              <a:t>(</a:t>
            </a:r>
            <a:r>
              <a:rPr lang="en-US" sz="2000" b="1" dirty="0"/>
              <a:t>ER</a:t>
            </a:r>
            <a:r>
              <a:rPr lang="en-US" sz="2000" dirty="0"/>
              <a:t>) Diagram is a type of flowchart that illustrates how “entities” such as people, objects or concepts relate to each other within a system.</a:t>
            </a:r>
            <a:br>
              <a:rPr lang="en-US" sz="2000" dirty="0"/>
            </a:br>
            <a:endParaRPr lang="en-US" sz="2000" dirty="0"/>
          </a:p>
          <a:p>
            <a:pPr marL="285750" indent="-285750">
              <a:buClr>
                <a:srgbClr val="009CAC"/>
              </a:buClr>
              <a:buFont typeface="Arial" panose="020B0604020202020204" pitchFamily="34" charset="0"/>
              <a:buChar char="►"/>
            </a:pPr>
            <a:r>
              <a:rPr lang="en-US" sz="2000" dirty="0"/>
              <a:t>ER Diagrams are most often used to design or debug relational databases in the fields of software engineering, business information systems, education and research.</a:t>
            </a:r>
            <a:br>
              <a:rPr lang="en-US" sz="2000" dirty="0"/>
            </a:br>
            <a:endParaRPr lang="en-US" sz="2000" dirty="0"/>
          </a:p>
          <a:p>
            <a:pPr marL="285750" indent="-285750">
              <a:buClr>
                <a:srgbClr val="009CAC"/>
              </a:buClr>
              <a:buFont typeface="Arial" panose="020B0604020202020204" pitchFamily="34" charset="0"/>
              <a:buChar char="►"/>
            </a:pPr>
            <a:r>
              <a:rPr lang="en-US" sz="2000" dirty="0"/>
              <a:t>Depending on the levels of data we are modeling, we have divided data models into 3 categories:</a:t>
            </a:r>
            <a:endParaRPr lang="en-US" sz="2000" b="1" dirty="0"/>
          </a:p>
          <a:p>
            <a:pPr marL="742950" lvl="1" indent="-285750">
              <a:buClr>
                <a:srgbClr val="009CAC"/>
              </a:buClr>
              <a:buSzPct val="80000"/>
              <a:buFont typeface="Wingdings" panose="05000000000000000000" pitchFamily="2" charset="2"/>
              <a:buChar char="§"/>
            </a:pPr>
            <a:r>
              <a:rPr lang="en-US" sz="2000" dirty="0"/>
              <a:t>Conceptual Model </a:t>
            </a:r>
          </a:p>
          <a:p>
            <a:pPr marL="742950" lvl="1" indent="-285750">
              <a:buClr>
                <a:srgbClr val="009CAC"/>
              </a:buClr>
              <a:buSzPct val="80000"/>
              <a:buFont typeface="Wingdings" panose="05000000000000000000" pitchFamily="2" charset="2"/>
              <a:buChar char="§"/>
            </a:pPr>
            <a:r>
              <a:rPr lang="en-US" sz="2000" dirty="0"/>
              <a:t>View Model (logical model)</a:t>
            </a:r>
          </a:p>
          <a:p>
            <a:pPr marL="742950" lvl="1" indent="-285750">
              <a:buClr>
                <a:srgbClr val="009CAC"/>
              </a:buClr>
              <a:buSzPct val="80000"/>
              <a:buFont typeface="Wingdings" panose="05000000000000000000" pitchFamily="2" charset="2"/>
              <a:buChar char="§"/>
            </a:pPr>
            <a:r>
              <a:rPr lang="en-US" sz="2000" dirty="0"/>
              <a:t>Physical model</a:t>
            </a:r>
          </a:p>
          <a:p>
            <a:pPr marL="1143000" lvl="2" indent="-285750">
              <a:buClr>
                <a:srgbClr val="009CAC"/>
              </a:buClr>
              <a:buFont typeface="Arial" panose="020B0604020202020204" pitchFamily="34" charset="0"/>
              <a:buChar char="►"/>
            </a:pPr>
            <a:endParaRPr lang="en-US" sz="2000" b="1" dirty="0"/>
          </a:p>
        </p:txBody>
      </p:sp>
      <p:sp>
        <p:nvSpPr>
          <p:cNvPr id="2" name="Title 1">
            <a:extLst>
              <a:ext uri="{FF2B5EF4-FFF2-40B4-BE49-F238E27FC236}">
                <a16:creationId xmlns:a16="http://schemas.microsoft.com/office/drawing/2014/main" id="{00BD9AA2-9EF2-0FC8-A1AF-D04BFB339314}"/>
              </a:ext>
            </a:extLst>
          </p:cNvPr>
          <p:cNvSpPr>
            <a:spLocks noGrp="1"/>
          </p:cNvSpPr>
          <p:nvPr>
            <p:ph type="title"/>
          </p:nvPr>
        </p:nvSpPr>
        <p:spPr>
          <a:xfrm>
            <a:off x="785308" y="189785"/>
            <a:ext cx="10058400" cy="1450757"/>
          </a:xfrm>
        </p:spPr>
        <p:txBody>
          <a:bodyPr/>
          <a:lstStyle/>
          <a:p>
            <a:r>
              <a:rPr lang="en-US" b="1" dirty="0"/>
              <a:t>ER Model</a:t>
            </a:r>
          </a:p>
        </p:txBody>
      </p:sp>
      <p:sp>
        <p:nvSpPr>
          <p:cNvPr id="8" name="Footer Placeholder 7">
            <a:extLst>
              <a:ext uri="{FF2B5EF4-FFF2-40B4-BE49-F238E27FC236}">
                <a16:creationId xmlns:a16="http://schemas.microsoft.com/office/drawing/2014/main" id="{9765E9E7-0C9A-C1C8-C206-CE5FE274876D}"/>
              </a:ext>
            </a:extLst>
          </p:cNvPr>
          <p:cNvSpPr>
            <a:spLocks noGrp="1"/>
          </p:cNvSpPr>
          <p:nvPr>
            <p:ph type="ftr" sz="quarter" idx="11"/>
          </p:nvPr>
        </p:nvSpPr>
        <p:spPr/>
        <p:txBody>
          <a:bodyPr/>
          <a:lstStyle/>
          <a:p>
            <a:r>
              <a:rPr lang="en-US"/>
              <a:t>Eng. Aisha Al-Sadi | HTU | Al Hussein Technical University</a:t>
            </a:r>
          </a:p>
        </p:txBody>
      </p:sp>
      <p:sp>
        <p:nvSpPr>
          <p:cNvPr id="9" name="Slide Number Placeholder 8">
            <a:extLst>
              <a:ext uri="{FF2B5EF4-FFF2-40B4-BE49-F238E27FC236}">
                <a16:creationId xmlns:a16="http://schemas.microsoft.com/office/drawing/2014/main" id="{5E0B350F-F42D-4A3A-ED51-9E694B0E1314}"/>
              </a:ext>
            </a:extLst>
          </p:cNvPr>
          <p:cNvSpPr>
            <a:spLocks noGrp="1"/>
          </p:cNvSpPr>
          <p:nvPr>
            <p:ph type="sldNum" sz="quarter" idx="12"/>
          </p:nvPr>
        </p:nvSpPr>
        <p:spPr/>
        <p:txBody>
          <a:bodyPr/>
          <a:lstStyle/>
          <a:p>
            <a:fld id="{FD97C469-14A9-4BE4-BDC2-AF98C32D29B7}" type="slidenum">
              <a:rPr lang="en-US" smtClean="0"/>
              <a:t>3</a:t>
            </a:fld>
            <a:endParaRPr lang="en-US"/>
          </a:p>
        </p:txBody>
      </p:sp>
    </p:spTree>
    <p:extLst>
      <p:ext uri="{BB962C8B-B14F-4D97-AF65-F5344CB8AC3E}">
        <p14:creationId xmlns:p14="http://schemas.microsoft.com/office/powerpoint/2010/main" val="1873904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36467" y="1768288"/>
            <a:ext cx="11344371" cy="4524315"/>
          </a:xfrm>
          <a:prstGeom prst="rect">
            <a:avLst/>
          </a:prstGeom>
        </p:spPr>
        <p:txBody>
          <a:bodyPr wrap="square">
            <a:spAutoFit/>
          </a:bodyPr>
          <a:lstStyle/>
          <a:p>
            <a:pPr marL="285750" indent="-285750">
              <a:buClr>
                <a:srgbClr val="009CAC"/>
              </a:buClr>
              <a:buFont typeface="Arial" panose="020B0604020202020204" pitchFamily="34" charset="0"/>
              <a:buChar char="►"/>
            </a:pPr>
            <a:r>
              <a:rPr lang="en-US" b="1" dirty="0">
                <a:solidFill>
                  <a:srgbClr val="006B76"/>
                </a:solidFill>
              </a:rPr>
              <a:t>Conceptual Model - </a:t>
            </a:r>
            <a:r>
              <a:rPr lang="en-US" b="1" dirty="0">
                <a:solidFill>
                  <a:srgbClr val="C00000"/>
                </a:solidFill>
              </a:rPr>
              <a:t>High-level</a:t>
            </a:r>
            <a:r>
              <a:rPr lang="en-US" b="1" dirty="0">
                <a:solidFill>
                  <a:srgbClr val="006B76"/>
                </a:solidFill>
              </a:rPr>
              <a:t>:</a:t>
            </a:r>
          </a:p>
          <a:p>
            <a:pPr marL="742950" lvl="1" indent="-285750">
              <a:buClr>
                <a:srgbClr val="009CAC"/>
              </a:buClr>
              <a:buSzPct val="80000"/>
              <a:buFont typeface="Arial" panose="020B0604020202020204" pitchFamily="34" charset="0"/>
              <a:buChar char="•"/>
            </a:pPr>
            <a:r>
              <a:rPr lang="en-US" dirty="0"/>
              <a:t>It is high level design. What </a:t>
            </a:r>
            <a:r>
              <a:rPr lang="en-US" b="1" dirty="0"/>
              <a:t>entities</a:t>
            </a:r>
            <a:r>
              <a:rPr lang="en-US" dirty="0"/>
              <a:t> should exist and the connections between them. In this phase you recognize the entities in your model and the </a:t>
            </a:r>
            <a:r>
              <a:rPr lang="en-US" b="1" dirty="0"/>
              <a:t>relationships</a:t>
            </a:r>
            <a:r>
              <a:rPr lang="en-US" dirty="0"/>
              <a:t> between them.</a:t>
            </a:r>
            <a:br>
              <a:rPr lang="en-US" dirty="0"/>
            </a:br>
            <a:endParaRPr lang="en-US" dirty="0"/>
          </a:p>
          <a:p>
            <a:pPr marL="285750" indent="-285750">
              <a:buClr>
                <a:srgbClr val="009CAC"/>
              </a:buClr>
              <a:buFont typeface="Arial" panose="020B0604020202020204" pitchFamily="34" charset="0"/>
              <a:buChar char="►"/>
            </a:pPr>
            <a:r>
              <a:rPr lang="en-US" b="1" dirty="0">
                <a:solidFill>
                  <a:srgbClr val="006B76"/>
                </a:solidFill>
              </a:rPr>
              <a:t>Logical Model:</a:t>
            </a:r>
          </a:p>
          <a:p>
            <a:pPr marL="742950" lvl="1" indent="-285750">
              <a:buClr>
                <a:srgbClr val="009CAC"/>
              </a:buClr>
              <a:buFont typeface="Arial" panose="020B0604020202020204" pitchFamily="34" charset="0"/>
              <a:buChar char="►"/>
            </a:pPr>
            <a:r>
              <a:rPr lang="en-US" dirty="0"/>
              <a:t>A logical data model describes the data in as much detail as possible, without regard to how they will be physical implemented in the database. Logical model include:</a:t>
            </a:r>
          </a:p>
          <a:p>
            <a:pPr marL="1200150" lvl="2" indent="-285750">
              <a:buClr>
                <a:srgbClr val="009CAC"/>
              </a:buClr>
              <a:buFont typeface="Arial" panose="020B0604020202020204" pitchFamily="34" charset="0"/>
              <a:buChar char="•"/>
            </a:pPr>
            <a:r>
              <a:rPr lang="en-US" dirty="0"/>
              <a:t>All entities and relationships among them.</a:t>
            </a:r>
          </a:p>
          <a:p>
            <a:pPr marL="1200150" lvl="2" indent="-285750">
              <a:buClr>
                <a:srgbClr val="009CAC"/>
              </a:buClr>
              <a:buFont typeface="Arial" panose="020B0604020202020204" pitchFamily="34" charset="0"/>
              <a:buChar char="•"/>
            </a:pPr>
            <a:r>
              <a:rPr lang="en-US" dirty="0"/>
              <a:t>Resolves M:N relationships.</a:t>
            </a:r>
          </a:p>
          <a:p>
            <a:pPr marL="1200150" lvl="2" indent="-285750">
              <a:buClr>
                <a:srgbClr val="009CAC"/>
              </a:buClr>
              <a:buFont typeface="Arial" panose="020B0604020202020204" pitchFamily="34" charset="0"/>
              <a:buChar char="•"/>
            </a:pPr>
            <a:r>
              <a:rPr lang="en-US" dirty="0"/>
              <a:t>All attributes for each entity are specified.</a:t>
            </a:r>
          </a:p>
          <a:p>
            <a:pPr marL="1200150" lvl="2" indent="-285750">
              <a:buClr>
                <a:srgbClr val="009CAC"/>
              </a:buClr>
              <a:buFont typeface="Arial" panose="020B0604020202020204" pitchFamily="34" charset="0"/>
              <a:buChar char="•"/>
            </a:pPr>
            <a:r>
              <a:rPr lang="en-US" dirty="0"/>
              <a:t>The primary and foreign keys for each entity is specified.</a:t>
            </a:r>
          </a:p>
          <a:p>
            <a:pPr marL="1200150" lvl="2" indent="-285750">
              <a:buClr>
                <a:srgbClr val="009CAC"/>
              </a:buClr>
              <a:buFont typeface="Arial" panose="020B0604020202020204" pitchFamily="34" charset="0"/>
              <a:buChar char="•"/>
            </a:pPr>
            <a:r>
              <a:rPr lang="en-US" dirty="0"/>
              <a:t>Create normalized business rules.</a:t>
            </a:r>
            <a:br>
              <a:rPr lang="en-US" dirty="0"/>
            </a:br>
            <a:endParaRPr lang="en-US" dirty="0"/>
          </a:p>
          <a:p>
            <a:pPr marL="285750" indent="-285750">
              <a:buClr>
                <a:srgbClr val="009CAC"/>
              </a:buClr>
              <a:buFont typeface="Arial" panose="020B0604020202020204" pitchFamily="34" charset="0"/>
              <a:buChar char="►"/>
            </a:pPr>
            <a:r>
              <a:rPr lang="en-US" b="1" dirty="0">
                <a:solidFill>
                  <a:srgbClr val="006B76"/>
                </a:solidFill>
              </a:rPr>
              <a:t>Physical Model - </a:t>
            </a:r>
            <a:r>
              <a:rPr lang="en-US" b="1" dirty="0">
                <a:solidFill>
                  <a:srgbClr val="C00000"/>
                </a:solidFill>
              </a:rPr>
              <a:t>Low-level</a:t>
            </a:r>
            <a:r>
              <a:rPr lang="en-US" b="1" dirty="0">
                <a:solidFill>
                  <a:srgbClr val="006B76"/>
                </a:solidFill>
              </a:rPr>
              <a:t>:</a:t>
            </a:r>
          </a:p>
          <a:p>
            <a:pPr marL="742950" lvl="1" indent="-285750">
              <a:buClr>
                <a:srgbClr val="009CAC"/>
              </a:buClr>
              <a:buSzPct val="80000"/>
              <a:buFont typeface="Arial" panose="020B0604020202020204" pitchFamily="34" charset="0"/>
              <a:buChar char="•"/>
            </a:pPr>
            <a:r>
              <a:rPr lang="en-US" dirty="0"/>
              <a:t>Represents how the model will be built in the database. </a:t>
            </a:r>
          </a:p>
          <a:p>
            <a:pPr marL="742950" lvl="1" indent="-285750">
              <a:buClr>
                <a:srgbClr val="009CAC"/>
              </a:buClr>
              <a:buSzPct val="80000"/>
              <a:buFont typeface="Arial" panose="020B0604020202020204" pitchFamily="34" charset="0"/>
              <a:buChar char="•"/>
            </a:pPr>
            <a:r>
              <a:rPr lang="en-US" dirty="0"/>
              <a:t>Shows all entity structures, attribute data type, attribute constraints, primary key, foreign key, and relationships.</a:t>
            </a:r>
          </a:p>
        </p:txBody>
      </p:sp>
      <p:sp>
        <p:nvSpPr>
          <p:cNvPr id="6" name="Title 5">
            <a:extLst>
              <a:ext uri="{FF2B5EF4-FFF2-40B4-BE49-F238E27FC236}">
                <a16:creationId xmlns:a16="http://schemas.microsoft.com/office/drawing/2014/main" id="{24BD9C3B-82E2-E870-D319-6DF3D90AF9DF}"/>
              </a:ext>
            </a:extLst>
          </p:cNvPr>
          <p:cNvSpPr>
            <a:spLocks noGrp="1"/>
          </p:cNvSpPr>
          <p:nvPr>
            <p:ph type="title"/>
          </p:nvPr>
        </p:nvSpPr>
        <p:spPr>
          <a:xfrm>
            <a:off x="564344" y="488888"/>
            <a:ext cx="10058400" cy="1450757"/>
          </a:xfrm>
        </p:spPr>
        <p:txBody>
          <a:bodyPr/>
          <a:lstStyle/>
          <a:p>
            <a:r>
              <a:rPr lang="en-US" sz="4800" b="1" dirty="0"/>
              <a:t>Data Models in DBMS (schema in DBMS)</a:t>
            </a:r>
            <a:br>
              <a:rPr lang="en-US" sz="4800" b="1" i="0" dirty="0"/>
            </a:br>
            <a:endParaRPr lang="en-US" b="1" dirty="0"/>
          </a:p>
        </p:txBody>
      </p:sp>
      <p:sp>
        <p:nvSpPr>
          <p:cNvPr id="10" name="Footer Placeholder 9">
            <a:extLst>
              <a:ext uri="{FF2B5EF4-FFF2-40B4-BE49-F238E27FC236}">
                <a16:creationId xmlns:a16="http://schemas.microsoft.com/office/drawing/2014/main" id="{79B69378-4CE8-8EE8-3232-F453764FBD4F}"/>
              </a:ext>
            </a:extLst>
          </p:cNvPr>
          <p:cNvSpPr>
            <a:spLocks noGrp="1"/>
          </p:cNvSpPr>
          <p:nvPr>
            <p:ph type="ftr" sz="quarter" idx="11"/>
          </p:nvPr>
        </p:nvSpPr>
        <p:spPr/>
        <p:txBody>
          <a:bodyPr/>
          <a:lstStyle/>
          <a:p>
            <a:r>
              <a:rPr lang="en-US"/>
              <a:t>Eng. Aisha Al-Sadi | HTU | Al Hussein Technical University</a:t>
            </a:r>
          </a:p>
        </p:txBody>
      </p:sp>
      <p:sp>
        <p:nvSpPr>
          <p:cNvPr id="11" name="Slide Number Placeholder 10">
            <a:extLst>
              <a:ext uri="{FF2B5EF4-FFF2-40B4-BE49-F238E27FC236}">
                <a16:creationId xmlns:a16="http://schemas.microsoft.com/office/drawing/2014/main" id="{85BD29A2-92A4-E3C5-6CEE-2D8C97DE1D4F}"/>
              </a:ext>
            </a:extLst>
          </p:cNvPr>
          <p:cNvSpPr>
            <a:spLocks noGrp="1"/>
          </p:cNvSpPr>
          <p:nvPr>
            <p:ph type="sldNum" sz="quarter" idx="12"/>
          </p:nvPr>
        </p:nvSpPr>
        <p:spPr/>
        <p:txBody>
          <a:bodyPr/>
          <a:lstStyle/>
          <a:p>
            <a:fld id="{FD97C469-14A9-4BE4-BDC2-AF98C32D29B7}" type="slidenum">
              <a:rPr lang="en-US" smtClean="0"/>
              <a:t>4</a:t>
            </a:fld>
            <a:endParaRPr lang="en-US"/>
          </a:p>
        </p:txBody>
      </p:sp>
    </p:spTree>
    <p:extLst>
      <p:ext uri="{BB962C8B-B14F-4D97-AF65-F5344CB8AC3E}">
        <p14:creationId xmlns:p14="http://schemas.microsoft.com/office/powerpoint/2010/main" val="1874849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81087" y="1877968"/>
            <a:ext cx="11234671" cy="584775"/>
          </a:xfrm>
          <a:prstGeom prst="rect">
            <a:avLst/>
          </a:prstGeom>
        </p:spPr>
        <p:txBody>
          <a:bodyPr wrap="square">
            <a:spAutoFit/>
          </a:bodyPr>
          <a:lstStyle/>
          <a:p>
            <a:pPr>
              <a:spcBef>
                <a:spcPts val="1000"/>
              </a:spcBef>
              <a:buClr>
                <a:srgbClr val="5FCBEF"/>
              </a:buClr>
              <a:buSzPct val="80000"/>
            </a:pPr>
            <a:r>
              <a:rPr lang="en-US" sz="1600" b="1" dirty="0"/>
              <a:t>The three levels of data modeling (</a:t>
            </a:r>
            <a:r>
              <a:rPr lang="en-US" sz="1600" b="1" dirty="0">
                <a:solidFill>
                  <a:srgbClr val="009CAC"/>
                </a:solidFill>
              </a:rPr>
              <a:t>conceptual, logical,  physical</a:t>
            </a:r>
            <a:r>
              <a:rPr lang="en-US" sz="1600" b="1" dirty="0"/>
              <a:t>) were discussed in prior slide. The table below compares the different features:</a:t>
            </a:r>
          </a:p>
        </p:txBody>
      </p:sp>
      <p:sp>
        <p:nvSpPr>
          <p:cNvPr id="2" name="Title 1">
            <a:extLst>
              <a:ext uri="{FF2B5EF4-FFF2-40B4-BE49-F238E27FC236}">
                <a16:creationId xmlns:a16="http://schemas.microsoft.com/office/drawing/2014/main" id="{EBE7A682-455C-B929-5AFD-E097002E4970}"/>
              </a:ext>
            </a:extLst>
          </p:cNvPr>
          <p:cNvSpPr>
            <a:spLocks noGrp="1"/>
          </p:cNvSpPr>
          <p:nvPr>
            <p:ph type="title"/>
          </p:nvPr>
        </p:nvSpPr>
        <p:spPr>
          <a:xfrm>
            <a:off x="808616" y="598575"/>
            <a:ext cx="10058400" cy="1450757"/>
          </a:xfrm>
        </p:spPr>
        <p:txBody>
          <a:bodyPr/>
          <a:lstStyle/>
          <a:p>
            <a:pPr lvl="0" rtl="0"/>
            <a:r>
              <a:rPr lang="en-US" sz="4800" b="1" dirty="0"/>
              <a:t>Data Models in DBMS (schema in DBMS)</a:t>
            </a:r>
            <a:br>
              <a:rPr lang="en-US" sz="4800" b="1" dirty="0"/>
            </a:br>
            <a:endParaRPr lang="en-US" sz="4800" b="1" i="0" dirty="0"/>
          </a:p>
        </p:txBody>
      </p:sp>
      <p:graphicFrame>
        <p:nvGraphicFramePr>
          <p:cNvPr id="5" name="Content Placeholder 8"/>
          <p:cNvGraphicFramePr>
            <a:graphicFrameLocks noGrp="1"/>
          </p:cNvGraphicFramePr>
          <p:nvPr>
            <p:ph idx="1"/>
            <p:extLst>
              <p:ext uri="{D42A27DB-BD31-4B8C-83A1-F6EECF244321}">
                <p14:modId xmlns:p14="http://schemas.microsoft.com/office/powerpoint/2010/main" val="3048024536"/>
              </p:ext>
            </p:extLst>
          </p:nvPr>
        </p:nvGraphicFramePr>
        <p:xfrm>
          <a:off x="1324983" y="2603351"/>
          <a:ext cx="9542033" cy="3435927"/>
        </p:xfrm>
        <a:graphic>
          <a:graphicData uri="http://schemas.openxmlformats.org/drawingml/2006/table">
            <a:tbl>
              <a:tblPr firstRow="1" bandRow="1">
                <a:tableStyleId>{5C22544A-7EE6-4342-B048-85BDC9FD1C3A}</a:tableStyleId>
              </a:tblPr>
              <a:tblGrid>
                <a:gridCol w="2812212">
                  <a:extLst>
                    <a:ext uri="{9D8B030D-6E8A-4147-A177-3AD203B41FA5}">
                      <a16:colId xmlns:a16="http://schemas.microsoft.com/office/drawing/2014/main" val="20000"/>
                    </a:ext>
                  </a:extLst>
                </a:gridCol>
                <a:gridCol w="1958805">
                  <a:extLst>
                    <a:ext uri="{9D8B030D-6E8A-4147-A177-3AD203B41FA5}">
                      <a16:colId xmlns:a16="http://schemas.microsoft.com/office/drawing/2014/main" val="20001"/>
                    </a:ext>
                  </a:extLst>
                </a:gridCol>
                <a:gridCol w="2385508">
                  <a:extLst>
                    <a:ext uri="{9D8B030D-6E8A-4147-A177-3AD203B41FA5}">
                      <a16:colId xmlns:a16="http://schemas.microsoft.com/office/drawing/2014/main" val="20002"/>
                    </a:ext>
                  </a:extLst>
                </a:gridCol>
                <a:gridCol w="2385508">
                  <a:extLst>
                    <a:ext uri="{9D8B030D-6E8A-4147-A177-3AD203B41FA5}">
                      <a16:colId xmlns:a16="http://schemas.microsoft.com/office/drawing/2014/main" val="20003"/>
                    </a:ext>
                  </a:extLst>
                </a:gridCol>
              </a:tblGrid>
              <a:tr h="425535">
                <a:tc>
                  <a:txBody>
                    <a:bodyPr/>
                    <a:lstStyle/>
                    <a:p>
                      <a:r>
                        <a:rPr lang="en-US" dirty="0">
                          <a:solidFill>
                            <a:schemeClr val="bg1"/>
                          </a:solidFill>
                        </a:rPr>
                        <a:t>Feature</a:t>
                      </a:r>
                    </a:p>
                  </a:txBody>
                  <a:tcPr>
                    <a:solidFill>
                      <a:srgbClr val="009CAC"/>
                    </a:solidFill>
                  </a:tcPr>
                </a:tc>
                <a:tc>
                  <a:txBody>
                    <a:bodyPr/>
                    <a:lstStyle/>
                    <a:p>
                      <a:r>
                        <a:rPr lang="en-US" dirty="0">
                          <a:solidFill>
                            <a:schemeClr val="bg1"/>
                          </a:solidFill>
                        </a:rPr>
                        <a:t>Conceptual</a:t>
                      </a:r>
                    </a:p>
                  </a:txBody>
                  <a:tcPr>
                    <a:solidFill>
                      <a:srgbClr val="009CAC"/>
                    </a:solidFill>
                  </a:tcPr>
                </a:tc>
                <a:tc>
                  <a:txBody>
                    <a:bodyPr/>
                    <a:lstStyle/>
                    <a:p>
                      <a:r>
                        <a:rPr lang="en-US">
                          <a:solidFill>
                            <a:schemeClr val="bg1"/>
                          </a:solidFill>
                        </a:rPr>
                        <a:t> </a:t>
                      </a:r>
                      <a:r>
                        <a:rPr lang="en-US" sz="1800" b="0" i="0" kern="1200">
                          <a:solidFill>
                            <a:schemeClr val="bg1"/>
                          </a:solidFill>
                          <a:effectLst/>
                          <a:latin typeface="+mn-lt"/>
                          <a:ea typeface="+mn-ea"/>
                          <a:cs typeface="+mn-cs"/>
                        </a:rPr>
                        <a:t>Logical</a:t>
                      </a:r>
                      <a:endParaRPr lang="en-US">
                        <a:solidFill>
                          <a:schemeClr val="bg1"/>
                        </a:solidFill>
                      </a:endParaRPr>
                    </a:p>
                  </a:txBody>
                  <a:tcPr>
                    <a:solidFill>
                      <a:srgbClr val="009CAC"/>
                    </a:solidFill>
                  </a:tcPr>
                </a:tc>
                <a:tc>
                  <a:txBody>
                    <a:bodyPr/>
                    <a:lstStyle/>
                    <a:p>
                      <a:r>
                        <a:rPr lang="en-US" sz="1800" b="0" i="0" kern="1200">
                          <a:solidFill>
                            <a:schemeClr val="bg1"/>
                          </a:solidFill>
                          <a:effectLst/>
                          <a:latin typeface="+mn-lt"/>
                          <a:ea typeface="+mn-ea"/>
                          <a:cs typeface="+mn-cs"/>
                        </a:rPr>
                        <a:t>Physical</a:t>
                      </a:r>
                      <a:endParaRPr lang="en-US">
                        <a:solidFill>
                          <a:schemeClr val="bg1"/>
                        </a:solidFill>
                      </a:endParaRPr>
                    </a:p>
                  </a:txBody>
                  <a:tcPr>
                    <a:solidFill>
                      <a:srgbClr val="009CAC"/>
                    </a:solidFill>
                  </a:tcPr>
                </a:tc>
                <a:extLst>
                  <a:ext uri="{0D108BD9-81ED-4DB2-BD59-A6C34878D82A}">
                    <a16:rowId xmlns:a16="http://schemas.microsoft.com/office/drawing/2014/main" val="10000"/>
                  </a:ext>
                </a:extLst>
              </a:tr>
              <a:tr h="430056">
                <a:tc>
                  <a:txBody>
                    <a:bodyPr/>
                    <a:lstStyle/>
                    <a:p>
                      <a:r>
                        <a:rPr lang="en-US" sz="1800" b="0" i="0" kern="1200" dirty="0">
                          <a:solidFill>
                            <a:schemeClr val="dk1"/>
                          </a:solidFill>
                          <a:effectLst/>
                          <a:latin typeface="+mn-lt"/>
                          <a:ea typeface="+mn-ea"/>
                          <a:cs typeface="+mn-cs"/>
                        </a:rPr>
                        <a:t>Entity Names</a:t>
                      </a:r>
                      <a:endParaRPr lang="en-US" dirty="0"/>
                    </a:p>
                  </a:txBody>
                  <a:tcPr>
                    <a:solidFill>
                      <a:srgbClr val="E5F5F7"/>
                    </a:solidFill>
                  </a:tcPr>
                </a:tc>
                <a:tc>
                  <a:txBody>
                    <a:bodyPr/>
                    <a:lstStyle/>
                    <a:p>
                      <a:r>
                        <a:rPr lang="en-US" sz="1800" b="0" i="0" kern="1200">
                          <a:solidFill>
                            <a:schemeClr val="dk1"/>
                          </a:solidFill>
                          <a:effectLst/>
                          <a:latin typeface="+mn-lt"/>
                          <a:ea typeface="+mn-ea"/>
                          <a:cs typeface="+mn-cs"/>
                        </a:rPr>
                        <a:t>✓</a:t>
                      </a:r>
                      <a:endParaRPr lang="en-US"/>
                    </a:p>
                  </a:txBody>
                  <a:tcPr>
                    <a:solidFill>
                      <a:srgbClr val="E5F5F7"/>
                    </a:solidFill>
                  </a:tcPr>
                </a:tc>
                <a:tc>
                  <a:txBody>
                    <a:bodyPr/>
                    <a:lstStyle/>
                    <a:p>
                      <a:r>
                        <a:rPr lang="en-US" sz="1800" b="0" i="0" kern="1200" dirty="0">
                          <a:solidFill>
                            <a:schemeClr val="dk1"/>
                          </a:solidFill>
                          <a:effectLst/>
                          <a:latin typeface="+mn-lt"/>
                          <a:ea typeface="+mn-ea"/>
                          <a:cs typeface="+mn-cs"/>
                        </a:rPr>
                        <a:t>✓</a:t>
                      </a:r>
                      <a:endParaRPr lang="en-US" dirty="0"/>
                    </a:p>
                  </a:txBody>
                  <a:tcPr>
                    <a:solidFill>
                      <a:srgbClr val="E5F5F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a:t>
                      </a:r>
                      <a:endParaRPr lang="en-US" dirty="0"/>
                    </a:p>
                  </a:txBody>
                  <a:tcPr>
                    <a:solidFill>
                      <a:srgbClr val="E5F5F7"/>
                    </a:solidFill>
                  </a:tcPr>
                </a:tc>
                <a:extLst>
                  <a:ext uri="{0D108BD9-81ED-4DB2-BD59-A6C34878D82A}">
                    <a16:rowId xmlns:a16="http://schemas.microsoft.com/office/drawing/2014/main" val="10001"/>
                  </a:ext>
                </a:extLst>
              </a:tr>
              <a:tr h="430056">
                <a:tc>
                  <a:txBody>
                    <a:bodyPr/>
                    <a:lstStyle/>
                    <a:p>
                      <a:r>
                        <a:rPr lang="en-US" sz="1800" b="0" i="0" kern="1200" dirty="0">
                          <a:solidFill>
                            <a:schemeClr val="dk1"/>
                          </a:solidFill>
                          <a:effectLst/>
                          <a:latin typeface="+mn-lt"/>
                          <a:ea typeface="+mn-ea"/>
                          <a:cs typeface="+mn-cs"/>
                        </a:rPr>
                        <a:t>Entity Relationships</a:t>
                      </a:r>
                      <a:endParaRPr lang="en-US" dirty="0"/>
                    </a:p>
                  </a:txBody>
                  <a:tcPr>
                    <a:solidFill>
                      <a:srgbClr val="F3FAFB"/>
                    </a:solidFill>
                  </a:tcPr>
                </a:tc>
                <a:tc>
                  <a:txBody>
                    <a:bodyPr/>
                    <a:lstStyle/>
                    <a:p>
                      <a:r>
                        <a:rPr lang="en-US" sz="1800" b="0" i="0" kern="1200">
                          <a:solidFill>
                            <a:schemeClr val="dk1"/>
                          </a:solidFill>
                          <a:effectLst/>
                          <a:latin typeface="+mn-lt"/>
                          <a:ea typeface="+mn-ea"/>
                          <a:cs typeface="+mn-cs"/>
                        </a:rPr>
                        <a:t>✓</a:t>
                      </a:r>
                      <a:endParaRPr lang="en-US"/>
                    </a:p>
                  </a:txBody>
                  <a:tcPr>
                    <a:solidFill>
                      <a:srgbClr val="F3FAFB"/>
                    </a:solidFill>
                  </a:tcPr>
                </a:tc>
                <a:tc>
                  <a:txBody>
                    <a:bodyPr/>
                    <a:lstStyle/>
                    <a:p>
                      <a:r>
                        <a:rPr lang="en-US" sz="1800" b="0" i="0" kern="1200" dirty="0">
                          <a:solidFill>
                            <a:schemeClr val="dk1"/>
                          </a:solidFill>
                          <a:effectLst/>
                          <a:latin typeface="+mn-lt"/>
                          <a:ea typeface="+mn-ea"/>
                          <a:cs typeface="+mn-cs"/>
                        </a:rPr>
                        <a:t>✓</a:t>
                      </a:r>
                      <a:endParaRPr lang="en-US" dirty="0"/>
                    </a:p>
                  </a:txBody>
                  <a:tcPr>
                    <a:solidFill>
                      <a:srgbClr val="F3FAF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a:t>
                      </a:r>
                      <a:endParaRPr lang="en-US" dirty="0"/>
                    </a:p>
                  </a:txBody>
                  <a:tcPr>
                    <a:solidFill>
                      <a:srgbClr val="F3FAFB"/>
                    </a:solidFill>
                  </a:tcPr>
                </a:tc>
                <a:extLst>
                  <a:ext uri="{0D108BD9-81ED-4DB2-BD59-A6C34878D82A}">
                    <a16:rowId xmlns:a16="http://schemas.microsoft.com/office/drawing/2014/main" val="10002"/>
                  </a:ext>
                </a:extLst>
              </a:tr>
              <a:tr h="430056">
                <a:tc>
                  <a:txBody>
                    <a:bodyPr/>
                    <a:lstStyle/>
                    <a:p>
                      <a:r>
                        <a:rPr lang="en-US" sz="1800" b="0" i="0" kern="1200" dirty="0">
                          <a:solidFill>
                            <a:schemeClr val="dk1"/>
                          </a:solidFill>
                          <a:effectLst/>
                          <a:latin typeface="+mn-lt"/>
                          <a:ea typeface="+mn-ea"/>
                          <a:cs typeface="+mn-cs"/>
                        </a:rPr>
                        <a:t>Attributes</a:t>
                      </a:r>
                      <a:endParaRPr lang="en-US" dirty="0"/>
                    </a:p>
                  </a:txBody>
                  <a:tcPr>
                    <a:solidFill>
                      <a:srgbClr val="E5F5F7"/>
                    </a:solidFill>
                  </a:tcPr>
                </a:tc>
                <a:tc>
                  <a:txBody>
                    <a:bodyPr/>
                    <a:lstStyle/>
                    <a:p>
                      <a:endParaRPr lang="en-US"/>
                    </a:p>
                  </a:txBody>
                  <a:tcPr>
                    <a:solidFill>
                      <a:srgbClr val="E5F5F7"/>
                    </a:solidFill>
                  </a:tcPr>
                </a:tc>
                <a:tc>
                  <a:txBody>
                    <a:bodyPr/>
                    <a:lstStyle/>
                    <a:p>
                      <a:r>
                        <a:rPr lang="en-US" sz="1800" b="0" i="0" kern="1200" dirty="0">
                          <a:solidFill>
                            <a:schemeClr val="dk1"/>
                          </a:solidFill>
                          <a:effectLst/>
                          <a:latin typeface="+mn-lt"/>
                          <a:ea typeface="+mn-ea"/>
                          <a:cs typeface="+mn-cs"/>
                        </a:rPr>
                        <a:t>✓</a:t>
                      </a:r>
                      <a:endParaRPr lang="en-US" dirty="0"/>
                    </a:p>
                  </a:txBody>
                  <a:tcPr>
                    <a:solidFill>
                      <a:srgbClr val="E5F5F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a:t>
                      </a:r>
                      <a:endParaRPr lang="en-US" dirty="0"/>
                    </a:p>
                  </a:txBody>
                  <a:tcPr>
                    <a:solidFill>
                      <a:srgbClr val="E5F5F7"/>
                    </a:solidFill>
                  </a:tcPr>
                </a:tc>
                <a:extLst>
                  <a:ext uri="{0D108BD9-81ED-4DB2-BD59-A6C34878D82A}">
                    <a16:rowId xmlns:a16="http://schemas.microsoft.com/office/drawing/2014/main" val="10003"/>
                  </a:ext>
                </a:extLst>
              </a:tr>
              <a:tr h="430056">
                <a:tc>
                  <a:txBody>
                    <a:bodyPr/>
                    <a:lstStyle/>
                    <a:p>
                      <a:r>
                        <a:rPr lang="en-US" sz="1800" b="0" i="0" kern="1200" dirty="0">
                          <a:solidFill>
                            <a:schemeClr val="dk1"/>
                          </a:solidFill>
                          <a:effectLst/>
                          <a:latin typeface="+mn-lt"/>
                          <a:ea typeface="+mn-ea"/>
                          <a:cs typeface="+mn-cs"/>
                        </a:rPr>
                        <a:t>Primary Keys</a:t>
                      </a:r>
                      <a:endParaRPr lang="en-US" dirty="0"/>
                    </a:p>
                  </a:txBody>
                  <a:tcPr>
                    <a:solidFill>
                      <a:srgbClr val="F3FAFB"/>
                    </a:solidFill>
                  </a:tcPr>
                </a:tc>
                <a:tc>
                  <a:txBody>
                    <a:bodyPr/>
                    <a:lstStyle/>
                    <a:p>
                      <a:endParaRPr lang="en-US" dirty="0"/>
                    </a:p>
                  </a:txBody>
                  <a:tcPr>
                    <a:solidFill>
                      <a:srgbClr val="F3FAFB"/>
                    </a:solidFill>
                  </a:tcPr>
                </a:tc>
                <a:tc>
                  <a:txBody>
                    <a:bodyPr/>
                    <a:lstStyle/>
                    <a:p>
                      <a:r>
                        <a:rPr lang="en-US" sz="1800" b="0" i="0" kern="1200" dirty="0">
                          <a:solidFill>
                            <a:schemeClr val="dk1"/>
                          </a:solidFill>
                          <a:effectLst/>
                          <a:latin typeface="+mn-lt"/>
                          <a:ea typeface="+mn-ea"/>
                          <a:cs typeface="+mn-cs"/>
                        </a:rPr>
                        <a:t>✓</a:t>
                      </a:r>
                      <a:endParaRPr lang="en-US" dirty="0"/>
                    </a:p>
                  </a:txBody>
                  <a:tcPr>
                    <a:solidFill>
                      <a:srgbClr val="F3FAFB"/>
                    </a:solidFill>
                  </a:tcPr>
                </a:tc>
                <a:tc>
                  <a:txBody>
                    <a:bodyPr/>
                    <a:lstStyle/>
                    <a:p>
                      <a:r>
                        <a:rPr lang="en-US" sz="1800" b="0" i="0" kern="1200" dirty="0">
                          <a:solidFill>
                            <a:schemeClr val="dk1"/>
                          </a:solidFill>
                          <a:effectLst/>
                          <a:latin typeface="+mn-lt"/>
                          <a:ea typeface="+mn-ea"/>
                          <a:cs typeface="+mn-cs"/>
                        </a:rPr>
                        <a:t>✓</a:t>
                      </a:r>
                      <a:endParaRPr lang="en-US" dirty="0"/>
                    </a:p>
                  </a:txBody>
                  <a:tcPr>
                    <a:solidFill>
                      <a:srgbClr val="F3FAFB"/>
                    </a:solidFill>
                  </a:tcPr>
                </a:tc>
                <a:extLst>
                  <a:ext uri="{0D108BD9-81ED-4DB2-BD59-A6C34878D82A}">
                    <a16:rowId xmlns:a16="http://schemas.microsoft.com/office/drawing/2014/main" val="10004"/>
                  </a:ext>
                </a:extLst>
              </a:tr>
              <a:tr h="430056">
                <a:tc>
                  <a:txBody>
                    <a:bodyPr/>
                    <a:lstStyle/>
                    <a:p>
                      <a:r>
                        <a:rPr lang="en-US" sz="1800" b="0" i="0" kern="1200" dirty="0">
                          <a:solidFill>
                            <a:schemeClr val="dk1"/>
                          </a:solidFill>
                          <a:effectLst/>
                          <a:latin typeface="+mn-lt"/>
                          <a:ea typeface="+mn-ea"/>
                          <a:cs typeface="+mn-cs"/>
                        </a:rPr>
                        <a:t>Foreign Keys</a:t>
                      </a:r>
                      <a:endParaRPr lang="en-US" dirty="0"/>
                    </a:p>
                  </a:txBody>
                  <a:tcPr>
                    <a:solidFill>
                      <a:srgbClr val="E5F5F7"/>
                    </a:solidFill>
                  </a:tcPr>
                </a:tc>
                <a:tc>
                  <a:txBody>
                    <a:bodyPr/>
                    <a:lstStyle/>
                    <a:p>
                      <a:endParaRPr lang="en-US" dirty="0"/>
                    </a:p>
                  </a:txBody>
                  <a:tcPr>
                    <a:solidFill>
                      <a:srgbClr val="E5F5F7"/>
                    </a:solidFill>
                  </a:tcPr>
                </a:tc>
                <a:tc>
                  <a:txBody>
                    <a:bodyPr/>
                    <a:lstStyle/>
                    <a:p>
                      <a:r>
                        <a:rPr lang="en-US" sz="1800" b="0" i="0" kern="1200" dirty="0">
                          <a:solidFill>
                            <a:schemeClr val="dk1"/>
                          </a:solidFill>
                          <a:effectLst/>
                          <a:latin typeface="+mn-lt"/>
                          <a:ea typeface="+mn-ea"/>
                          <a:cs typeface="+mn-cs"/>
                        </a:rPr>
                        <a:t>✓</a:t>
                      </a:r>
                      <a:endParaRPr lang="en-US" dirty="0">
                        <a:solidFill>
                          <a:schemeClr val="tx1"/>
                        </a:solidFill>
                      </a:endParaRPr>
                    </a:p>
                  </a:txBody>
                  <a:tcPr>
                    <a:solidFill>
                      <a:srgbClr val="E5F5F7"/>
                    </a:solidFill>
                  </a:tcPr>
                </a:tc>
                <a:tc>
                  <a:txBody>
                    <a:bodyPr/>
                    <a:lstStyle/>
                    <a:p>
                      <a:r>
                        <a:rPr lang="en-US" sz="1800" b="0" i="0" kern="1200">
                          <a:solidFill>
                            <a:schemeClr val="dk1"/>
                          </a:solidFill>
                          <a:effectLst/>
                          <a:latin typeface="+mn-lt"/>
                          <a:ea typeface="+mn-ea"/>
                          <a:cs typeface="+mn-cs"/>
                        </a:rPr>
                        <a:t>✓</a:t>
                      </a:r>
                      <a:endParaRPr lang="en-US"/>
                    </a:p>
                  </a:txBody>
                  <a:tcPr>
                    <a:solidFill>
                      <a:srgbClr val="E5F5F7"/>
                    </a:solidFill>
                  </a:tcPr>
                </a:tc>
                <a:extLst>
                  <a:ext uri="{0D108BD9-81ED-4DB2-BD59-A6C34878D82A}">
                    <a16:rowId xmlns:a16="http://schemas.microsoft.com/office/drawing/2014/main" val="10005"/>
                  </a:ext>
                </a:extLst>
              </a:tr>
              <a:tr h="430056">
                <a:tc>
                  <a:txBody>
                    <a:bodyPr/>
                    <a:lstStyle/>
                    <a:p>
                      <a:r>
                        <a:rPr lang="en-US" dirty="0"/>
                        <a:t>Attribute constraints</a:t>
                      </a:r>
                    </a:p>
                  </a:txBody>
                  <a:tcPr anchor="ctr">
                    <a:solidFill>
                      <a:srgbClr val="E5F5F7"/>
                    </a:solidFill>
                  </a:tcPr>
                </a:tc>
                <a:tc>
                  <a:txBody>
                    <a:bodyPr/>
                    <a:lstStyle/>
                    <a:p>
                      <a:endParaRPr lang="en-US"/>
                    </a:p>
                  </a:txBody>
                  <a:tcPr>
                    <a:solidFill>
                      <a:srgbClr val="E5F5F7"/>
                    </a:solidFill>
                  </a:tcPr>
                </a:tc>
                <a:tc>
                  <a:txBody>
                    <a:bodyPr/>
                    <a:lstStyle/>
                    <a:p>
                      <a:endParaRPr lang="en-US"/>
                    </a:p>
                  </a:txBody>
                  <a:tcPr>
                    <a:solidFill>
                      <a:srgbClr val="E5F5F7"/>
                    </a:solidFill>
                  </a:tcPr>
                </a:tc>
                <a:tc>
                  <a:txBody>
                    <a:bodyPr/>
                    <a:lstStyle/>
                    <a:p>
                      <a:r>
                        <a:rPr lang="en-US" sz="1800" b="0" i="0" kern="1200" dirty="0">
                          <a:solidFill>
                            <a:schemeClr val="dk1"/>
                          </a:solidFill>
                          <a:effectLst/>
                          <a:latin typeface="+mn-lt"/>
                          <a:ea typeface="+mn-ea"/>
                          <a:cs typeface="+mn-cs"/>
                        </a:rPr>
                        <a:t>✓</a:t>
                      </a:r>
                      <a:endParaRPr lang="en-US" dirty="0"/>
                    </a:p>
                  </a:txBody>
                  <a:tcPr>
                    <a:solidFill>
                      <a:srgbClr val="E5F5F7"/>
                    </a:solidFill>
                  </a:tcPr>
                </a:tc>
                <a:extLst>
                  <a:ext uri="{0D108BD9-81ED-4DB2-BD59-A6C34878D82A}">
                    <a16:rowId xmlns:a16="http://schemas.microsoft.com/office/drawing/2014/main" val="10007"/>
                  </a:ext>
                </a:extLst>
              </a:tr>
              <a:tr h="430056">
                <a:tc>
                  <a:txBody>
                    <a:bodyPr/>
                    <a:lstStyle/>
                    <a:p>
                      <a:r>
                        <a:rPr lang="en-US" sz="1800" b="0" i="0" kern="1200" dirty="0">
                          <a:solidFill>
                            <a:schemeClr val="dk1"/>
                          </a:solidFill>
                          <a:effectLst/>
                          <a:latin typeface="+mn-lt"/>
                          <a:ea typeface="+mn-ea"/>
                          <a:cs typeface="+mn-cs"/>
                        </a:rPr>
                        <a:t>Attribute Data Types</a:t>
                      </a:r>
                      <a:endParaRPr lang="en-US" dirty="0"/>
                    </a:p>
                  </a:txBody>
                  <a:tcPr>
                    <a:solidFill>
                      <a:srgbClr val="F3FAFB"/>
                    </a:solidFill>
                  </a:tcPr>
                </a:tc>
                <a:tc>
                  <a:txBody>
                    <a:bodyPr/>
                    <a:lstStyle/>
                    <a:p>
                      <a:endParaRPr lang="en-US"/>
                    </a:p>
                  </a:txBody>
                  <a:tcPr>
                    <a:solidFill>
                      <a:srgbClr val="F3FAFB"/>
                    </a:solidFill>
                  </a:tcPr>
                </a:tc>
                <a:tc>
                  <a:txBody>
                    <a:bodyPr/>
                    <a:lstStyle/>
                    <a:p>
                      <a:endParaRPr lang="en-US"/>
                    </a:p>
                  </a:txBody>
                  <a:tcPr>
                    <a:solidFill>
                      <a:srgbClr val="F3FAFB"/>
                    </a:solidFill>
                  </a:tcPr>
                </a:tc>
                <a:tc>
                  <a:txBody>
                    <a:bodyPr/>
                    <a:lstStyle/>
                    <a:p>
                      <a:r>
                        <a:rPr lang="en-US" sz="1800" b="0" i="0" kern="1200" dirty="0">
                          <a:solidFill>
                            <a:schemeClr val="dk1"/>
                          </a:solidFill>
                          <a:effectLst/>
                          <a:latin typeface="+mn-lt"/>
                          <a:ea typeface="+mn-ea"/>
                          <a:cs typeface="+mn-cs"/>
                        </a:rPr>
                        <a:t>✓</a:t>
                      </a:r>
                      <a:endParaRPr lang="en-US" dirty="0"/>
                    </a:p>
                  </a:txBody>
                  <a:tcPr>
                    <a:solidFill>
                      <a:srgbClr val="F3FAFB"/>
                    </a:solidFill>
                  </a:tcPr>
                </a:tc>
                <a:extLst>
                  <a:ext uri="{0D108BD9-81ED-4DB2-BD59-A6C34878D82A}">
                    <a16:rowId xmlns:a16="http://schemas.microsoft.com/office/drawing/2014/main" val="10008"/>
                  </a:ext>
                </a:extLst>
              </a:tr>
            </a:tbl>
          </a:graphicData>
        </a:graphic>
      </p:graphicFrame>
      <p:sp>
        <p:nvSpPr>
          <p:cNvPr id="8" name="Footer Placeholder 7">
            <a:extLst>
              <a:ext uri="{FF2B5EF4-FFF2-40B4-BE49-F238E27FC236}">
                <a16:creationId xmlns:a16="http://schemas.microsoft.com/office/drawing/2014/main" id="{C30FCE84-6F5C-BBE9-B9AB-9189380A3291}"/>
              </a:ext>
            </a:extLst>
          </p:cNvPr>
          <p:cNvSpPr>
            <a:spLocks noGrp="1"/>
          </p:cNvSpPr>
          <p:nvPr>
            <p:ph type="ftr" sz="quarter" idx="11"/>
          </p:nvPr>
        </p:nvSpPr>
        <p:spPr/>
        <p:txBody>
          <a:bodyPr/>
          <a:lstStyle/>
          <a:p>
            <a:r>
              <a:rPr lang="en-US"/>
              <a:t>Eng. Aisha Al-Sadi | HTU | Al Hussein Technical University</a:t>
            </a:r>
          </a:p>
        </p:txBody>
      </p:sp>
      <p:sp>
        <p:nvSpPr>
          <p:cNvPr id="9" name="Slide Number Placeholder 8">
            <a:extLst>
              <a:ext uri="{FF2B5EF4-FFF2-40B4-BE49-F238E27FC236}">
                <a16:creationId xmlns:a16="http://schemas.microsoft.com/office/drawing/2014/main" id="{3756507A-561B-ED35-569A-6678B4D26E4A}"/>
              </a:ext>
            </a:extLst>
          </p:cNvPr>
          <p:cNvSpPr>
            <a:spLocks noGrp="1"/>
          </p:cNvSpPr>
          <p:nvPr>
            <p:ph type="sldNum" sz="quarter" idx="12"/>
          </p:nvPr>
        </p:nvSpPr>
        <p:spPr/>
        <p:txBody>
          <a:bodyPr/>
          <a:lstStyle/>
          <a:p>
            <a:fld id="{FD97C469-14A9-4BE4-BDC2-AF98C32D29B7}" type="slidenum">
              <a:rPr lang="en-US" smtClean="0"/>
              <a:t>5</a:t>
            </a:fld>
            <a:endParaRPr lang="en-US"/>
          </a:p>
        </p:txBody>
      </p:sp>
    </p:spTree>
    <p:extLst>
      <p:ext uri="{BB962C8B-B14F-4D97-AF65-F5344CB8AC3E}">
        <p14:creationId xmlns:p14="http://schemas.microsoft.com/office/powerpoint/2010/main" val="4163101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C9DB77F1-C4C8-0833-E5EF-72D6A73AE0C3}"/>
              </a:ext>
            </a:extLst>
          </p:cNvPr>
          <p:cNvSpPr>
            <a:spLocks noGrp="1"/>
          </p:cNvSpPr>
          <p:nvPr>
            <p:ph type="ftr" sz="quarter" idx="11"/>
          </p:nvPr>
        </p:nvSpPr>
        <p:spPr/>
        <p:txBody>
          <a:bodyPr/>
          <a:lstStyle/>
          <a:p>
            <a:r>
              <a:rPr lang="en-US"/>
              <a:t>Eng. Aisha Al-Sadi | HTU | Al Hussein Technical University</a:t>
            </a:r>
          </a:p>
        </p:txBody>
      </p:sp>
      <p:sp>
        <p:nvSpPr>
          <p:cNvPr id="8" name="Slide Number Placeholder 7">
            <a:extLst>
              <a:ext uri="{FF2B5EF4-FFF2-40B4-BE49-F238E27FC236}">
                <a16:creationId xmlns:a16="http://schemas.microsoft.com/office/drawing/2014/main" id="{D9025F28-DFCA-1752-14C7-0257594519F4}"/>
              </a:ext>
            </a:extLst>
          </p:cNvPr>
          <p:cNvSpPr>
            <a:spLocks noGrp="1"/>
          </p:cNvSpPr>
          <p:nvPr>
            <p:ph type="sldNum" sz="quarter" idx="12"/>
          </p:nvPr>
        </p:nvSpPr>
        <p:spPr/>
        <p:txBody>
          <a:bodyPr/>
          <a:lstStyle/>
          <a:p>
            <a:fld id="{FD97C469-14A9-4BE4-BDC2-AF98C32D29B7}" type="slidenum">
              <a:rPr lang="en-US" smtClean="0"/>
              <a:t>6</a:t>
            </a:fld>
            <a:endParaRPr lang="en-US"/>
          </a:p>
        </p:txBody>
      </p:sp>
      <p:sp>
        <p:nvSpPr>
          <p:cNvPr id="2" name="Title 1">
            <a:extLst>
              <a:ext uri="{FF2B5EF4-FFF2-40B4-BE49-F238E27FC236}">
                <a16:creationId xmlns:a16="http://schemas.microsoft.com/office/drawing/2014/main" id="{9FBE3C5B-3355-6EA7-006B-B3995486AFD9}"/>
              </a:ext>
            </a:extLst>
          </p:cNvPr>
          <p:cNvSpPr>
            <a:spLocks noGrp="1"/>
          </p:cNvSpPr>
          <p:nvPr>
            <p:ph type="title" idx="4294967295"/>
          </p:nvPr>
        </p:nvSpPr>
        <p:spPr>
          <a:xfrm>
            <a:off x="8789988" y="639763"/>
            <a:ext cx="3402012" cy="3684587"/>
          </a:xfrm>
        </p:spPr>
        <p:txBody>
          <a:bodyPr vert="horz" lIns="91440" tIns="45720" rIns="91440" bIns="45720" rtlCol="0" anchor="b">
            <a:normAutofit/>
          </a:bodyPr>
          <a:lstStyle/>
          <a:p>
            <a:r>
              <a:rPr lang="en-US" altLang="en-US" sz="5100" b="1" dirty="0">
                <a:solidFill>
                  <a:schemeClr val="tx1">
                    <a:lumMod val="85000"/>
                    <a:lumOff val="15000"/>
                  </a:schemeClr>
                </a:solidFill>
              </a:rPr>
              <a:t>Overview of Database Design Process</a:t>
            </a:r>
            <a:endParaRPr lang="en-US" sz="5100" b="1" dirty="0">
              <a:solidFill>
                <a:schemeClr val="tx1">
                  <a:lumMod val="85000"/>
                  <a:lumOff val="15000"/>
                </a:schemeClr>
              </a:solidFill>
            </a:endParaRPr>
          </a:p>
        </p:txBody>
      </p:sp>
      <p:pic>
        <p:nvPicPr>
          <p:cNvPr id="4" name="Picture 3">
            <a:extLst>
              <a:ext uri="{FF2B5EF4-FFF2-40B4-BE49-F238E27FC236}">
                <a16:creationId xmlns:a16="http://schemas.microsoft.com/office/drawing/2014/main" id="{975B2A32-6BA1-4D75-968C-8A2983A601B6}"/>
              </a:ext>
            </a:extLst>
          </p:cNvPr>
          <p:cNvPicPr>
            <a:picLocks noChangeAspect="1"/>
          </p:cNvPicPr>
          <p:nvPr/>
        </p:nvPicPr>
        <p:blipFill>
          <a:blip r:embed="rId2"/>
          <a:stretch>
            <a:fillRect/>
          </a:stretch>
        </p:blipFill>
        <p:spPr>
          <a:xfrm>
            <a:off x="1316598" y="110977"/>
            <a:ext cx="5507915" cy="6069329"/>
          </a:xfrm>
          <a:prstGeom prst="rect">
            <a:avLst/>
          </a:prstGeom>
        </p:spPr>
      </p:pic>
    </p:spTree>
    <p:extLst>
      <p:ext uri="{BB962C8B-B14F-4D97-AF65-F5344CB8AC3E}">
        <p14:creationId xmlns:p14="http://schemas.microsoft.com/office/powerpoint/2010/main" val="3677748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24A79-0365-B6FD-B906-4F1FE01591A2}"/>
              </a:ext>
            </a:extLst>
          </p:cNvPr>
          <p:cNvSpPr>
            <a:spLocks noGrp="1"/>
          </p:cNvSpPr>
          <p:nvPr>
            <p:ph type="title"/>
          </p:nvPr>
        </p:nvSpPr>
        <p:spPr/>
        <p:txBody>
          <a:bodyPr/>
          <a:lstStyle/>
          <a:p>
            <a:r>
              <a:rPr lang="en-US" altLang="en-US" sz="4800" b="1" dirty="0">
                <a:solidFill>
                  <a:schemeClr val="tx1">
                    <a:lumMod val="85000"/>
                    <a:lumOff val="15000"/>
                  </a:schemeClr>
                </a:solidFill>
              </a:rPr>
              <a:t>Database Design Process</a:t>
            </a:r>
            <a:endParaRPr lang="en-US" dirty="0"/>
          </a:p>
        </p:txBody>
      </p:sp>
      <p:sp>
        <p:nvSpPr>
          <p:cNvPr id="3" name="Content Placeholder 2">
            <a:extLst>
              <a:ext uri="{FF2B5EF4-FFF2-40B4-BE49-F238E27FC236}">
                <a16:creationId xmlns:a16="http://schemas.microsoft.com/office/drawing/2014/main" id="{D7744BF7-F44F-8EBD-73C6-1D1025D06477}"/>
              </a:ext>
            </a:extLst>
          </p:cNvPr>
          <p:cNvSpPr>
            <a:spLocks noGrp="1"/>
          </p:cNvSpPr>
          <p:nvPr>
            <p:ph idx="1"/>
          </p:nvPr>
        </p:nvSpPr>
        <p:spPr/>
        <p:txBody>
          <a:bodyPr/>
          <a:lstStyle/>
          <a:p>
            <a:r>
              <a:rPr lang="en-US" altLang="en-US" dirty="0"/>
              <a:t>Main phases of database design: </a:t>
            </a:r>
            <a:endParaRPr lang="en-US" altLang="en-US" sz="1800" b="1" dirty="0"/>
          </a:p>
          <a:p>
            <a:pPr marL="457200" indent="-457200">
              <a:buFont typeface="+mj-lt"/>
              <a:buAutoNum type="arabicPeriod"/>
            </a:pPr>
            <a:r>
              <a:rPr lang="en-US" altLang="en-US" sz="2400" b="1" dirty="0"/>
              <a:t>Requirements collection and analysis:</a:t>
            </a:r>
            <a:br>
              <a:rPr lang="en-US" altLang="en-US" sz="2400" b="1" dirty="0"/>
            </a:br>
            <a:endParaRPr lang="en-US" altLang="en-US" sz="2400" b="1" dirty="0"/>
          </a:p>
          <a:p>
            <a:pPr lvl="2">
              <a:buFont typeface="Wingdings" panose="05000000000000000000" pitchFamily="2" charset="2"/>
              <a:buChar char="§"/>
            </a:pPr>
            <a:r>
              <a:rPr lang="en-US" altLang="en-US" sz="2000" dirty="0"/>
              <a:t>Database designers interview prospective database users to understand and document data requirements</a:t>
            </a:r>
            <a:br>
              <a:rPr lang="en-US" altLang="en-US" sz="2000" dirty="0"/>
            </a:br>
            <a:endParaRPr lang="en-US" altLang="en-US" sz="2000" dirty="0"/>
          </a:p>
          <a:p>
            <a:pPr lvl="2">
              <a:buFont typeface="Wingdings" panose="05000000000000000000" pitchFamily="2" charset="2"/>
              <a:buChar char="§"/>
            </a:pPr>
            <a:r>
              <a:rPr lang="en-US" altLang="en-US" sz="2000" b="1" u="sng" dirty="0">
                <a:solidFill>
                  <a:schemeClr val="accent2"/>
                </a:solidFill>
              </a:rPr>
              <a:t>Result</a:t>
            </a:r>
            <a:r>
              <a:rPr lang="en-US" altLang="en-US" sz="2000" dirty="0"/>
              <a:t>: </a:t>
            </a:r>
          </a:p>
          <a:p>
            <a:pPr lvl="3">
              <a:buFont typeface="Wingdings" panose="05000000000000000000" pitchFamily="2" charset="2"/>
              <a:buChar char="§"/>
            </a:pPr>
            <a:r>
              <a:rPr lang="en-US" altLang="en-US" sz="1800" b="1" dirty="0"/>
              <a:t>Data requirements.</a:t>
            </a:r>
            <a:endParaRPr lang="en-US" altLang="en-US" sz="1800" dirty="0"/>
          </a:p>
          <a:p>
            <a:pPr lvl="3">
              <a:buFont typeface="Wingdings" panose="05000000000000000000" pitchFamily="2" charset="2"/>
              <a:buChar char="§"/>
            </a:pPr>
            <a:r>
              <a:rPr lang="en-US" altLang="en-US" sz="1800" b="1" dirty="0"/>
              <a:t>Functional requirements </a:t>
            </a:r>
            <a:r>
              <a:rPr lang="en-US" altLang="en-US" sz="1800" dirty="0"/>
              <a:t>of the application consist of the user defined operations (or transactions) that will be applied to the database, including both retrievals and updates.</a:t>
            </a:r>
          </a:p>
          <a:p>
            <a:endParaRPr lang="en-US" dirty="0"/>
          </a:p>
        </p:txBody>
      </p:sp>
      <p:sp>
        <p:nvSpPr>
          <p:cNvPr id="6" name="Footer Placeholder 5">
            <a:extLst>
              <a:ext uri="{FF2B5EF4-FFF2-40B4-BE49-F238E27FC236}">
                <a16:creationId xmlns:a16="http://schemas.microsoft.com/office/drawing/2014/main" id="{B7A804E1-1696-9D01-0535-5BC137A2FCFF}"/>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BE77E070-104E-15B9-F70C-65CBAA658789}"/>
              </a:ext>
            </a:extLst>
          </p:cNvPr>
          <p:cNvSpPr>
            <a:spLocks noGrp="1"/>
          </p:cNvSpPr>
          <p:nvPr>
            <p:ph type="sldNum" sz="quarter" idx="12"/>
          </p:nvPr>
        </p:nvSpPr>
        <p:spPr/>
        <p:txBody>
          <a:bodyPr/>
          <a:lstStyle/>
          <a:p>
            <a:fld id="{FD97C469-14A9-4BE4-BDC2-AF98C32D29B7}" type="slidenum">
              <a:rPr lang="en-US" smtClean="0"/>
              <a:t>7</a:t>
            </a:fld>
            <a:endParaRPr lang="en-US"/>
          </a:p>
        </p:txBody>
      </p:sp>
    </p:spTree>
    <p:extLst>
      <p:ext uri="{BB962C8B-B14F-4D97-AF65-F5344CB8AC3E}">
        <p14:creationId xmlns:p14="http://schemas.microsoft.com/office/powerpoint/2010/main" val="2936197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F6A32-0DB1-B94C-6EE9-8245FD32655A}"/>
              </a:ext>
            </a:extLst>
          </p:cNvPr>
          <p:cNvSpPr>
            <a:spLocks noGrp="1"/>
          </p:cNvSpPr>
          <p:nvPr>
            <p:ph type="title"/>
          </p:nvPr>
        </p:nvSpPr>
        <p:spPr/>
        <p:txBody>
          <a:bodyPr/>
          <a:lstStyle/>
          <a:p>
            <a:r>
              <a:rPr lang="en-US" altLang="en-US" sz="4800" b="1" dirty="0">
                <a:solidFill>
                  <a:schemeClr val="tx1">
                    <a:lumMod val="85000"/>
                    <a:lumOff val="15000"/>
                  </a:schemeClr>
                </a:solidFill>
              </a:rPr>
              <a:t>Database Design Process</a:t>
            </a:r>
            <a:endParaRPr lang="en-US" dirty="0"/>
          </a:p>
        </p:txBody>
      </p:sp>
      <p:sp>
        <p:nvSpPr>
          <p:cNvPr id="3" name="Content Placeholder 2">
            <a:extLst>
              <a:ext uri="{FF2B5EF4-FFF2-40B4-BE49-F238E27FC236}">
                <a16:creationId xmlns:a16="http://schemas.microsoft.com/office/drawing/2014/main" id="{D4E37EC6-71E4-EAAE-82A3-0013AA27D7C5}"/>
              </a:ext>
            </a:extLst>
          </p:cNvPr>
          <p:cNvSpPr>
            <a:spLocks noGrp="1"/>
          </p:cNvSpPr>
          <p:nvPr>
            <p:ph idx="1"/>
          </p:nvPr>
        </p:nvSpPr>
        <p:spPr>
          <a:xfrm>
            <a:off x="1097279" y="1845733"/>
            <a:ext cx="10564009" cy="4490521"/>
          </a:xfrm>
        </p:spPr>
        <p:txBody>
          <a:bodyPr>
            <a:normAutofit lnSpcReduction="10000"/>
          </a:bodyPr>
          <a:lstStyle/>
          <a:p>
            <a:pPr marL="857250" lvl="1" indent="-457200">
              <a:buFont typeface="+mj-lt"/>
              <a:buAutoNum type="arabicPeriod" startAt="2"/>
            </a:pPr>
            <a:r>
              <a:rPr lang="en-US" altLang="en-US" sz="2400" b="1" dirty="0"/>
              <a:t>Creating a Conceptual schema </a:t>
            </a:r>
            <a:r>
              <a:rPr lang="en-US" altLang="en-US" sz="2400" dirty="0"/>
              <a:t>for the database, using a high-level conceptual data model. </a:t>
            </a:r>
            <a:endParaRPr lang="en-US" altLang="en-US" sz="2400" b="1" dirty="0"/>
          </a:p>
          <a:p>
            <a:pPr lvl="3">
              <a:buFont typeface="Wingdings" panose="05000000000000000000" pitchFamily="2" charset="2"/>
              <a:buChar char="§"/>
            </a:pPr>
            <a:r>
              <a:rPr lang="en-US" altLang="en-US" sz="2000" dirty="0"/>
              <a:t>This step is called: </a:t>
            </a:r>
            <a:r>
              <a:rPr lang="en-US" altLang="en-US" sz="2000" b="1" dirty="0">
                <a:solidFill>
                  <a:srgbClr val="C00000"/>
                </a:solidFill>
              </a:rPr>
              <a:t>Conceptual design</a:t>
            </a:r>
            <a:br>
              <a:rPr lang="en-US" altLang="en-US" sz="2000" b="1" dirty="0">
                <a:solidFill>
                  <a:srgbClr val="C00000"/>
                </a:solidFill>
              </a:rPr>
            </a:br>
            <a:endParaRPr lang="en-US" altLang="en-US" sz="2000" b="1" dirty="0">
              <a:solidFill>
                <a:srgbClr val="C00000"/>
              </a:solidFill>
            </a:endParaRPr>
          </a:p>
          <a:p>
            <a:pPr lvl="3">
              <a:buFont typeface="Wingdings" panose="05000000000000000000" pitchFamily="2" charset="2"/>
              <a:buChar char="§"/>
            </a:pPr>
            <a:r>
              <a:rPr lang="en-US" altLang="en-US" sz="2000" dirty="0"/>
              <a:t>Description of data requirements:</a:t>
            </a:r>
          </a:p>
          <a:p>
            <a:pPr lvl="5">
              <a:buFont typeface="Wingdings" panose="05000000000000000000" pitchFamily="2" charset="2"/>
              <a:buChar char="§"/>
            </a:pPr>
            <a:r>
              <a:rPr lang="en-US" altLang="en-US" sz="1800" dirty="0"/>
              <a:t>Includes detailed descriptions of the entity types, relationships, and constraints</a:t>
            </a:r>
          </a:p>
          <a:p>
            <a:pPr lvl="5">
              <a:buFont typeface="Wingdings" panose="05000000000000000000" pitchFamily="2" charset="2"/>
              <a:buChar char="§"/>
            </a:pPr>
            <a:r>
              <a:rPr lang="en-US" altLang="en-US" sz="1800" dirty="0">
                <a:solidFill>
                  <a:schemeClr val="tx1"/>
                </a:solidFill>
              </a:rPr>
              <a:t>Because these concepts do not include implementation details, they are usually easier to understand and can be used to communicate with nontechnical users. </a:t>
            </a:r>
            <a:br>
              <a:rPr lang="en-US" altLang="en-US" sz="1800" dirty="0">
                <a:solidFill>
                  <a:schemeClr val="tx1"/>
                </a:solidFill>
              </a:rPr>
            </a:br>
            <a:endParaRPr lang="en-US" altLang="en-US" sz="1800" dirty="0">
              <a:solidFill>
                <a:schemeClr val="tx1"/>
              </a:solidFill>
            </a:endParaRPr>
          </a:p>
          <a:p>
            <a:pPr lvl="3">
              <a:buFont typeface="Wingdings" panose="05000000000000000000" pitchFamily="2" charset="2"/>
              <a:buChar char="§"/>
            </a:pPr>
            <a:r>
              <a:rPr lang="en-US" altLang="en-US" sz="2000" dirty="0"/>
              <a:t>The high-level conceptual schema can also be used as a reference to ensure that all users’ data requirements are met and that the requirements do not conflict. </a:t>
            </a:r>
            <a:br>
              <a:rPr lang="en-US" altLang="en-US" sz="2000" dirty="0"/>
            </a:br>
            <a:endParaRPr lang="en-US" altLang="en-US" sz="2000" dirty="0"/>
          </a:p>
          <a:p>
            <a:pPr lvl="3"/>
            <a:r>
              <a:rPr lang="en-US" altLang="en-US" sz="1800" dirty="0"/>
              <a:t>This approach enables database designers to concentrate on specifying the properties of the data, without being concerned with storage and implementation details. </a:t>
            </a:r>
            <a:br>
              <a:rPr lang="en-US" altLang="en-US" sz="1800" dirty="0"/>
            </a:br>
            <a:endParaRPr lang="en-US" altLang="en-US" sz="1800" dirty="0"/>
          </a:p>
          <a:p>
            <a:pPr lvl="3"/>
            <a:r>
              <a:rPr lang="en-US" altLang="en-US" sz="1800" dirty="0"/>
              <a:t>This makes it is easier to create a </a:t>
            </a:r>
            <a:r>
              <a:rPr lang="en-US" altLang="en-US" sz="1800" b="1" dirty="0"/>
              <a:t>good conceptual database design.</a:t>
            </a:r>
            <a:endParaRPr lang="en-US" dirty="0"/>
          </a:p>
        </p:txBody>
      </p:sp>
      <p:sp>
        <p:nvSpPr>
          <p:cNvPr id="6" name="Footer Placeholder 5">
            <a:extLst>
              <a:ext uri="{FF2B5EF4-FFF2-40B4-BE49-F238E27FC236}">
                <a16:creationId xmlns:a16="http://schemas.microsoft.com/office/drawing/2014/main" id="{94E0F669-C8A4-35A1-9009-16FE38801192}"/>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4DB14CF2-EAEA-D14C-25C4-5A432E30FFFA}"/>
              </a:ext>
            </a:extLst>
          </p:cNvPr>
          <p:cNvSpPr>
            <a:spLocks noGrp="1"/>
          </p:cNvSpPr>
          <p:nvPr>
            <p:ph type="sldNum" sz="quarter" idx="12"/>
          </p:nvPr>
        </p:nvSpPr>
        <p:spPr/>
        <p:txBody>
          <a:bodyPr/>
          <a:lstStyle/>
          <a:p>
            <a:fld id="{FD97C469-14A9-4BE4-BDC2-AF98C32D29B7}" type="slidenum">
              <a:rPr lang="en-US" smtClean="0"/>
              <a:t>8</a:t>
            </a:fld>
            <a:endParaRPr lang="en-US"/>
          </a:p>
        </p:txBody>
      </p:sp>
    </p:spTree>
    <p:extLst>
      <p:ext uri="{BB962C8B-B14F-4D97-AF65-F5344CB8AC3E}">
        <p14:creationId xmlns:p14="http://schemas.microsoft.com/office/powerpoint/2010/main" val="4074278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591EF-AA8F-ABBE-BA2C-45E9185B6B70}"/>
              </a:ext>
            </a:extLst>
          </p:cNvPr>
          <p:cNvSpPr>
            <a:spLocks noGrp="1"/>
          </p:cNvSpPr>
          <p:nvPr>
            <p:ph type="title"/>
          </p:nvPr>
        </p:nvSpPr>
        <p:spPr/>
        <p:txBody>
          <a:bodyPr/>
          <a:lstStyle/>
          <a:p>
            <a:r>
              <a:rPr lang="en-US" altLang="en-US" sz="4800" b="1" dirty="0">
                <a:solidFill>
                  <a:schemeClr val="tx1">
                    <a:lumMod val="85000"/>
                    <a:lumOff val="15000"/>
                  </a:schemeClr>
                </a:solidFill>
              </a:rPr>
              <a:t>Database Design Process</a:t>
            </a:r>
            <a:endParaRPr lang="en-US" dirty="0"/>
          </a:p>
        </p:txBody>
      </p:sp>
      <p:sp>
        <p:nvSpPr>
          <p:cNvPr id="3" name="Content Placeholder 2">
            <a:extLst>
              <a:ext uri="{FF2B5EF4-FFF2-40B4-BE49-F238E27FC236}">
                <a16:creationId xmlns:a16="http://schemas.microsoft.com/office/drawing/2014/main" id="{17F38391-18C4-D244-ACA5-0A57CCD50F89}"/>
              </a:ext>
            </a:extLst>
          </p:cNvPr>
          <p:cNvSpPr>
            <a:spLocks noGrp="1"/>
          </p:cNvSpPr>
          <p:nvPr>
            <p:ph idx="1"/>
          </p:nvPr>
        </p:nvSpPr>
        <p:spPr/>
        <p:txBody>
          <a:bodyPr/>
          <a:lstStyle/>
          <a:p>
            <a:pPr marL="857250" lvl="1" indent="-457200">
              <a:buFont typeface="+mj-lt"/>
              <a:buAutoNum type="arabicPeriod" startAt="3"/>
              <a:defRPr/>
            </a:pPr>
            <a:r>
              <a:rPr lang="en-US" altLang="en-US" sz="2400" b="1" dirty="0"/>
              <a:t>Logical design </a:t>
            </a:r>
            <a:r>
              <a:rPr lang="en-US" altLang="en-US" sz="2400" dirty="0"/>
              <a:t>or </a:t>
            </a:r>
            <a:r>
              <a:rPr lang="en-US" altLang="en-US" sz="2400" b="1" dirty="0"/>
              <a:t>data model mapping:</a:t>
            </a:r>
          </a:p>
          <a:p>
            <a:pPr marL="582930" lvl="2" indent="0">
              <a:buNone/>
              <a:defRPr/>
            </a:pPr>
            <a:endParaRPr lang="en-US" altLang="en-US" sz="2000" b="1" dirty="0"/>
          </a:p>
          <a:p>
            <a:pPr lvl="3">
              <a:buFont typeface="Wingdings" panose="05000000000000000000" pitchFamily="2" charset="2"/>
              <a:buChar char="§"/>
              <a:defRPr/>
            </a:pPr>
            <a:r>
              <a:rPr lang="en-US" altLang="en-US" sz="2000" dirty="0"/>
              <a:t>The next step in database design is the actual implementation of the database, using a commercial DBMS. Most current commercial DBMSs use an implementation data model—such as </a:t>
            </a:r>
            <a:r>
              <a:rPr lang="en-US" altLang="en-US" sz="2000" b="1" dirty="0">
                <a:solidFill>
                  <a:srgbClr val="FF0000"/>
                </a:solidFill>
              </a:rPr>
              <a:t>the relational </a:t>
            </a:r>
            <a:r>
              <a:rPr lang="en-US" altLang="en-US" sz="2000" dirty="0"/>
              <a:t>or the object-relational database model.</a:t>
            </a:r>
            <a:br>
              <a:rPr lang="en-US" altLang="en-US" sz="2000" dirty="0"/>
            </a:br>
            <a:endParaRPr lang="en-US" sz="2000" dirty="0"/>
          </a:p>
          <a:p>
            <a:pPr lvl="3">
              <a:buFont typeface="Wingdings" panose="05000000000000000000" pitchFamily="2" charset="2"/>
              <a:buChar char="§"/>
              <a:defRPr/>
            </a:pPr>
            <a:r>
              <a:rPr lang="en-US" sz="2000" dirty="0"/>
              <a:t>In this step the conceptual schema is transformed from the high-level data model into the implementation data model. </a:t>
            </a:r>
            <a:br>
              <a:rPr lang="en-US" sz="2000" dirty="0"/>
            </a:br>
            <a:endParaRPr lang="en-US" altLang="en-US" sz="2000" dirty="0"/>
          </a:p>
          <a:p>
            <a:pPr lvl="3">
              <a:buFont typeface="Wingdings" panose="05000000000000000000" pitchFamily="2" charset="2"/>
              <a:buChar char="§"/>
              <a:defRPr/>
            </a:pPr>
            <a:r>
              <a:rPr lang="en-US" altLang="en-US" sz="2000" b="1" u="sng" dirty="0">
                <a:solidFill>
                  <a:schemeClr val="accent2"/>
                </a:solidFill>
              </a:rPr>
              <a:t>Result</a:t>
            </a:r>
            <a:r>
              <a:rPr lang="en-US" altLang="en-US" sz="2000" b="1" u="sng" dirty="0">
                <a:solidFill>
                  <a:srgbClr val="00B050"/>
                </a:solidFill>
              </a:rPr>
              <a:t> </a:t>
            </a:r>
            <a:r>
              <a:rPr lang="en-US" altLang="en-US" sz="2000" dirty="0"/>
              <a:t>is: a </a:t>
            </a:r>
            <a:r>
              <a:rPr lang="en-US" altLang="en-US" sz="2000" b="1" dirty="0"/>
              <a:t>database schema </a:t>
            </a:r>
            <a:r>
              <a:rPr lang="en-US" altLang="en-US" sz="2000" dirty="0"/>
              <a:t>in implementation data model of DBMS</a:t>
            </a:r>
          </a:p>
          <a:p>
            <a:endParaRPr lang="en-US" dirty="0"/>
          </a:p>
        </p:txBody>
      </p:sp>
      <p:sp>
        <p:nvSpPr>
          <p:cNvPr id="6" name="Footer Placeholder 5">
            <a:extLst>
              <a:ext uri="{FF2B5EF4-FFF2-40B4-BE49-F238E27FC236}">
                <a16:creationId xmlns:a16="http://schemas.microsoft.com/office/drawing/2014/main" id="{C1ADF6D2-36D8-A01C-66E8-9179355C3F3C}"/>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0540101E-C127-235D-C1DE-BD782E54FC59}"/>
              </a:ext>
            </a:extLst>
          </p:cNvPr>
          <p:cNvSpPr>
            <a:spLocks noGrp="1"/>
          </p:cNvSpPr>
          <p:nvPr>
            <p:ph type="sldNum" sz="quarter" idx="12"/>
          </p:nvPr>
        </p:nvSpPr>
        <p:spPr/>
        <p:txBody>
          <a:bodyPr/>
          <a:lstStyle/>
          <a:p>
            <a:fld id="{FD97C469-14A9-4BE4-BDC2-AF98C32D29B7}" type="slidenum">
              <a:rPr lang="en-US" smtClean="0"/>
              <a:t>9</a:t>
            </a:fld>
            <a:endParaRPr lang="en-US"/>
          </a:p>
        </p:txBody>
      </p:sp>
    </p:spTree>
    <p:extLst>
      <p:ext uri="{BB962C8B-B14F-4D97-AF65-F5344CB8AC3E}">
        <p14:creationId xmlns:p14="http://schemas.microsoft.com/office/powerpoint/2010/main" val="1000318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A396A-F094-CAA3-B0BC-C2CDC5AB629D}"/>
              </a:ext>
            </a:extLst>
          </p:cNvPr>
          <p:cNvSpPr>
            <a:spLocks noGrp="1"/>
          </p:cNvSpPr>
          <p:nvPr>
            <p:ph type="title"/>
          </p:nvPr>
        </p:nvSpPr>
        <p:spPr/>
        <p:txBody>
          <a:bodyPr/>
          <a:lstStyle/>
          <a:p>
            <a:r>
              <a:rPr lang="en-US" altLang="en-US" sz="4800" b="1" dirty="0">
                <a:solidFill>
                  <a:schemeClr val="tx1">
                    <a:lumMod val="85000"/>
                    <a:lumOff val="15000"/>
                  </a:schemeClr>
                </a:solidFill>
              </a:rPr>
              <a:t>Database Design Process</a:t>
            </a:r>
            <a:endParaRPr lang="en-US" dirty="0"/>
          </a:p>
        </p:txBody>
      </p:sp>
      <p:sp>
        <p:nvSpPr>
          <p:cNvPr id="3" name="Content Placeholder 2">
            <a:extLst>
              <a:ext uri="{FF2B5EF4-FFF2-40B4-BE49-F238E27FC236}">
                <a16:creationId xmlns:a16="http://schemas.microsoft.com/office/drawing/2014/main" id="{C69CB291-F556-6AD1-C945-2256F4631315}"/>
              </a:ext>
            </a:extLst>
          </p:cNvPr>
          <p:cNvSpPr>
            <a:spLocks noGrp="1"/>
          </p:cNvSpPr>
          <p:nvPr>
            <p:ph idx="1"/>
          </p:nvPr>
        </p:nvSpPr>
        <p:spPr/>
        <p:txBody>
          <a:bodyPr>
            <a:normAutofit/>
          </a:bodyPr>
          <a:lstStyle/>
          <a:p>
            <a:pPr marL="742950" lvl="1" indent="-342900">
              <a:buFont typeface="+mj-lt"/>
              <a:buAutoNum type="arabicPeriod" startAt="4"/>
            </a:pPr>
            <a:r>
              <a:rPr lang="en-US" altLang="en-US" sz="2800" b="1" dirty="0"/>
              <a:t>Physical design phase</a:t>
            </a:r>
          </a:p>
          <a:p>
            <a:pPr marL="914400" lvl="1" indent="-514350">
              <a:buFont typeface="Arial" panose="020B0604020202020204" pitchFamily="34" charset="0"/>
              <a:buAutoNum type="arabicPeriod" startAt="3"/>
            </a:pPr>
            <a:endParaRPr lang="en-US" altLang="en-US" sz="2800" b="1" dirty="0"/>
          </a:p>
          <a:p>
            <a:pPr lvl="3">
              <a:buFont typeface="Wingdings" panose="05000000000000000000" pitchFamily="2" charset="2"/>
              <a:buChar char="§"/>
            </a:pPr>
            <a:r>
              <a:rPr lang="en-US" altLang="en-US" sz="2000" dirty="0"/>
              <a:t>Internal storage structures, file organizations, indexes, access paths, and physical design parameters for the database files specified</a:t>
            </a:r>
          </a:p>
          <a:p>
            <a:pPr lvl="3">
              <a:buFont typeface="Wingdings" panose="05000000000000000000" pitchFamily="2" charset="2"/>
              <a:buChar char="§"/>
            </a:pPr>
            <a:endParaRPr lang="en-US" altLang="en-US" sz="2000" dirty="0"/>
          </a:p>
          <a:p>
            <a:pPr lvl="3">
              <a:buFont typeface="Wingdings" panose="05000000000000000000" pitchFamily="2" charset="2"/>
              <a:buChar char="§"/>
            </a:pPr>
            <a:r>
              <a:rPr lang="en-US" altLang="en-US" sz="2000" dirty="0"/>
              <a:t>In parallel with these activities, application programs are designed and implemented as database transactions corresponding to the high-level transaction specifications. </a:t>
            </a:r>
          </a:p>
          <a:p>
            <a:endParaRPr lang="en-US" sz="3200" dirty="0"/>
          </a:p>
        </p:txBody>
      </p:sp>
      <p:sp>
        <p:nvSpPr>
          <p:cNvPr id="6" name="Footer Placeholder 5">
            <a:extLst>
              <a:ext uri="{FF2B5EF4-FFF2-40B4-BE49-F238E27FC236}">
                <a16:creationId xmlns:a16="http://schemas.microsoft.com/office/drawing/2014/main" id="{8C59E3C3-4FA2-9116-ECF8-F5E0439CF309}"/>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A32E6932-F723-08C4-7FB9-FA656C1EFCE3}"/>
              </a:ext>
            </a:extLst>
          </p:cNvPr>
          <p:cNvSpPr>
            <a:spLocks noGrp="1"/>
          </p:cNvSpPr>
          <p:nvPr>
            <p:ph type="sldNum" sz="quarter" idx="12"/>
          </p:nvPr>
        </p:nvSpPr>
        <p:spPr/>
        <p:txBody>
          <a:bodyPr/>
          <a:lstStyle/>
          <a:p>
            <a:fld id="{FD97C469-14A9-4BE4-BDC2-AF98C32D29B7}" type="slidenum">
              <a:rPr lang="en-US" smtClean="0"/>
              <a:t>10</a:t>
            </a:fld>
            <a:endParaRPr lang="en-US"/>
          </a:p>
        </p:txBody>
      </p:sp>
    </p:spTree>
    <p:extLst>
      <p:ext uri="{BB962C8B-B14F-4D97-AF65-F5344CB8AC3E}">
        <p14:creationId xmlns:p14="http://schemas.microsoft.com/office/powerpoint/2010/main" val="2755867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ECB85-A55F-0068-0D71-57DAA4F33B5F}"/>
              </a:ext>
            </a:extLst>
          </p:cNvPr>
          <p:cNvSpPr>
            <a:spLocks noGrp="1"/>
          </p:cNvSpPr>
          <p:nvPr>
            <p:ph type="title"/>
          </p:nvPr>
        </p:nvSpPr>
        <p:spPr/>
        <p:txBody>
          <a:bodyPr/>
          <a:lstStyle/>
          <a:p>
            <a:r>
              <a:rPr lang="en-US" altLang="en-US" b="1" dirty="0">
                <a:solidFill>
                  <a:schemeClr val="tx1"/>
                </a:solidFill>
              </a:rPr>
              <a:t>Build the Conceptual Schema</a:t>
            </a:r>
            <a:endParaRPr lang="en-US" dirty="0">
              <a:solidFill>
                <a:schemeClr val="tx1"/>
              </a:solidFill>
            </a:endParaRPr>
          </a:p>
        </p:txBody>
      </p:sp>
      <p:sp>
        <p:nvSpPr>
          <p:cNvPr id="3" name="Content Placeholder 2">
            <a:extLst>
              <a:ext uri="{FF2B5EF4-FFF2-40B4-BE49-F238E27FC236}">
                <a16:creationId xmlns:a16="http://schemas.microsoft.com/office/drawing/2014/main" id="{9A97BBC3-C4F5-E543-51C9-DBC5D58A1F64}"/>
              </a:ext>
            </a:extLst>
          </p:cNvPr>
          <p:cNvSpPr>
            <a:spLocks noGrp="1"/>
          </p:cNvSpPr>
          <p:nvPr>
            <p:ph idx="1"/>
          </p:nvPr>
        </p:nvSpPr>
        <p:spPr/>
        <p:txBody>
          <a:bodyPr/>
          <a:lstStyle/>
          <a:p>
            <a:r>
              <a:rPr lang="en-US" altLang="en-US" sz="2000" dirty="0">
                <a:solidFill>
                  <a:schemeClr val="tx1"/>
                </a:solidFill>
              </a:rPr>
              <a:t>To build the conceptual schema for </a:t>
            </a:r>
            <a:r>
              <a:rPr lang="en-US" altLang="en-US" dirty="0">
                <a:solidFill>
                  <a:schemeClr val="tx1"/>
                </a:solidFill>
              </a:rPr>
              <a:t>any </a:t>
            </a:r>
            <a:r>
              <a:rPr lang="en-US" altLang="en-US" sz="2000" dirty="0">
                <a:solidFill>
                  <a:schemeClr val="tx1"/>
                </a:solidFill>
              </a:rPr>
              <a:t>database requirements using the ER model, </a:t>
            </a:r>
            <a:r>
              <a:rPr lang="en-US" altLang="en-US" sz="2000" b="1" dirty="0">
                <a:solidFill>
                  <a:schemeClr val="tx1"/>
                </a:solidFill>
              </a:rPr>
              <a:t>we need to identify four main concepts (elements)</a:t>
            </a:r>
            <a:endParaRPr lang="en-US" altLang="en-US" sz="2000" dirty="0">
              <a:solidFill>
                <a:schemeClr val="tx1"/>
              </a:solidFill>
            </a:endParaRPr>
          </a:p>
          <a:p>
            <a:endParaRPr lang="en-US" dirty="0">
              <a:solidFill>
                <a:schemeClr val="tx1"/>
              </a:solidFill>
            </a:endParaRPr>
          </a:p>
          <a:p>
            <a:pPr lvl="1" eaLnBrk="1" hangingPunct="1"/>
            <a:r>
              <a:rPr lang="en-US" altLang="en-US" sz="2000" b="1" dirty="0">
                <a:solidFill>
                  <a:schemeClr val="tx1"/>
                </a:solidFill>
              </a:rPr>
              <a:t>The set of possible </a:t>
            </a:r>
            <a:r>
              <a:rPr lang="en-US" altLang="en-US" sz="2000" b="1" dirty="0">
                <a:solidFill>
                  <a:srgbClr val="FF0000"/>
                </a:solidFill>
              </a:rPr>
              <a:t>entities</a:t>
            </a:r>
          </a:p>
          <a:p>
            <a:pPr lvl="1" eaLnBrk="1" hangingPunct="1"/>
            <a:r>
              <a:rPr lang="en-US" altLang="en-US" sz="2000" b="1" dirty="0">
                <a:solidFill>
                  <a:schemeClr val="tx1"/>
                </a:solidFill>
              </a:rPr>
              <a:t>The set of possible </a:t>
            </a:r>
            <a:r>
              <a:rPr lang="en-US" altLang="en-US" sz="2000" b="1" dirty="0">
                <a:solidFill>
                  <a:srgbClr val="FF0000"/>
                </a:solidFill>
              </a:rPr>
              <a:t>relationships</a:t>
            </a:r>
            <a:r>
              <a:rPr lang="en-US" altLang="en-US" sz="2000" b="1" dirty="0">
                <a:solidFill>
                  <a:schemeClr val="tx1"/>
                </a:solidFill>
              </a:rPr>
              <a:t> between entities</a:t>
            </a:r>
          </a:p>
          <a:p>
            <a:pPr lvl="1" eaLnBrk="1" hangingPunct="1"/>
            <a:r>
              <a:rPr lang="en-US" altLang="en-US" sz="2000" b="1" dirty="0">
                <a:solidFill>
                  <a:schemeClr val="tx1"/>
                </a:solidFill>
              </a:rPr>
              <a:t>The possible </a:t>
            </a:r>
            <a:r>
              <a:rPr lang="en-US" altLang="en-US" sz="2000" b="1" dirty="0">
                <a:solidFill>
                  <a:srgbClr val="FF0000"/>
                </a:solidFill>
              </a:rPr>
              <a:t>constraints</a:t>
            </a:r>
            <a:r>
              <a:rPr lang="en-US" altLang="en-US" sz="2000" b="1" dirty="0">
                <a:solidFill>
                  <a:schemeClr val="tx1"/>
                </a:solidFill>
              </a:rPr>
              <a:t> for each relationship</a:t>
            </a:r>
          </a:p>
          <a:p>
            <a:pPr eaLnBrk="1" hangingPunct="1"/>
            <a:endParaRPr lang="en-US" altLang="en-US" sz="2400" dirty="0">
              <a:solidFill>
                <a:schemeClr val="tx1"/>
              </a:solidFill>
            </a:endParaRPr>
          </a:p>
          <a:p>
            <a:endParaRPr lang="en-US" dirty="0">
              <a:solidFill>
                <a:schemeClr val="tx1"/>
              </a:solidFill>
            </a:endParaRPr>
          </a:p>
        </p:txBody>
      </p:sp>
      <p:sp>
        <p:nvSpPr>
          <p:cNvPr id="6" name="Footer Placeholder 5">
            <a:extLst>
              <a:ext uri="{FF2B5EF4-FFF2-40B4-BE49-F238E27FC236}">
                <a16:creationId xmlns:a16="http://schemas.microsoft.com/office/drawing/2014/main" id="{2D01EA4F-2E56-E275-5215-E5A87543E1E5}"/>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10BB22E6-1491-A706-07FD-88B2B876F808}"/>
              </a:ext>
            </a:extLst>
          </p:cNvPr>
          <p:cNvSpPr>
            <a:spLocks noGrp="1"/>
          </p:cNvSpPr>
          <p:nvPr>
            <p:ph type="sldNum" sz="quarter" idx="12"/>
          </p:nvPr>
        </p:nvSpPr>
        <p:spPr/>
        <p:txBody>
          <a:bodyPr/>
          <a:lstStyle/>
          <a:p>
            <a:fld id="{FD97C469-14A9-4BE4-BDC2-AF98C32D29B7}" type="slidenum">
              <a:rPr lang="en-US" smtClean="0"/>
              <a:t>11</a:t>
            </a:fld>
            <a:endParaRPr lang="en-US"/>
          </a:p>
        </p:txBody>
      </p:sp>
    </p:spTree>
    <p:extLst>
      <p:ext uri="{BB962C8B-B14F-4D97-AF65-F5344CB8AC3E}">
        <p14:creationId xmlns:p14="http://schemas.microsoft.com/office/powerpoint/2010/main" val="1765511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70155" y="1823421"/>
            <a:ext cx="11234671" cy="3016210"/>
          </a:xfrm>
          <a:prstGeom prst="rect">
            <a:avLst/>
          </a:prstGeom>
        </p:spPr>
        <p:txBody>
          <a:bodyPr wrap="square">
            <a:spAutoFit/>
          </a:bodyPr>
          <a:lstStyle/>
          <a:p>
            <a:pPr marL="285750" indent="-285750">
              <a:spcBef>
                <a:spcPts val="300"/>
              </a:spcBef>
              <a:buClr>
                <a:srgbClr val="009CAC"/>
              </a:buClr>
              <a:buFont typeface="Arial" panose="020B0604020202020204" pitchFamily="34" charset="0"/>
              <a:buChar char="►"/>
            </a:pPr>
            <a:r>
              <a:rPr lang="en-US" sz="2000" b="1" dirty="0">
                <a:solidFill>
                  <a:srgbClr val="006B76"/>
                </a:solidFill>
              </a:rPr>
              <a:t>Entity</a:t>
            </a:r>
            <a:r>
              <a:rPr lang="en-US" sz="2000" dirty="0">
                <a:solidFill>
                  <a:srgbClr val="006B76"/>
                </a:solidFill>
              </a:rPr>
              <a:t>: </a:t>
            </a:r>
          </a:p>
          <a:p>
            <a:pPr marL="742950" lvl="1" indent="-285750">
              <a:spcBef>
                <a:spcPts val="300"/>
              </a:spcBef>
              <a:buClr>
                <a:srgbClr val="009CAC"/>
              </a:buClr>
              <a:buFont typeface="Arial" panose="020B0604020202020204" pitchFamily="34" charset="0"/>
              <a:buChar char="►"/>
            </a:pPr>
            <a:r>
              <a:rPr lang="en-US" sz="2000" dirty="0"/>
              <a:t>Represents a real-world object or concept that are represented in the database. </a:t>
            </a:r>
          </a:p>
          <a:p>
            <a:pPr marL="742950" lvl="1" indent="-285750">
              <a:spcBef>
                <a:spcPts val="300"/>
              </a:spcBef>
              <a:buClr>
                <a:srgbClr val="009CAC"/>
              </a:buClr>
              <a:buFont typeface="Arial" panose="020B0604020202020204" pitchFamily="34" charset="0"/>
              <a:buChar char="►"/>
            </a:pPr>
            <a:r>
              <a:rPr lang="en-US" sz="2000" b="1" dirty="0"/>
              <a:t>Rectangles</a:t>
            </a:r>
            <a:r>
              <a:rPr lang="en-US" sz="2000" dirty="0"/>
              <a:t> are used to represent the entity in the diagram. Name of the Entity is written inside the rectangle. </a:t>
            </a:r>
          </a:p>
          <a:p>
            <a:pPr marL="742950" lvl="1" indent="-285750">
              <a:spcBef>
                <a:spcPts val="300"/>
              </a:spcBef>
              <a:buClr>
                <a:srgbClr val="009CAC"/>
              </a:buClr>
              <a:buFont typeface="Arial" panose="020B0604020202020204" pitchFamily="34" charset="0"/>
              <a:buChar char="►"/>
            </a:pPr>
            <a:r>
              <a:rPr lang="en-US" altLang="en-US" sz="2000" dirty="0"/>
              <a:t>An entity may be an object with a physical existence (for example, a particular person, car, house, or employee) Or it may be an object with a conceptual existence (for instance, a company, a job, or a university course) </a:t>
            </a:r>
            <a:endParaRPr lang="en-US" altLang="en-US" sz="2400" dirty="0"/>
          </a:p>
          <a:p>
            <a:pPr lvl="1">
              <a:spcBef>
                <a:spcPts val="300"/>
              </a:spcBef>
              <a:buClr>
                <a:srgbClr val="009CAC"/>
              </a:buClr>
            </a:pPr>
            <a:br>
              <a:rPr lang="en-US" sz="2000" dirty="0"/>
            </a:br>
            <a:endParaRPr lang="en-US" sz="2000" dirty="0"/>
          </a:p>
        </p:txBody>
      </p:sp>
      <p:sp>
        <p:nvSpPr>
          <p:cNvPr id="2" name="Title 1">
            <a:extLst>
              <a:ext uri="{FF2B5EF4-FFF2-40B4-BE49-F238E27FC236}">
                <a16:creationId xmlns:a16="http://schemas.microsoft.com/office/drawing/2014/main" id="{88CF20D5-0B01-73F5-E2FF-CE5B56595492}"/>
              </a:ext>
            </a:extLst>
          </p:cNvPr>
          <p:cNvSpPr>
            <a:spLocks noGrp="1"/>
          </p:cNvSpPr>
          <p:nvPr>
            <p:ph type="title"/>
          </p:nvPr>
        </p:nvSpPr>
        <p:spPr>
          <a:xfrm>
            <a:off x="570155" y="203267"/>
            <a:ext cx="10058400" cy="1450757"/>
          </a:xfrm>
        </p:spPr>
        <p:txBody>
          <a:bodyPr/>
          <a:lstStyle/>
          <a:p>
            <a:r>
              <a:rPr lang="en-US" sz="4800" b="1" dirty="0"/>
              <a:t>ER model in DBMS</a:t>
            </a:r>
            <a:endParaRPr lang="en-US" b="1" dirty="0"/>
          </a:p>
        </p:txBody>
      </p:sp>
      <p:sp>
        <p:nvSpPr>
          <p:cNvPr id="9" name="Footer Placeholder 8">
            <a:extLst>
              <a:ext uri="{FF2B5EF4-FFF2-40B4-BE49-F238E27FC236}">
                <a16:creationId xmlns:a16="http://schemas.microsoft.com/office/drawing/2014/main" id="{6C79921E-1967-3886-558C-3CA049BFBF53}"/>
              </a:ext>
            </a:extLst>
          </p:cNvPr>
          <p:cNvSpPr>
            <a:spLocks noGrp="1"/>
          </p:cNvSpPr>
          <p:nvPr>
            <p:ph type="ftr" sz="quarter" idx="11"/>
          </p:nvPr>
        </p:nvSpPr>
        <p:spPr/>
        <p:txBody>
          <a:bodyPr/>
          <a:lstStyle/>
          <a:p>
            <a:r>
              <a:rPr lang="en-US"/>
              <a:t>Eng. Aisha Al-Sadi | HTU | Al Hussein Technical University</a:t>
            </a:r>
          </a:p>
        </p:txBody>
      </p:sp>
      <p:sp>
        <p:nvSpPr>
          <p:cNvPr id="10" name="Slide Number Placeholder 9">
            <a:extLst>
              <a:ext uri="{FF2B5EF4-FFF2-40B4-BE49-F238E27FC236}">
                <a16:creationId xmlns:a16="http://schemas.microsoft.com/office/drawing/2014/main" id="{E7930206-C56A-FC45-D71E-1A39099E62B9}"/>
              </a:ext>
            </a:extLst>
          </p:cNvPr>
          <p:cNvSpPr>
            <a:spLocks noGrp="1"/>
          </p:cNvSpPr>
          <p:nvPr>
            <p:ph type="sldNum" sz="quarter" idx="12"/>
          </p:nvPr>
        </p:nvSpPr>
        <p:spPr/>
        <p:txBody>
          <a:bodyPr/>
          <a:lstStyle/>
          <a:p>
            <a:fld id="{FD97C469-14A9-4BE4-BDC2-AF98C32D29B7}" type="slidenum">
              <a:rPr lang="en-US" smtClean="0"/>
              <a:t>12</a:t>
            </a:fld>
            <a:endParaRPr lang="en-US"/>
          </a:p>
        </p:txBody>
      </p:sp>
    </p:spTree>
    <p:extLst>
      <p:ext uri="{BB962C8B-B14F-4D97-AF65-F5344CB8AC3E}">
        <p14:creationId xmlns:p14="http://schemas.microsoft.com/office/powerpoint/2010/main" val="1262652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40D17-A2C8-69E8-3367-76CDDE095FE0}"/>
              </a:ext>
            </a:extLst>
          </p:cNvPr>
          <p:cNvSpPr>
            <a:spLocks noGrp="1"/>
          </p:cNvSpPr>
          <p:nvPr>
            <p:ph type="title"/>
          </p:nvPr>
        </p:nvSpPr>
        <p:spPr>
          <a:xfrm>
            <a:off x="935915" y="33090"/>
            <a:ext cx="10058400" cy="1450757"/>
          </a:xfrm>
        </p:spPr>
        <p:txBody>
          <a:bodyPr/>
          <a:lstStyle/>
          <a:p>
            <a:r>
              <a:rPr lang="en-US" sz="4800" b="1" dirty="0"/>
              <a:t>ER model in DBMS</a:t>
            </a:r>
            <a:endParaRPr lang="en-US" dirty="0"/>
          </a:p>
        </p:txBody>
      </p:sp>
      <p:sp>
        <p:nvSpPr>
          <p:cNvPr id="3" name="Content Placeholder 2">
            <a:extLst>
              <a:ext uri="{FF2B5EF4-FFF2-40B4-BE49-F238E27FC236}">
                <a16:creationId xmlns:a16="http://schemas.microsoft.com/office/drawing/2014/main" id="{D26BDAE6-7A50-6CF6-DD2E-17816F96EE18}"/>
              </a:ext>
            </a:extLst>
          </p:cNvPr>
          <p:cNvSpPr>
            <a:spLocks noGrp="1"/>
          </p:cNvSpPr>
          <p:nvPr>
            <p:ph idx="1"/>
          </p:nvPr>
        </p:nvSpPr>
        <p:spPr>
          <a:xfrm>
            <a:off x="1097280" y="1845733"/>
            <a:ext cx="10295068" cy="4393701"/>
          </a:xfrm>
        </p:spPr>
        <p:txBody>
          <a:bodyPr>
            <a:normAutofit/>
          </a:bodyPr>
          <a:lstStyle/>
          <a:p>
            <a:pPr marL="285750" indent="-285750">
              <a:spcBef>
                <a:spcPts val="300"/>
              </a:spcBef>
              <a:buClr>
                <a:srgbClr val="009CAC"/>
              </a:buClr>
              <a:buFont typeface="Arial" panose="020B0604020202020204" pitchFamily="34" charset="0"/>
              <a:buChar char="►"/>
            </a:pPr>
            <a:r>
              <a:rPr lang="en-US" sz="1800" b="1" dirty="0">
                <a:solidFill>
                  <a:srgbClr val="006B76"/>
                </a:solidFill>
              </a:rPr>
              <a:t>Attribute</a:t>
            </a:r>
            <a:r>
              <a:rPr lang="en-US" sz="1800" dirty="0">
                <a:solidFill>
                  <a:srgbClr val="006B76"/>
                </a:solidFill>
              </a:rPr>
              <a:t>: </a:t>
            </a:r>
            <a:r>
              <a:rPr lang="en-US" sz="1800" dirty="0"/>
              <a:t>attributes are the describing characteristics or properties that define all items pertaining to a certain category applied to all cells of a column. </a:t>
            </a:r>
            <a:br>
              <a:rPr lang="en-US" sz="1800" dirty="0"/>
            </a:br>
            <a:endParaRPr lang="en-US" sz="1800" dirty="0"/>
          </a:p>
          <a:p>
            <a:pPr marL="742950" lvl="1" indent="-285750">
              <a:spcBef>
                <a:spcPts val="300"/>
              </a:spcBef>
              <a:buClr>
                <a:srgbClr val="009CAC"/>
              </a:buClr>
              <a:buFont typeface="Arial" panose="020B0604020202020204" pitchFamily="34" charset="0"/>
              <a:buChar char="►"/>
            </a:pPr>
            <a:r>
              <a:rPr lang="en-US" b="1" dirty="0">
                <a:solidFill>
                  <a:srgbClr val="006B76"/>
                </a:solidFill>
              </a:rPr>
              <a:t>Simple attribute</a:t>
            </a:r>
            <a:r>
              <a:rPr lang="en-US" dirty="0">
                <a:solidFill>
                  <a:srgbClr val="006B76"/>
                </a:solidFill>
              </a:rPr>
              <a:t>:</a:t>
            </a:r>
            <a:r>
              <a:rPr lang="en-US" dirty="0"/>
              <a:t> are atomic values, which cannot be divided further; </a:t>
            </a:r>
            <a:r>
              <a:rPr lang="en-US" altLang="en-US" dirty="0"/>
              <a:t>For example, SSN or Sex.</a:t>
            </a:r>
            <a:br>
              <a:rPr lang="en-US" altLang="en-US" dirty="0"/>
            </a:br>
            <a:endParaRPr lang="en-US" altLang="en-US" i="1" dirty="0"/>
          </a:p>
          <a:p>
            <a:pPr marL="742950" lvl="1" indent="-285750">
              <a:spcBef>
                <a:spcPts val="300"/>
              </a:spcBef>
              <a:buClr>
                <a:srgbClr val="009CAC"/>
              </a:buClr>
              <a:buSzPct val="80000"/>
              <a:buFont typeface="Arial" panose="020B0604020202020204" pitchFamily="34" charset="0"/>
              <a:buChar char="►"/>
            </a:pPr>
            <a:r>
              <a:rPr lang="en-US" b="1" dirty="0">
                <a:solidFill>
                  <a:srgbClr val="006B76"/>
                </a:solidFill>
              </a:rPr>
              <a:t>Composite attribute</a:t>
            </a:r>
            <a:r>
              <a:rPr lang="en-US" dirty="0"/>
              <a:t>: are made of more than one simple attribute; </a:t>
            </a:r>
            <a:r>
              <a:rPr lang="en-US" altLang="en-US" dirty="0"/>
              <a:t>For the example the </a:t>
            </a:r>
            <a:r>
              <a:rPr lang="en-US" altLang="en-US" dirty="0">
                <a:solidFill>
                  <a:schemeClr val="tx1"/>
                </a:solidFill>
              </a:rPr>
              <a:t>Address</a:t>
            </a:r>
            <a:r>
              <a:rPr lang="en-US" altLang="en-US" dirty="0"/>
              <a:t> attribute of the EMPLOYEE entity can be subdivided into (</a:t>
            </a:r>
            <a:r>
              <a:rPr lang="en-US" altLang="en-US" dirty="0" err="1"/>
              <a:t>Street_address</a:t>
            </a:r>
            <a:r>
              <a:rPr lang="en-US" altLang="en-US" dirty="0"/>
              <a:t>, City, State, and Zip)</a:t>
            </a:r>
            <a:br>
              <a:rPr lang="en-US" altLang="en-US" dirty="0"/>
            </a:br>
            <a:endParaRPr lang="en-US" dirty="0"/>
          </a:p>
          <a:p>
            <a:pPr marL="742950" lvl="1" indent="-285750">
              <a:spcBef>
                <a:spcPts val="300"/>
              </a:spcBef>
              <a:buClr>
                <a:srgbClr val="009CAC"/>
              </a:buClr>
              <a:buSzPct val="80000"/>
              <a:buFont typeface="Arial" panose="020B0604020202020204" pitchFamily="34" charset="0"/>
              <a:buChar char="►"/>
            </a:pPr>
            <a:r>
              <a:rPr lang="en-US" b="1" dirty="0">
                <a:solidFill>
                  <a:srgbClr val="006B76"/>
                </a:solidFill>
              </a:rPr>
              <a:t>Derived attribute</a:t>
            </a:r>
            <a:r>
              <a:rPr lang="en-US" dirty="0">
                <a:solidFill>
                  <a:srgbClr val="006B76"/>
                </a:solidFill>
              </a:rPr>
              <a:t>:</a:t>
            </a:r>
            <a:r>
              <a:rPr lang="en-US" dirty="0"/>
              <a:t> are the attributes that do not exist in the physical database, but their values are derived from other attributes present in the database. For example, the value of Age can be determined from the current (today’s) date and the value of that person’s </a:t>
            </a:r>
            <a:r>
              <a:rPr lang="en-US" dirty="0" err="1"/>
              <a:t>Birth_date</a:t>
            </a:r>
            <a:r>
              <a:rPr lang="en-US" dirty="0"/>
              <a:t>.</a:t>
            </a:r>
          </a:p>
        </p:txBody>
      </p:sp>
      <p:sp>
        <p:nvSpPr>
          <p:cNvPr id="6" name="Footer Placeholder 5">
            <a:extLst>
              <a:ext uri="{FF2B5EF4-FFF2-40B4-BE49-F238E27FC236}">
                <a16:creationId xmlns:a16="http://schemas.microsoft.com/office/drawing/2014/main" id="{E4CF8259-5F36-D6DE-1E85-B828EC0E6F4B}"/>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AF2E09EA-7CE5-48DA-75C3-7931AF1EBB95}"/>
              </a:ext>
            </a:extLst>
          </p:cNvPr>
          <p:cNvSpPr>
            <a:spLocks noGrp="1"/>
          </p:cNvSpPr>
          <p:nvPr>
            <p:ph type="sldNum" sz="quarter" idx="12"/>
          </p:nvPr>
        </p:nvSpPr>
        <p:spPr/>
        <p:txBody>
          <a:bodyPr/>
          <a:lstStyle/>
          <a:p>
            <a:fld id="{FD97C469-14A9-4BE4-BDC2-AF98C32D29B7}" type="slidenum">
              <a:rPr lang="en-US" smtClean="0"/>
              <a:t>13</a:t>
            </a:fld>
            <a:endParaRPr lang="en-US"/>
          </a:p>
        </p:txBody>
      </p:sp>
    </p:spTree>
    <p:extLst>
      <p:ext uri="{BB962C8B-B14F-4D97-AF65-F5344CB8AC3E}">
        <p14:creationId xmlns:p14="http://schemas.microsoft.com/office/powerpoint/2010/main" val="1895547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40D17-A2C8-69E8-3367-76CDDE095FE0}"/>
              </a:ext>
            </a:extLst>
          </p:cNvPr>
          <p:cNvSpPr>
            <a:spLocks noGrp="1"/>
          </p:cNvSpPr>
          <p:nvPr>
            <p:ph type="title"/>
          </p:nvPr>
        </p:nvSpPr>
        <p:spPr>
          <a:xfrm>
            <a:off x="1097280" y="174625"/>
            <a:ext cx="10058400" cy="1450757"/>
          </a:xfrm>
        </p:spPr>
        <p:txBody>
          <a:bodyPr/>
          <a:lstStyle/>
          <a:p>
            <a:r>
              <a:rPr lang="en-US" sz="4800" b="1" dirty="0"/>
              <a:t>ER model in DBMS</a:t>
            </a:r>
            <a:endParaRPr lang="en-US" dirty="0"/>
          </a:p>
        </p:txBody>
      </p:sp>
      <p:sp>
        <p:nvSpPr>
          <p:cNvPr id="3" name="Content Placeholder 2">
            <a:extLst>
              <a:ext uri="{FF2B5EF4-FFF2-40B4-BE49-F238E27FC236}">
                <a16:creationId xmlns:a16="http://schemas.microsoft.com/office/drawing/2014/main" id="{D26BDAE6-7A50-6CF6-DD2E-17816F96EE18}"/>
              </a:ext>
            </a:extLst>
          </p:cNvPr>
          <p:cNvSpPr>
            <a:spLocks noGrp="1"/>
          </p:cNvSpPr>
          <p:nvPr>
            <p:ph idx="1"/>
          </p:nvPr>
        </p:nvSpPr>
        <p:spPr>
          <a:xfrm>
            <a:off x="1097280" y="1845733"/>
            <a:ext cx="10230522" cy="4393701"/>
          </a:xfrm>
        </p:spPr>
        <p:txBody>
          <a:bodyPr>
            <a:normAutofit/>
          </a:bodyPr>
          <a:lstStyle/>
          <a:p>
            <a:pPr marL="742950" lvl="1" indent="-285750">
              <a:spcBef>
                <a:spcPts val="300"/>
              </a:spcBef>
              <a:buClr>
                <a:srgbClr val="009CAC"/>
              </a:buClr>
              <a:buSzPct val="80000"/>
              <a:buFont typeface="Arial" panose="020B0604020202020204" pitchFamily="34" charset="0"/>
              <a:buChar char="►"/>
            </a:pPr>
            <a:r>
              <a:rPr lang="en-US" sz="2000" b="1" dirty="0">
                <a:solidFill>
                  <a:srgbClr val="006B76"/>
                </a:solidFill>
              </a:rPr>
              <a:t>Multi-value attribute</a:t>
            </a:r>
            <a:r>
              <a:rPr lang="en-US" sz="2000" dirty="0">
                <a:solidFill>
                  <a:srgbClr val="006B76"/>
                </a:solidFill>
              </a:rPr>
              <a:t>:</a:t>
            </a:r>
            <a:r>
              <a:rPr lang="en-US" sz="2000" dirty="0"/>
              <a:t> Multi-value attributes may contain more than one values. For the example a </a:t>
            </a:r>
            <a:r>
              <a:rPr lang="en-US" sz="2000" dirty="0" err="1"/>
              <a:t>College_degrees</a:t>
            </a:r>
            <a:r>
              <a:rPr lang="en-US" sz="2000" dirty="0"/>
              <a:t> attribute for a person: one person may not have a college degree, another person may have one, and a third person may have two or more degrees.</a:t>
            </a:r>
            <a:br>
              <a:rPr lang="en-US" sz="2000" dirty="0"/>
            </a:br>
            <a:endParaRPr lang="en-US" sz="2000" dirty="0"/>
          </a:p>
          <a:p>
            <a:pPr marL="742950" lvl="1" indent="-285750">
              <a:spcBef>
                <a:spcPts val="300"/>
              </a:spcBef>
              <a:buClr>
                <a:srgbClr val="009CAC"/>
              </a:buClr>
              <a:buSzPct val="80000"/>
              <a:buFont typeface="Arial" panose="020B0604020202020204" pitchFamily="34" charset="0"/>
              <a:buChar char="►"/>
            </a:pPr>
            <a:r>
              <a:rPr lang="en-US" sz="2000" b="1" dirty="0">
                <a:solidFill>
                  <a:srgbClr val="006B76"/>
                </a:solidFill>
              </a:rPr>
              <a:t>Complex attribute: </a:t>
            </a:r>
            <a:r>
              <a:rPr lang="en-US" sz="2000" dirty="0"/>
              <a:t>multi-value attribute and  composite attribute.</a:t>
            </a:r>
            <a:br>
              <a:rPr lang="en-US" sz="2000" dirty="0"/>
            </a:br>
            <a:endParaRPr lang="en-US" sz="2000" dirty="0"/>
          </a:p>
          <a:p>
            <a:pPr marL="742950" lvl="1" indent="-285750">
              <a:spcBef>
                <a:spcPts val="300"/>
              </a:spcBef>
              <a:buClr>
                <a:srgbClr val="009CAC"/>
              </a:buClr>
              <a:buFont typeface="Arial" panose="020B0604020202020204" pitchFamily="34" charset="0"/>
              <a:buChar char="►"/>
            </a:pPr>
            <a:r>
              <a:rPr lang="en-US" sz="2000" b="1" dirty="0">
                <a:solidFill>
                  <a:srgbClr val="006B76"/>
                </a:solidFill>
              </a:rPr>
              <a:t>Primary Key</a:t>
            </a:r>
            <a:r>
              <a:rPr lang="ar-JO" sz="2000" b="1" dirty="0">
                <a:solidFill>
                  <a:srgbClr val="006B76"/>
                </a:solidFill>
              </a:rPr>
              <a:t> </a:t>
            </a:r>
            <a:r>
              <a:rPr lang="en-US" sz="2000" b="1" dirty="0">
                <a:solidFill>
                  <a:srgbClr val="006B76"/>
                </a:solidFill>
              </a:rPr>
              <a:t>attribute </a:t>
            </a:r>
            <a:r>
              <a:rPr lang="en-US" sz="2000" dirty="0">
                <a:solidFill>
                  <a:srgbClr val="006B76"/>
                </a:solidFill>
              </a:rPr>
              <a:t>:</a:t>
            </a:r>
            <a:r>
              <a:rPr lang="en-US" sz="2000" dirty="0"/>
              <a:t> An underline to the attribute name is put to represent the primary key (example </a:t>
            </a:r>
            <a:r>
              <a:rPr lang="en-US" sz="2000" dirty="0" err="1"/>
              <a:t>Student_ID</a:t>
            </a:r>
            <a:r>
              <a:rPr lang="en-US" sz="2000" dirty="0"/>
              <a:t>).</a:t>
            </a:r>
            <a:br>
              <a:rPr lang="en-US" sz="2000" dirty="0"/>
            </a:br>
            <a:endParaRPr lang="en-US" sz="2000" dirty="0"/>
          </a:p>
          <a:p>
            <a:pPr marL="742950" lvl="1" indent="-285750">
              <a:spcBef>
                <a:spcPts val="300"/>
              </a:spcBef>
              <a:buClr>
                <a:srgbClr val="009CAC"/>
              </a:buClr>
              <a:buFont typeface="Arial" panose="020B0604020202020204" pitchFamily="34" charset="0"/>
              <a:buChar char="►"/>
            </a:pPr>
            <a:r>
              <a:rPr lang="en-US" sz="2000" b="1" dirty="0">
                <a:solidFill>
                  <a:srgbClr val="006B76"/>
                </a:solidFill>
              </a:rPr>
              <a:t>Relationship attribute:</a:t>
            </a:r>
            <a:r>
              <a:rPr lang="en-US" sz="2000" dirty="0"/>
              <a:t> a relation can have attribute. Most relationship attributes are used with M:N relationships (example: #ofHours the employee worked on a project).</a:t>
            </a:r>
          </a:p>
        </p:txBody>
      </p:sp>
      <p:sp>
        <p:nvSpPr>
          <p:cNvPr id="7" name="Footer Placeholder 6">
            <a:extLst>
              <a:ext uri="{FF2B5EF4-FFF2-40B4-BE49-F238E27FC236}">
                <a16:creationId xmlns:a16="http://schemas.microsoft.com/office/drawing/2014/main" id="{915D64C1-1387-2ED9-6FFC-4F81C91A99BE}"/>
              </a:ext>
            </a:extLst>
          </p:cNvPr>
          <p:cNvSpPr>
            <a:spLocks noGrp="1"/>
          </p:cNvSpPr>
          <p:nvPr>
            <p:ph type="ftr" sz="quarter" idx="11"/>
          </p:nvPr>
        </p:nvSpPr>
        <p:spPr/>
        <p:txBody>
          <a:bodyPr/>
          <a:lstStyle/>
          <a:p>
            <a:r>
              <a:rPr lang="en-US"/>
              <a:t>Eng. Aisha Al-Sadi | HTU | Al Hussein Technical University</a:t>
            </a:r>
          </a:p>
        </p:txBody>
      </p:sp>
      <p:sp>
        <p:nvSpPr>
          <p:cNvPr id="8" name="Slide Number Placeholder 7">
            <a:extLst>
              <a:ext uri="{FF2B5EF4-FFF2-40B4-BE49-F238E27FC236}">
                <a16:creationId xmlns:a16="http://schemas.microsoft.com/office/drawing/2014/main" id="{70FCC7E3-873E-8697-70C6-A8BE18853E20}"/>
              </a:ext>
            </a:extLst>
          </p:cNvPr>
          <p:cNvSpPr>
            <a:spLocks noGrp="1"/>
          </p:cNvSpPr>
          <p:nvPr>
            <p:ph type="sldNum" sz="quarter" idx="12"/>
          </p:nvPr>
        </p:nvSpPr>
        <p:spPr/>
        <p:txBody>
          <a:bodyPr/>
          <a:lstStyle/>
          <a:p>
            <a:fld id="{FD97C469-14A9-4BE4-BDC2-AF98C32D29B7}" type="slidenum">
              <a:rPr lang="en-US" smtClean="0"/>
              <a:t>14</a:t>
            </a:fld>
            <a:endParaRPr lang="en-US"/>
          </a:p>
        </p:txBody>
      </p:sp>
    </p:spTree>
    <p:extLst>
      <p:ext uri="{BB962C8B-B14F-4D97-AF65-F5344CB8AC3E}">
        <p14:creationId xmlns:p14="http://schemas.microsoft.com/office/powerpoint/2010/main" val="2088282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F6439-9AB4-D27C-E97F-892CFAA32C99}"/>
              </a:ext>
            </a:extLst>
          </p:cNvPr>
          <p:cNvSpPr>
            <a:spLocks noGrp="1"/>
          </p:cNvSpPr>
          <p:nvPr>
            <p:ph type="title"/>
          </p:nvPr>
        </p:nvSpPr>
        <p:spPr>
          <a:xfrm>
            <a:off x="871370" y="263527"/>
            <a:ext cx="10058400" cy="1450757"/>
          </a:xfrm>
        </p:spPr>
        <p:txBody>
          <a:bodyPr/>
          <a:lstStyle/>
          <a:p>
            <a:r>
              <a:rPr lang="en-US" sz="4800" b="1" dirty="0"/>
              <a:t>ER model in DBMS</a:t>
            </a:r>
            <a:endParaRPr lang="en-US" dirty="0"/>
          </a:p>
        </p:txBody>
      </p:sp>
      <p:sp>
        <p:nvSpPr>
          <p:cNvPr id="3" name="Content Placeholder 2">
            <a:extLst>
              <a:ext uri="{FF2B5EF4-FFF2-40B4-BE49-F238E27FC236}">
                <a16:creationId xmlns:a16="http://schemas.microsoft.com/office/drawing/2014/main" id="{B111BD78-15B0-FF1F-7F2A-1966BF67867A}"/>
              </a:ext>
            </a:extLst>
          </p:cNvPr>
          <p:cNvSpPr>
            <a:spLocks noGrp="1"/>
          </p:cNvSpPr>
          <p:nvPr>
            <p:ph idx="1"/>
          </p:nvPr>
        </p:nvSpPr>
        <p:spPr/>
        <p:txBody>
          <a:bodyPr>
            <a:normAutofit/>
          </a:bodyPr>
          <a:lstStyle/>
          <a:p>
            <a:pPr marL="171450" indent="-171450" eaLnBrk="1" hangingPunct="1">
              <a:buFont typeface="Wingdings" panose="05000000000000000000" pitchFamily="2" charset="2"/>
              <a:buChar char="§"/>
            </a:pPr>
            <a:r>
              <a:rPr lang="en-US" altLang="en-US" b="1" dirty="0"/>
              <a:t>A key attribute may be composite. </a:t>
            </a:r>
          </a:p>
          <a:p>
            <a:pPr marL="354330" lvl="2" indent="-171450">
              <a:buFont typeface="Wingdings" panose="05000000000000000000" pitchFamily="2" charset="2"/>
              <a:buChar char="§"/>
            </a:pPr>
            <a:r>
              <a:rPr lang="en-US" altLang="en-US" sz="2000" dirty="0" err="1"/>
              <a:t>VehicleTagNumber</a:t>
            </a:r>
            <a:r>
              <a:rPr lang="en-US" altLang="en-US" sz="2000" dirty="0"/>
              <a:t> is a key of the CAR entity type with components (Number, State).</a:t>
            </a:r>
            <a:br>
              <a:rPr lang="en-US" altLang="en-US" sz="2000" dirty="0"/>
            </a:br>
            <a:r>
              <a:rPr lang="en-US" altLang="en-US" sz="2000" dirty="0"/>
              <a:t>	</a:t>
            </a:r>
          </a:p>
          <a:p>
            <a:pPr marL="171450" indent="-171450" eaLnBrk="1" hangingPunct="1">
              <a:buFont typeface="Wingdings" panose="05000000000000000000" pitchFamily="2" charset="2"/>
              <a:buChar char="§"/>
            </a:pPr>
            <a:r>
              <a:rPr lang="en-US" altLang="en-US" b="1" dirty="0"/>
              <a:t>An entity type may have more than one key. </a:t>
            </a:r>
          </a:p>
          <a:p>
            <a:pPr marL="354330" lvl="2" indent="-171450">
              <a:buFont typeface="Wingdings" panose="05000000000000000000" pitchFamily="2" charset="2"/>
              <a:buChar char="§"/>
            </a:pPr>
            <a:r>
              <a:rPr lang="en-US" altLang="en-US" sz="2000" dirty="0"/>
              <a:t>The CAR entity type may have two keys:</a:t>
            </a:r>
          </a:p>
          <a:p>
            <a:pPr marL="537210" lvl="4" indent="-171450">
              <a:buFont typeface="Wingdings" panose="05000000000000000000" pitchFamily="2" charset="2"/>
              <a:buChar char="§"/>
            </a:pPr>
            <a:r>
              <a:rPr lang="en-US" altLang="en-US" sz="2000" dirty="0" err="1"/>
              <a:t>VehicleIdentificationNumber</a:t>
            </a:r>
            <a:r>
              <a:rPr lang="en-US" altLang="en-US" sz="2000" dirty="0"/>
              <a:t> (popularly called VIN)</a:t>
            </a:r>
          </a:p>
          <a:p>
            <a:pPr marL="537210" lvl="4" indent="-171450">
              <a:buFont typeface="Wingdings" panose="05000000000000000000" pitchFamily="2" charset="2"/>
              <a:buChar char="§"/>
            </a:pPr>
            <a:r>
              <a:rPr lang="en-US" altLang="en-US" sz="2000" dirty="0" err="1"/>
              <a:t>VehicleTagNumber</a:t>
            </a:r>
            <a:r>
              <a:rPr lang="en-US" altLang="en-US" sz="2000" dirty="0"/>
              <a:t> (Number, State), aka license plate number.</a:t>
            </a:r>
          </a:p>
          <a:p>
            <a:pPr lvl="2"/>
            <a:endParaRPr lang="en-US" altLang="en-US" sz="2000" dirty="0"/>
          </a:p>
          <a:p>
            <a:endParaRPr lang="en-US" dirty="0"/>
          </a:p>
        </p:txBody>
      </p:sp>
      <p:sp>
        <p:nvSpPr>
          <p:cNvPr id="6" name="Footer Placeholder 5">
            <a:extLst>
              <a:ext uri="{FF2B5EF4-FFF2-40B4-BE49-F238E27FC236}">
                <a16:creationId xmlns:a16="http://schemas.microsoft.com/office/drawing/2014/main" id="{16B338D7-019F-92B0-8AFC-6E3938C90D22}"/>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D240E9F5-9419-9B32-612B-48141FBC6C19}"/>
              </a:ext>
            </a:extLst>
          </p:cNvPr>
          <p:cNvSpPr>
            <a:spLocks noGrp="1"/>
          </p:cNvSpPr>
          <p:nvPr>
            <p:ph type="sldNum" sz="quarter" idx="12"/>
          </p:nvPr>
        </p:nvSpPr>
        <p:spPr/>
        <p:txBody>
          <a:bodyPr/>
          <a:lstStyle/>
          <a:p>
            <a:fld id="{FD97C469-14A9-4BE4-BDC2-AF98C32D29B7}" type="slidenum">
              <a:rPr lang="en-US" smtClean="0"/>
              <a:t>15</a:t>
            </a:fld>
            <a:endParaRPr lang="en-US"/>
          </a:p>
        </p:txBody>
      </p:sp>
    </p:spTree>
    <p:extLst>
      <p:ext uri="{BB962C8B-B14F-4D97-AF65-F5344CB8AC3E}">
        <p14:creationId xmlns:p14="http://schemas.microsoft.com/office/powerpoint/2010/main" val="4052468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D5FA4-0BCB-D34B-A11F-EACECB4520B0}"/>
              </a:ext>
            </a:extLst>
          </p:cNvPr>
          <p:cNvSpPr>
            <a:spLocks noGrp="1"/>
          </p:cNvSpPr>
          <p:nvPr>
            <p:ph type="title"/>
          </p:nvPr>
        </p:nvSpPr>
        <p:spPr>
          <a:xfrm>
            <a:off x="978946" y="263527"/>
            <a:ext cx="10058400" cy="1450757"/>
          </a:xfrm>
        </p:spPr>
        <p:txBody>
          <a:bodyPr/>
          <a:lstStyle/>
          <a:p>
            <a:r>
              <a:rPr lang="en-US" sz="4800" b="1" dirty="0"/>
              <a:t>ER model in DBMS</a:t>
            </a:r>
            <a:endParaRPr lang="en-US" dirty="0"/>
          </a:p>
        </p:txBody>
      </p:sp>
      <p:sp>
        <p:nvSpPr>
          <p:cNvPr id="3" name="Content Placeholder 2">
            <a:extLst>
              <a:ext uri="{FF2B5EF4-FFF2-40B4-BE49-F238E27FC236}">
                <a16:creationId xmlns:a16="http://schemas.microsoft.com/office/drawing/2014/main" id="{657699C8-371F-D03D-7388-B22C53EA58BF}"/>
              </a:ext>
            </a:extLst>
          </p:cNvPr>
          <p:cNvSpPr>
            <a:spLocks noGrp="1"/>
          </p:cNvSpPr>
          <p:nvPr>
            <p:ph idx="1"/>
          </p:nvPr>
        </p:nvSpPr>
        <p:spPr/>
        <p:txBody>
          <a:bodyPr/>
          <a:lstStyle/>
          <a:p>
            <a:pPr>
              <a:buFont typeface="Wingdings" panose="05000000000000000000" pitchFamily="2" charset="2"/>
              <a:buChar char="Ø"/>
            </a:pPr>
            <a:r>
              <a:rPr lang="en-US" sz="2000" b="1" dirty="0">
                <a:solidFill>
                  <a:srgbClr val="006B76"/>
                </a:solidFill>
              </a:rPr>
              <a:t> Relationship</a:t>
            </a:r>
            <a:r>
              <a:rPr lang="en-US" sz="2000" dirty="0">
                <a:solidFill>
                  <a:srgbClr val="006B76"/>
                </a:solidFill>
              </a:rPr>
              <a:t>:</a:t>
            </a:r>
            <a:r>
              <a:rPr lang="en-US" sz="2000" dirty="0"/>
              <a:t> </a:t>
            </a:r>
          </a:p>
          <a:p>
            <a:pPr lvl="1">
              <a:buFont typeface="Wingdings" panose="05000000000000000000" pitchFamily="2" charset="2"/>
              <a:buChar char="Ø"/>
            </a:pPr>
            <a:r>
              <a:rPr lang="en-US" dirty="0"/>
              <a:t>A </a:t>
            </a:r>
            <a:r>
              <a:rPr lang="en-US" b="1" dirty="0"/>
              <a:t>relationship</a:t>
            </a:r>
            <a:r>
              <a:rPr lang="en-US" dirty="0"/>
              <a:t> relates two or more distinct entities with a specific meaning.</a:t>
            </a:r>
          </a:p>
          <a:p>
            <a:pPr lvl="1"/>
            <a:r>
              <a:rPr lang="en-US" dirty="0"/>
              <a:t>For example, EMPLOYEE John Smith works on the </a:t>
            </a:r>
            <a:r>
              <a:rPr lang="en-US" dirty="0" err="1"/>
              <a:t>ProductX</a:t>
            </a:r>
            <a:r>
              <a:rPr lang="en-US" dirty="0"/>
              <a:t> PROJECT, or EMPLOYEE Franklin Wong manages the Research DEPARTMENT.</a:t>
            </a:r>
            <a:br>
              <a:rPr lang="en-US" dirty="0"/>
            </a:br>
            <a:endParaRPr lang="en-US" dirty="0"/>
          </a:p>
          <a:p>
            <a:pPr lvl="1">
              <a:buFont typeface="Wingdings" panose="05000000000000000000" pitchFamily="2" charset="2"/>
              <a:buChar char="Ø"/>
            </a:pPr>
            <a:r>
              <a:rPr lang="en-US" dirty="0"/>
              <a:t>Relationships of the same type are grouped or typed into a </a:t>
            </a:r>
            <a:r>
              <a:rPr lang="en-US" b="1" dirty="0"/>
              <a:t>relationship type</a:t>
            </a:r>
            <a:r>
              <a:rPr lang="en-US" dirty="0"/>
              <a:t>.</a:t>
            </a:r>
          </a:p>
          <a:p>
            <a:pPr lvl="1"/>
            <a:r>
              <a:rPr lang="en-US" dirty="0"/>
              <a:t>For example, the WORKS ON relationship type in which EMPLOYEEs and PROJECTs participate, or the MANAGES relationship type in which EMPLOYEEs and DEPARTMENTs participate.</a:t>
            </a:r>
          </a:p>
          <a:p>
            <a:pPr lvl="1">
              <a:buFont typeface="Wingdings" panose="05000000000000000000" pitchFamily="2" charset="2"/>
              <a:buChar char="Ø"/>
            </a:pPr>
            <a:endParaRPr lang="en-US" dirty="0"/>
          </a:p>
        </p:txBody>
      </p:sp>
      <p:sp>
        <p:nvSpPr>
          <p:cNvPr id="6" name="Footer Placeholder 5">
            <a:extLst>
              <a:ext uri="{FF2B5EF4-FFF2-40B4-BE49-F238E27FC236}">
                <a16:creationId xmlns:a16="http://schemas.microsoft.com/office/drawing/2014/main" id="{A61C4B6C-8FBD-C364-1205-93C48671BDF7}"/>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DE1F47FD-360C-AA65-890E-2F0E2C270694}"/>
              </a:ext>
            </a:extLst>
          </p:cNvPr>
          <p:cNvSpPr>
            <a:spLocks noGrp="1"/>
          </p:cNvSpPr>
          <p:nvPr>
            <p:ph type="sldNum" sz="quarter" idx="12"/>
          </p:nvPr>
        </p:nvSpPr>
        <p:spPr/>
        <p:txBody>
          <a:bodyPr/>
          <a:lstStyle/>
          <a:p>
            <a:fld id="{FD97C469-14A9-4BE4-BDC2-AF98C32D29B7}" type="slidenum">
              <a:rPr lang="en-US" smtClean="0"/>
              <a:t>16</a:t>
            </a:fld>
            <a:endParaRPr lang="en-US"/>
          </a:p>
        </p:txBody>
      </p:sp>
    </p:spTree>
    <p:extLst>
      <p:ext uri="{BB962C8B-B14F-4D97-AF65-F5344CB8AC3E}">
        <p14:creationId xmlns:p14="http://schemas.microsoft.com/office/powerpoint/2010/main" val="2378178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6D4BC-A9F0-4B32-B258-E254C86AA1B6}"/>
              </a:ext>
            </a:extLst>
          </p:cNvPr>
          <p:cNvSpPr>
            <a:spLocks noGrp="1"/>
          </p:cNvSpPr>
          <p:nvPr>
            <p:ph type="title"/>
          </p:nvPr>
        </p:nvSpPr>
        <p:spPr/>
        <p:txBody>
          <a:bodyPr/>
          <a:lstStyle/>
          <a:p>
            <a:r>
              <a:rPr lang="en-US" b="1" dirty="0"/>
              <a:t>Relationship Type vs. Relationship Set</a:t>
            </a:r>
          </a:p>
        </p:txBody>
      </p:sp>
      <p:sp>
        <p:nvSpPr>
          <p:cNvPr id="3" name="Content Placeholder 2">
            <a:extLst>
              <a:ext uri="{FF2B5EF4-FFF2-40B4-BE49-F238E27FC236}">
                <a16:creationId xmlns:a16="http://schemas.microsoft.com/office/drawing/2014/main" id="{9AC57FF1-B3FF-4615-8CBC-7ED11D1E0AF3}"/>
              </a:ext>
            </a:extLst>
          </p:cNvPr>
          <p:cNvSpPr>
            <a:spLocks noGrp="1"/>
          </p:cNvSpPr>
          <p:nvPr>
            <p:ph idx="1"/>
          </p:nvPr>
        </p:nvSpPr>
        <p:spPr/>
        <p:txBody>
          <a:bodyPr>
            <a:normAutofit/>
          </a:bodyPr>
          <a:lstStyle/>
          <a:p>
            <a:pPr eaLnBrk="1" hangingPunct="1"/>
            <a:r>
              <a:rPr lang="en-US" altLang="en-US" b="1" dirty="0"/>
              <a:t>Relationship Type (</a:t>
            </a:r>
            <a:r>
              <a:rPr lang="en-US" altLang="en-US" b="1"/>
              <a:t>role name)</a:t>
            </a:r>
            <a:r>
              <a:rPr lang="en-US" altLang="en-US"/>
              <a:t>:</a:t>
            </a:r>
            <a:endParaRPr lang="en-US" altLang="en-US" dirty="0"/>
          </a:p>
          <a:p>
            <a:pPr lvl="1" eaLnBrk="1" hangingPunct="1"/>
            <a:r>
              <a:rPr lang="en-US" altLang="en-US" dirty="0"/>
              <a:t>Is the schema description of a relationship</a:t>
            </a:r>
          </a:p>
          <a:p>
            <a:pPr lvl="1" eaLnBrk="1" hangingPunct="1"/>
            <a:r>
              <a:rPr lang="en-US" altLang="en-US" dirty="0"/>
              <a:t>Identifies the relationship name and the participating entity types</a:t>
            </a:r>
          </a:p>
          <a:p>
            <a:pPr lvl="1" eaLnBrk="1" hangingPunct="1"/>
            <a:r>
              <a:rPr lang="en-US" altLang="en-US" dirty="0"/>
              <a:t>Also identifies certain relationship constraints</a:t>
            </a:r>
            <a:br>
              <a:rPr lang="en-US" altLang="en-US" dirty="0"/>
            </a:br>
            <a:endParaRPr lang="en-US" altLang="en-US" dirty="0"/>
          </a:p>
          <a:p>
            <a:pPr eaLnBrk="1" hangingPunct="1"/>
            <a:r>
              <a:rPr lang="en-US" altLang="en-US" b="1" dirty="0"/>
              <a:t>Relationship Set:</a:t>
            </a:r>
          </a:p>
          <a:p>
            <a:pPr lvl="1" eaLnBrk="1" hangingPunct="1"/>
            <a:r>
              <a:rPr lang="en-US" altLang="en-US" dirty="0"/>
              <a:t>The current set of relationship instances represented in the database</a:t>
            </a:r>
          </a:p>
          <a:p>
            <a:pPr lvl="1" eaLnBrk="1" hangingPunct="1"/>
            <a:r>
              <a:rPr lang="en-US" altLang="en-US" dirty="0"/>
              <a:t>The current </a:t>
            </a:r>
            <a:r>
              <a:rPr lang="en-US" altLang="en-US" i="1" dirty="0"/>
              <a:t>state</a:t>
            </a:r>
            <a:r>
              <a:rPr lang="en-US" altLang="en-US" dirty="0"/>
              <a:t> of a relationship type</a:t>
            </a:r>
            <a:br>
              <a:rPr lang="en-US" altLang="en-US" dirty="0"/>
            </a:br>
            <a:endParaRPr lang="en-US" altLang="en-US" dirty="0"/>
          </a:p>
          <a:p>
            <a:r>
              <a:rPr lang="en-US" altLang="en-US" dirty="0"/>
              <a:t>Each instance in the set relates individual participating entities – one from each participating entity type</a:t>
            </a:r>
          </a:p>
          <a:p>
            <a:pPr marL="201168" lvl="1" indent="0" eaLnBrk="1" hangingPunct="1">
              <a:buNone/>
            </a:pPr>
            <a:endParaRPr lang="en-US" altLang="en-US" dirty="0"/>
          </a:p>
          <a:p>
            <a:endParaRPr lang="en-US" dirty="0"/>
          </a:p>
        </p:txBody>
      </p:sp>
      <p:sp>
        <p:nvSpPr>
          <p:cNvPr id="6" name="Footer Placeholder 5">
            <a:extLst>
              <a:ext uri="{FF2B5EF4-FFF2-40B4-BE49-F238E27FC236}">
                <a16:creationId xmlns:a16="http://schemas.microsoft.com/office/drawing/2014/main" id="{0BA9A756-80FF-0E9A-E368-909D70C7474A}"/>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313E3263-A107-6A7F-CFEC-A7B8BFD4B3D9}"/>
              </a:ext>
            </a:extLst>
          </p:cNvPr>
          <p:cNvSpPr>
            <a:spLocks noGrp="1"/>
          </p:cNvSpPr>
          <p:nvPr>
            <p:ph type="sldNum" sz="quarter" idx="12"/>
          </p:nvPr>
        </p:nvSpPr>
        <p:spPr/>
        <p:txBody>
          <a:bodyPr/>
          <a:lstStyle/>
          <a:p>
            <a:fld id="{FD97C469-14A9-4BE4-BDC2-AF98C32D29B7}" type="slidenum">
              <a:rPr lang="en-US" smtClean="0"/>
              <a:t>17</a:t>
            </a:fld>
            <a:endParaRPr lang="en-US"/>
          </a:p>
        </p:txBody>
      </p:sp>
    </p:spTree>
    <p:extLst>
      <p:ext uri="{BB962C8B-B14F-4D97-AF65-F5344CB8AC3E}">
        <p14:creationId xmlns:p14="http://schemas.microsoft.com/office/powerpoint/2010/main" val="3304486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D5FA4-0BCB-D34B-A11F-EACECB4520B0}"/>
              </a:ext>
            </a:extLst>
          </p:cNvPr>
          <p:cNvSpPr>
            <a:spLocks noGrp="1"/>
          </p:cNvSpPr>
          <p:nvPr>
            <p:ph type="title"/>
          </p:nvPr>
        </p:nvSpPr>
        <p:spPr/>
        <p:txBody>
          <a:bodyPr/>
          <a:lstStyle/>
          <a:p>
            <a:r>
              <a:rPr lang="en-US" sz="4800" b="1" dirty="0"/>
              <a:t>E-R model in DBMS</a:t>
            </a:r>
            <a:endParaRPr lang="en-US" dirty="0"/>
          </a:p>
        </p:txBody>
      </p:sp>
      <p:sp>
        <p:nvSpPr>
          <p:cNvPr id="3" name="Content Placeholder 2">
            <a:extLst>
              <a:ext uri="{FF2B5EF4-FFF2-40B4-BE49-F238E27FC236}">
                <a16:creationId xmlns:a16="http://schemas.microsoft.com/office/drawing/2014/main" id="{657699C8-371F-D03D-7388-B22C53EA58BF}"/>
              </a:ext>
            </a:extLst>
          </p:cNvPr>
          <p:cNvSpPr>
            <a:spLocks noGrp="1"/>
          </p:cNvSpPr>
          <p:nvPr>
            <p:ph idx="1"/>
          </p:nvPr>
        </p:nvSpPr>
        <p:spPr/>
        <p:txBody>
          <a:bodyPr>
            <a:normAutofit/>
          </a:bodyPr>
          <a:lstStyle/>
          <a:p>
            <a:pPr>
              <a:buFont typeface="Wingdings" panose="05000000000000000000" pitchFamily="2" charset="2"/>
              <a:buChar char="Ø"/>
            </a:pPr>
            <a:r>
              <a:rPr lang="en-US" sz="2800" b="1" dirty="0">
                <a:solidFill>
                  <a:srgbClr val="006B76"/>
                </a:solidFill>
              </a:rPr>
              <a:t> </a:t>
            </a:r>
            <a:r>
              <a:rPr lang="en-US" sz="2400" b="1" dirty="0">
                <a:solidFill>
                  <a:srgbClr val="006B76"/>
                </a:solidFill>
              </a:rPr>
              <a:t>Cardinality</a:t>
            </a:r>
            <a:r>
              <a:rPr lang="en-US" sz="2800" b="1" dirty="0">
                <a:solidFill>
                  <a:srgbClr val="006B76"/>
                </a:solidFill>
              </a:rPr>
              <a:t>:</a:t>
            </a:r>
            <a:r>
              <a:rPr lang="en-US" sz="2800" dirty="0">
                <a:solidFill>
                  <a:srgbClr val="006B76"/>
                </a:solidFill>
              </a:rPr>
              <a:t> </a:t>
            </a:r>
          </a:p>
          <a:p>
            <a:pPr lvl="1">
              <a:buFont typeface="Wingdings" panose="05000000000000000000" pitchFamily="2" charset="2"/>
              <a:buChar char="Ø"/>
            </a:pPr>
            <a:r>
              <a:rPr lang="en-US" sz="2400" dirty="0">
                <a:solidFill>
                  <a:srgbClr val="006B76"/>
                </a:solidFill>
              </a:rPr>
              <a:t> </a:t>
            </a:r>
            <a:r>
              <a:rPr lang="en-US" sz="2400" dirty="0"/>
              <a:t>cardinality specifies how the number of occurrences of one object are related to the number of occurrences of another object (1:1, 1:N, M:N).</a:t>
            </a:r>
          </a:p>
          <a:p>
            <a:endParaRPr lang="en-US" sz="2800" dirty="0"/>
          </a:p>
          <a:p>
            <a:endParaRPr lang="en-US" sz="2800" dirty="0"/>
          </a:p>
        </p:txBody>
      </p:sp>
      <p:sp>
        <p:nvSpPr>
          <p:cNvPr id="6" name="Footer Placeholder 5">
            <a:extLst>
              <a:ext uri="{FF2B5EF4-FFF2-40B4-BE49-F238E27FC236}">
                <a16:creationId xmlns:a16="http://schemas.microsoft.com/office/drawing/2014/main" id="{3241C5AB-C1B2-5C04-DFAA-7A16F9C7F996}"/>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D94DC659-AF20-7302-6D90-BC78F3BF34D8}"/>
              </a:ext>
            </a:extLst>
          </p:cNvPr>
          <p:cNvSpPr>
            <a:spLocks noGrp="1"/>
          </p:cNvSpPr>
          <p:nvPr>
            <p:ph type="sldNum" sz="quarter" idx="12"/>
          </p:nvPr>
        </p:nvSpPr>
        <p:spPr/>
        <p:txBody>
          <a:bodyPr/>
          <a:lstStyle/>
          <a:p>
            <a:fld id="{FD97C469-14A9-4BE4-BDC2-AF98C32D29B7}" type="slidenum">
              <a:rPr lang="en-US" smtClean="0"/>
              <a:t>18</a:t>
            </a:fld>
            <a:endParaRPr lang="en-US"/>
          </a:p>
        </p:txBody>
      </p:sp>
    </p:spTree>
    <p:extLst>
      <p:ext uri="{BB962C8B-B14F-4D97-AF65-F5344CB8AC3E}">
        <p14:creationId xmlns:p14="http://schemas.microsoft.com/office/powerpoint/2010/main" val="823308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10F3C-0173-48E1-848C-15FFEA815A31}"/>
              </a:ext>
            </a:extLst>
          </p:cNvPr>
          <p:cNvSpPr>
            <a:spLocks noGrp="1"/>
          </p:cNvSpPr>
          <p:nvPr>
            <p:ph type="title"/>
          </p:nvPr>
        </p:nvSpPr>
        <p:spPr/>
        <p:txBody>
          <a:bodyPr/>
          <a:lstStyle/>
          <a:p>
            <a:r>
              <a:rPr lang="en-US" altLang="en-US" b="1" dirty="0"/>
              <a:t>Constraints on Relationships Types</a:t>
            </a:r>
            <a:endParaRPr lang="en-US" b="1" dirty="0"/>
          </a:p>
        </p:txBody>
      </p:sp>
      <p:sp>
        <p:nvSpPr>
          <p:cNvPr id="3" name="Content Placeholder 2">
            <a:extLst>
              <a:ext uri="{FF2B5EF4-FFF2-40B4-BE49-F238E27FC236}">
                <a16:creationId xmlns:a16="http://schemas.microsoft.com/office/drawing/2014/main" id="{654C7357-22E2-420C-9849-2328FECEB6D1}"/>
              </a:ext>
            </a:extLst>
          </p:cNvPr>
          <p:cNvSpPr>
            <a:spLocks noGrp="1"/>
          </p:cNvSpPr>
          <p:nvPr>
            <p:ph idx="1"/>
          </p:nvPr>
        </p:nvSpPr>
        <p:spPr/>
        <p:txBody>
          <a:bodyPr/>
          <a:lstStyle/>
          <a:p>
            <a:pPr eaLnBrk="1" hangingPunct="1">
              <a:buFont typeface="Wingdings" panose="05000000000000000000" pitchFamily="2" charset="2"/>
              <a:buChar char="§"/>
            </a:pPr>
            <a:endParaRPr lang="en-US" altLang="en-US" sz="2400" dirty="0"/>
          </a:p>
          <a:p>
            <a:pPr lvl="1">
              <a:buFont typeface="Wingdings" panose="05000000000000000000" pitchFamily="2" charset="2"/>
              <a:buChar char="§"/>
            </a:pPr>
            <a:r>
              <a:rPr lang="en-US" altLang="en-US" sz="2200" b="1" dirty="0"/>
              <a:t>Cardinality (m</a:t>
            </a:r>
            <a:r>
              <a:rPr lang="en-US" altLang="en-US" sz="2200" b="1" i="1" dirty="0"/>
              <a:t>aximum</a:t>
            </a:r>
            <a:r>
              <a:rPr lang="en-US" altLang="en-US" sz="2200" b="1" dirty="0"/>
              <a:t>):</a:t>
            </a:r>
            <a:r>
              <a:rPr lang="en-US" altLang="en-US" sz="2200" dirty="0"/>
              <a:t> </a:t>
            </a:r>
            <a:r>
              <a:rPr lang="en-US" altLang="en-US" sz="2400" dirty="0"/>
              <a:t>Specifies maximum number of relationship instances that entity can participate in:</a:t>
            </a:r>
            <a:endParaRPr lang="en-US" altLang="en-US" sz="2200" dirty="0"/>
          </a:p>
          <a:p>
            <a:pPr lvl="2" eaLnBrk="1" hangingPunct="1">
              <a:buFont typeface="Wingdings" panose="05000000000000000000" pitchFamily="2" charset="2"/>
              <a:buChar char="§"/>
            </a:pPr>
            <a:r>
              <a:rPr lang="en-US" altLang="en-US" sz="2000" dirty="0"/>
              <a:t>One</a:t>
            </a:r>
          </a:p>
          <a:p>
            <a:pPr lvl="2" eaLnBrk="1" hangingPunct="1">
              <a:buFont typeface="Wingdings" panose="05000000000000000000" pitchFamily="2" charset="2"/>
              <a:buChar char="§"/>
            </a:pPr>
            <a:r>
              <a:rPr lang="en-US" altLang="en-US" sz="2000" dirty="0"/>
              <a:t>Many</a:t>
            </a:r>
          </a:p>
          <a:p>
            <a:pPr lvl="1" eaLnBrk="1" hangingPunct="1">
              <a:buFont typeface="Wingdings" panose="05000000000000000000" pitchFamily="2" charset="2"/>
              <a:buChar char="§"/>
            </a:pPr>
            <a:r>
              <a:rPr lang="en-US" altLang="en-US" sz="2200" b="1" dirty="0"/>
              <a:t>Participation (</a:t>
            </a:r>
            <a:r>
              <a:rPr lang="en-US" altLang="en-US" sz="2200" b="1" i="1" dirty="0"/>
              <a:t>minimum</a:t>
            </a:r>
            <a:r>
              <a:rPr lang="en-US" altLang="en-US" sz="2200" b="1" dirty="0"/>
              <a:t>): </a:t>
            </a:r>
            <a:r>
              <a:rPr lang="en-US" altLang="en-US" sz="2400" dirty="0"/>
              <a:t>Specifies whether existence of entity depends on its being related to another entity via the relationship type</a:t>
            </a:r>
            <a:endParaRPr lang="en-US" altLang="en-US" sz="2200" dirty="0"/>
          </a:p>
          <a:p>
            <a:pPr lvl="2" eaLnBrk="1" hangingPunct="1">
              <a:buFont typeface="Wingdings" panose="05000000000000000000" pitchFamily="2" charset="2"/>
              <a:buChar char="§"/>
            </a:pPr>
            <a:r>
              <a:rPr lang="en-US" altLang="en-US" sz="2000" dirty="0"/>
              <a:t>zero (optional participation, not existence-dependent, partial)</a:t>
            </a:r>
          </a:p>
          <a:p>
            <a:pPr lvl="2" eaLnBrk="1" hangingPunct="1">
              <a:buFont typeface="Wingdings" panose="05000000000000000000" pitchFamily="2" charset="2"/>
              <a:buChar char="§"/>
            </a:pPr>
            <a:r>
              <a:rPr lang="en-US" altLang="en-US" sz="2000" dirty="0"/>
              <a:t>One (mandatory participation, existence-dependent, total)</a:t>
            </a:r>
          </a:p>
          <a:p>
            <a:pPr>
              <a:buFont typeface="Wingdings" panose="05000000000000000000" pitchFamily="2" charset="2"/>
              <a:buChar char="§"/>
            </a:pPr>
            <a:endParaRPr lang="en-US" dirty="0"/>
          </a:p>
        </p:txBody>
      </p:sp>
      <p:sp>
        <p:nvSpPr>
          <p:cNvPr id="6" name="Footer Placeholder 5">
            <a:extLst>
              <a:ext uri="{FF2B5EF4-FFF2-40B4-BE49-F238E27FC236}">
                <a16:creationId xmlns:a16="http://schemas.microsoft.com/office/drawing/2014/main" id="{F8A7F604-A183-84A1-4213-685AB4BD30AF}"/>
              </a:ext>
            </a:extLst>
          </p:cNvPr>
          <p:cNvSpPr>
            <a:spLocks noGrp="1"/>
          </p:cNvSpPr>
          <p:nvPr>
            <p:ph type="ftr" sz="quarter" idx="11"/>
          </p:nvPr>
        </p:nvSpPr>
        <p:spPr/>
        <p:txBody>
          <a:bodyPr/>
          <a:lstStyle/>
          <a:p>
            <a:r>
              <a:rPr lang="en-US"/>
              <a:t>Eng. Aisha Al-Sadi | HTU | Al Hussein Technical University</a:t>
            </a:r>
          </a:p>
        </p:txBody>
      </p:sp>
      <p:sp>
        <p:nvSpPr>
          <p:cNvPr id="7" name="Slide Number Placeholder 6">
            <a:extLst>
              <a:ext uri="{FF2B5EF4-FFF2-40B4-BE49-F238E27FC236}">
                <a16:creationId xmlns:a16="http://schemas.microsoft.com/office/drawing/2014/main" id="{69C24A4C-C870-684F-D695-93716A6E1E06}"/>
              </a:ext>
            </a:extLst>
          </p:cNvPr>
          <p:cNvSpPr>
            <a:spLocks noGrp="1"/>
          </p:cNvSpPr>
          <p:nvPr>
            <p:ph type="sldNum" sz="quarter" idx="12"/>
          </p:nvPr>
        </p:nvSpPr>
        <p:spPr/>
        <p:txBody>
          <a:bodyPr/>
          <a:lstStyle/>
          <a:p>
            <a:fld id="{FD97C469-14A9-4BE4-BDC2-AF98C32D29B7}" type="slidenum">
              <a:rPr lang="en-US" smtClean="0"/>
              <a:t>19</a:t>
            </a:fld>
            <a:endParaRPr lang="en-US"/>
          </a:p>
        </p:txBody>
      </p:sp>
    </p:spTree>
    <p:extLst>
      <p:ext uri="{BB962C8B-B14F-4D97-AF65-F5344CB8AC3E}">
        <p14:creationId xmlns:p14="http://schemas.microsoft.com/office/powerpoint/2010/main" val="1672079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31698-89AC-B71A-14AD-23B065992697}"/>
              </a:ext>
            </a:extLst>
          </p:cNvPr>
          <p:cNvSpPr>
            <a:spLocks noGrp="1"/>
          </p:cNvSpPr>
          <p:nvPr>
            <p:ph type="title"/>
          </p:nvPr>
        </p:nvSpPr>
        <p:spPr/>
        <p:txBody>
          <a:bodyPr/>
          <a:lstStyle/>
          <a:p>
            <a:r>
              <a:rPr lang="en-US" b="1" dirty="0"/>
              <a:t>Recursive Relationship Type</a:t>
            </a:r>
          </a:p>
        </p:txBody>
      </p:sp>
      <p:sp>
        <p:nvSpPr>
          <p:cNvPr id="3" name="Content Placeholder 2">
            <a:extLst>
              <a:ext uri="{FF2B5EF4-FFF2-40B4-BE49-F238E27FC236}">
                <a16:creationId xmlns:a16="http://schemas.microsoft.com/office/drawing/2014/main" id="{0BE5E8F3-9B06-D843-CD98-B9BFA371C2C7}"/>
              </a:ext>
            </a:extLst>
          </p:cNvPr>
          <p:cNvSpPr>
            <a:spLocks noGrp="1"/>
          </p:cNvSpPr>
          <p:nvPr>
            <p:ph idx="1"/>
          </p:nvPr>
        </p:nvSpPr>
        <p:spPr/>
        <p:txBody>
          <a:bodyPr/>
          <a:lstStyle/>
          <a:p>
            <a:pPr marL="290513" indent="-290513">
              <a:buFont typeface="Wingdings" panose="05000000000000000000" pitchFamily="2" charset="2"/>
              <a:buChar char="§"/>
            </a:pPr>
            <a:r>
              <a:rPr lang="en-US" dirty="0"/>
              <a:t>A relationship type between the same participating entity type in </a:t>
            </a:r>
            <a:r>
              <a:rPr lang="en-US" b="1" dirty="0"/>
              <a:t>distinct roles</a:t>
            </a:r>
          </a:p>
          <a:p>
            <a:pPr marL="290513" indent="-290513">
              <a:buFont typeface="Wingdings" panose="05000000000000000000" pitchFamily="2" charset="2"/>
              <a:buChar char="§"/>
            </a:pPr>
            <a:r>
              <a:rPr lang="en-US" dirty="0"/>
              <a:t>Also called a </a:t>
            </a:r>
            <a:r>
              <a:rPr lang="en-US" b="1" dirty="0"/>
              <a:t>self-referencing</a:t>
            </a:r>
            <a:r>
              <a:rPr lang="en-US" dirty="0"/>
              <a:t> relationship type.</a:t>
            </a:r>
          </a:p>
          <a:p>
            <a:pPr marL="290513" indent="-290513">
              <a:buFont typeface="Wingdings" panose="05000000000000000000" pitchFamily="2" charset="2"/>
              <a:buChar char="§"/>
            </a:pPr>
            <a:r>
              <a:rPr lang="en-US" dirty="0"/>
              <a:t>Example: the SUPERVISES relationship</a:t>
            </a:r>
          </a:p>
          <a:p>
            <a:pPr marL="290513" indent="-290513">
              <a:buFont typeface="Wingdings" panose="05000000000000000000" pitchFamily="2" charset="2"/>
              <a:buChar char="§"/>
            </a:pPr>
            <a:r>
              <a:rPr lang="en-US" dirty="0"/>
              <a:t>Example: Each relationship instance relates two distinct EMPLOYEE entities:</a:t>
            </a:r>
          </a:p>
          <a:p>
            <a:pPr marL="473393" lvl="2" indent="-290513">
              <a:buFont typeface="Wingdings" panose="05000000000000000000" pitchFamily="2" charset="2"/>
              <a:buChar char="§"/>
            </a:pPr>
            <a:r>
              <a:rPr lang="en-US" sz="1800" dirty="0"/>
              <a:t>One employee in supervisor role</a:t>
            </a:r>
          </a:p>
          <a:p>
            <a:pPr marL="473393" lvl="2" indent="-290513">
              <a:buFont typeface="Wingdings" panose="05000000000000000000" pitchFamily="2" charset="2"/>
              <a:buChar char="§"/>
            </a:pPr>
            <a:r>
              <a:rPr lang="en-US" sz="1800" dirty="0"/>
              <a:t>One employee in supervisee role</a:t>
            </a:r>
          </a:p>
          <a:p>
            <a:pPr marL="290513" indent="-290513">
              <a:buFont typeface="Wingdings" panose="05000000000000000000" pitchFamily="2" charset="2"/>
              <a:buChar char="§"/>
            </a:pPr>
            <a:endParaRPr lang="en-US" dirty="0"/>
          </a:p>
          <a:p>
            <a:pPr marL="290513" indent="-290513">
              <a:buFont typeface="Wingdings" panose="05000000000000000000" pitchFamily="2" charset="2"/>
              <a:buChar char="§"/>
            </a:pPr>
            <a:endParaRPr lang="en-US" dirty="0"/>
          </a:p>
        </p:txBody>
      </p:sp>
      <p:sp>
        <p:nvSpPr>
          <p:cNvPr id="4" name="Footer Placeholder 3">
            <a:extLst>
              <a:ext uri="{FF2B5EF4-FFF2-40B4-BE49-F238E27FC236}">
                <a16:creationId xmlns:a16="http://schemas.microsoft.com/office/drawing/2014/main" id="{FF88C3ED-B7D4-1E45-7D74-FA6E794B4ED4}"/>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35A44E8D-18E4-3B6D-9B7E-6CB593C45114}"/>
              </a:ext>
            </a:extLst>
          </p:cNvPr>
          <p:cNvSpPr>
            <a:spLocks noGrp="1"/>
          </p:cNvSpPr>
          <p:nvPr>
            <p:ph type="sldNum" sz="quarter" idx="12"/>
          </p:nvPr>
        </p:nvSpPr>
        <p:spPr/>
        <p:txBody>
          <a:bodyPr/>
          <a:lstStyle/>
          <a:p>
            <a:fld id="{FD97C469-14A9-4BE4-BDC2-AF98C32D29B7}" type="slidenum">
              <a:rPr lang="en-US" smtClean="0"/>
              <a:t>20</a:t>
            </a:fld>
            <a:endParaRPr lang="en-US"/>
          </a:p>
        </p:txBody>
      </p:sp>
    </p:spTree>
    <p:extLst>
      <p:ext uri="{BB962C8B-B14F-4D97-AF65-F5344CB8AC3E}">
        <p14:creationId xmlns:p14="http://schemas.microsoft.com/office/powerpoint/2010/main" val="698381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97280" y="1877617"/>
            <a:ext cx="11234671" cy="4431983"/>
          </a:xfrm>
          <a:prstGeom prst="rect">
            <a:avLst/>
          </a:prstGeom>
        </p:spPr>
        <p:txBody>
          <a:bodyPr wrap="square">
            <a:spAutoFit/>
          </a:bodyPr>
          <a:lstStyle/>
          <a:p>
            <a:pPr marL="285750" indent="-285750">
              <a:spcBef>
                <a:spcPts val="300"/>
              </a:spcBef>
              <a:buClr>
                <a:srgbClr val="009CAC"/>
              </a:buClr>
              <a:buFont typeface="Arial" panose="020B0604020202020204" pitchFamily="34" charset="0"/>
              <a:buChar char="►"/>
            </a:pPr>
            <a:r>
              <a:rPr lang="en-US" b="1" dirty="0">
                <a:solidFill>
                  <a:srgbClr val="006B76"/>
                </a:solidFill>
              </a:rPr>
              <a:t>Entity type:</a:t>
            </a:r>
          </a:p>
          <a:p>
            <a:pPr marL="742950" lvl="1" indent="-285750">
              <a:spcBef>
                <a:spcPts val="300"/>
              </a:spcBef>
              <a:buClr>
                <a:srgbClr val="009CAC"/>
              </a:buClr>
              <a:buFont typeface="Arial" panose="020B0604020202020204" pitchFamily="34" charset="0"/>
              <a:buChar char="•"/>
            </a:pPr>
            <a:r>
              <a:rPr lang="en-US" dirty="0"/>
              <a:t>Entities with the same basic properties are grouped or typed into an entity type (the category of a particular entity).</a:t>
            </a:r>
          </a:p>
          <a:p>
            <a:pPr marL="742950" lvl="1" indent="-285750">
              <a:spcBef>
                <a:spcPts val="300"/>
              </a:spcBef>
              <a:buClr>
                <a:srgbClr val="009CAC"/>
              </a:buClr>
              <a:buFont typeface="Arial" panose="020B0604020202020204" pitchFamily="34" charset="0"/>
              <a:buChar char="•"/>
            </a:pPr>
            <a:r>
              <a:rPr lang="en-US" dirty="0"/>
              <a:t>For example, the </a:t>
            </a:r>
            <a:r>
              <a:rPr lang="en-US"/>
              <a:t>entity types: </a:t>
            </a:r>
            <a:r>
              <a:rPr lang="en-US" dirty="0"/>
              <a:t>employee, department, project.</a:t>
            </a:r>
            <a:endParaRPr lang="en-US" b="1" dirty="0">
              <a:solidFill>
                <a:srgbClr val="006B76"/>
              </a:solidFill>
            </a:endParaRPr>
          </a:p>
          <a:p>
            <a:pPr marL="285750" indent="-285750">
              <a:spcBef>
                <a:spcPts val="300"/>
              </a:spcBef>
              <a:buClr>
                <a:srgbClr val="009CAC"/>
              </a:buClr>
              <a:buFont typeface="Arial" panose="020B0604020202020204" pitchFamily="34" charset="0"/>
              <a:buChar char="►"/>
            </a:pPr>
            <a:endParaRPr lang="en-US" b="1" dirty="0">
              <a:solidFill>
                <a:srgbClr val="006B76"/>
              </a:solidFill>
            </a:endParaRPr>
          </a:p>
          <a:p>
            <a:pPr marL="285750" indent="-285750">
              <a:spcBef>
                <a:spcPts val="300"/>
              </a:spcBef>
              <a:buClr>
                <a:srgbClr val="009CAC"/>
              </a:buClr>
              <a:buFont typeface="Arial" panose="020B0604020202020204" pitchFamily="34" charset="0"/>
              <a:buChar char="►"/>
            </a:pPr>
            <a:r>
              <a:rPr lang="en-US" b="1" dirty="0">
                <a:solidFill>
                  <a:srgbClr val="006B76"/>
                </a:solidFill>
              </a:rPr>
              <a:t>Entity:</a:t>
            </a:r>
          </a:p>
          <a:p>
            <a:pPr marL="742950" lvl="1" indent="-285750">
              <a:spcBef>
                <a:spcPts val="300"/>
              </a:spcBef>
              <a:buClr>
                <a:srgbClr val="009CAC"/>
              </a:buClr>
              <a:buFont typeface="Arial" panose="020B0604020202020204" pitchFamily="34" charset="0"/>
              <a:buChar char="•"/>
            </a:pPr>
            <a:r>
              <a:rPr lang="en-US" dirty="0"/>
              <a:t>Entity is a basic concept for the ER model. Entities are specific things or objects in the mini-world that are represented in the database.</a:t>
            </a:r>
          </a:p>
          <a:p>
            <a:pPr marL="742950" lvl="1" indent="-285750">
              <a:spcBef>
                <a:spcPts val="300"/>
              </a:spcBef>
              <a:buClr>
                <a:srgbClr val="009CAC"/>
              </a:buClr>
              <a:buFont typeface="Arial" panose="020B0604020202020204" pitchFamily="34" charset="0"/>
              <a:buChar char="•"/>
            </a:pPr>
            <a:r>
              <a:rPr lang="en-US" dirty="0"/>
              <a:t>For example, the employee John Smith, the Research department, the </a:t>
            </a:r>
            <a:r>
              <a:rPr lang="en-US" dirty="0" err="1"/>
              <a:t>ProductX</a:t>
            </a:r>
            <a:r>
              <a:rPr lang="en-US" dirty="0"/>
              <a:t> project.</a:t>
            </a:r>
          </a:p>
          <a:p>
            <a:pPr lvl="1">
              <a:spcBef>
                <a:spcPts val="300"/>
              </a:spcBef>
              <a:buClr>
                <a:srgbClr val="009CAC"/>
              </a:buClr>
            </a:pPr>
            <a:endParaRPr lang="en-US" dirty="0"/>
          </a:p>
          <a:p>
            <a:pPr marL="285750" indent="-285750">
              <a:spcBef>
                <a:spcPts val="300"/>
              </a:spcBef>
              <a:buClr>
                <a:srgbClr val="009CAC"/>
              </a:buClr>
              <a:buFont typeface="Arial" panose="020B0604020202020204" pitchFamily="34" charset="0"/>
              <a:buChar char="►"/>
            </a:pPr>
            <a:r>
              <a:rPr lang="en-US" b="1" dirty="0">
                <a:solidFill>
                  <a:srgbClr val="006B76"/>
                </a:solidFill>
              </a:rPr>
              <a:t>Entity Set:</a:t>
            </a:r>
          </a:p>
          <a:p>
            <a:pPr marL="742950" lvl="1" indent="-285750">
              <a:spcBef>
                <a:spcPts val="300"/>
              </a:spcBef>
              <a:buClr>
                <a:srgbClr val="009CAC"/>
              </a:buClr>
              <a:buFont typeface="Arial" panose="020B0604020202020204" pitchFamily="34" charset="0"/>
              <a:buChar char="•"/>
            </a:pPr>
            <a:r>
              <a:rPr lang="en-US" dirty="0"/>
              <a:t>Each entity type will have a collection of entities stored in the database.</a:t>
            </a:r>
          </a:p>
          <a:p>
            <a:pPr marL="742950" lvl="1" indent="-285750">
              <a:spcBef>
                <a:spcPts val="300"/>
              </a:spcBef>
              <a:buClr>
                <a:srgbClr val="009CAC"/>
              </a:buClr>
              <a:buFont typeface="Arial" panose="020B0604020202020204" pitchFamily="34" charset="0"/>
              <a:buChar char="•"/>
            </a:pPr>
            <a:r>
              <a:rPr lang="en-US" dirty="0"/>
              <a:t>Entity set is the current state of the entities of that type that are stored in the database.</a:t>
            </a:r>
          </a:p>
          <a:p>
            <a:pPr marL="742950" lvl="1" indent="-285750">
              <a:spcBef>
                <a:spcPts val="300"/>
              </a:spcBef>
              <a:buClr>
                <a:srgbClr val="009CAC"/>
              </a:buClr>
              <a:buFont typeface="Arial" panose="020B0604020202020204" pitchFamily="34" charset="0"/>
              <a:buChar char="•"/>
            </a:pPr>
            <a:endParaRPr lang="en-US" dirty="0"/>
          </a:p>
        </p:txBody>
      </p:sp>
      <p:sp>
        <p:nvSpPr>
          <p:cNvPr id="2" name="Title 1">
            <a:extLst>
              <a:ext uri="{FF2B5EF4-FFF2-40B4-BE49-F238E27FC236}">
                <a16:creationId xmlns:a16="http://schemas.microsoft.com/office/drawing/2014/main" id="{953392E8-88EC-4842-9048-F3C04F3D6D03}"/>
              </a:ext>
            </a:extLst>
          </p:cNvPr>
          <p:cNvSpPr>
            <a:spLocks noGrp="1"/>
          </p:cNvSpPr>
          <p:nvPr>
            <p:ph type="title"/>
          </p:nvPr>
        </p:nvSpPr>
        <p:spPr/>
        <p:txBody>
          <a:bodyPr/>
          <a:lstStyle/>
          <a:p>
            <a:pPr lvl="0" rtl="0"/>
            <a:r>
              <a:rPr lang="en-US" sz="4800" b="1" i="0" dirty="0"/>
              <a:t>Entity vs. Entity Type vs. Entity Set</a:t>
            </a:r>
          </a:p>
        </p:txBody>
      </p:sp>
      <p:sp>
        <p:nvSpPr>
          <p:cNvPr id="8" name="Footer Placeholder 7">
            <a:extLst>
              <a:ext uri="{FF2B5EF4-FFF2-40B4-BE49-F238E27FC236}">
                <a16:creationId xmlns:a16="http://schemas.microsoft.com/office/drawing/2014/main" id="{A4EA745B-0D12-CA7B-F5DB-9DB368AF28DE}"/>
              </a:ext>
            </a:extLst>
          </p:cNvPr>
          <p:cNvSpPr>
            <a:spLocks noGrp="1"/>
          </p:cNvSpPr>
          <p:nvPr>
            <p:ph type="ftr" sz="quarter" idx="11"/>
          </p:nvPr>
        </p:nvSpPr>
        <p:spPr/>
        <p:txBody>
          <a:bodyPr/>
          <a:lstStyle/>
          <a:p>
            <a:r>
              <a:rPr lang="en-US"/>
              <a:t>Eng. Aisha Al-Sadi | HTU | Al Hussein Technical University</a:t>
            </a:r>
          </a:p>
        </p:txBody>
      </p:sp>
      <p:sp>
        <p:nvSpPr>
          <p:cNvPr id="9" name="Slide Number Placeholder 8">
            <a:extLst>
              <a:ext uri="{FF2B5EF4-FFF2-40B4-BE49-F238E27FC236}">
                <a16:creationId xmlns:a16="http://schemas.microsoft.com/office/drawing/2014/main" id="{7046EF5D-7973-9214-0D14-23D3F1EB05B8}"/>
              </a:ext>
            </a:extLst>
          </p:cNvPr>
          <p:cNvSpPr>
            <a:spLocks noGrp="1"/>
          </p:cNvSpPr>
          <p:nvPr>
            <p:ph type="sldNum" sz="quarter" idx="12"/>
          </p:nvPr>
        </p:nvSpPr>
        <p:spPr/>
        <p:txBody>
          <a:bodyPr/>
          <a:lstStyle/>
          <a:p>
            <a:fld id="{FD97C469-14A9-4BE4-BDC2-AF98C32D29B7}" type="slidenum">
              <a:rPr lang="en-US" smtClean="0"/>
              <a:t>21</a:t>
            </a:fld>
            <a:endParaRPr lang="en-US"/>
          </a:p>
        </p:txBody>
      </p:sp>
    </p:spTree>
    <p:extLst>
      <p:ext uri="{BB962C8B-B14F-4D97-AF65-F5344CB8AC3E}">
        <p14:creationId xmlns:p14="http://schemas.microsoft.com/office/powerpoint/2010/main" val="734036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4">
            <a:extLst>
              <a:ext uri="{FF2B5EF4-FFF2-40B4-BE49-F238E27FC236}">
                <a16:creationId xmlns:a16="http://schemas.microsoft.com/office/drawing/2014/main" id="{1E362BDB-4462-487A-A634-F8C045002380}"/>
              </a:ext>
            </a:extLst>
          </p:cNvPr>
          <p:cNvGraphicFramePr>
            <a:graphicFrameLocks noGrp="1"/>
          </p:cNvGraphicFramePr>
          <p:nvPr>
            <p:extLst>
              <p:ext uri="{D42A27DB-BD31-4B8C-83A1-F6EECF244321}">
                <p14:modId xmlns:p14="http://schemas.microsoft.com/office/powerpoint/2010/main" val="649163496"/>
              </p:ext>
            </p:extLst>
          </p:nvPr>
        </p:nvGraphicFramePr>
        <p:xfrm>
          <a:off x="2601286" y="2724611"/>
          <a:ext cx="5173557" cy="1854200"/>
        </p:xfrm>
        <a:graphic>
          <a:graphicData uri="http://schemas.openxmlformats.org/drawingml/2006/table">
            <a:tbl>
              <a:tblPr firstRow="1" bandRow="1">
                <a:tableStyleId>{5C22544A-7EE6-4342-B048-85BDC9FD1C3A}</a:tableStyleId>
              </a:tblPr>
              <a:tblGrid>
                <a:gridCol w="2174975">
                  <a:extLst>
                    <a:ext uri="{9D8B030D-6E8A-4147-A177-3AD203B41FA5}">
                      <a16:colId xmlns:a16="http://schemas.microsoft.com/office/drawing/2014/main" val="2040143476"/>
                    </a:ext>
                  </a:extLst>
                </a:gridCol>
                <a:gridCol w="1579461">
                  <a:extLst>
                    <a:ext uri="{9D8B030D-6E8A-4147-A177-3AD203B41FA5}">
                      <a16:colId xmlns:a16="http://schemas.microsoft.com/office/drawing/2014/main" val="1499727344"/>
                    </a:ext>
                  </a:extLst>
                </a:gridCol>
                <a:gridCol w="1419121">
                  <a:extLst>
                    <a:ext uri="{9D8B030D-6E8A-4147-A177-3AD203B41FA5}">
                      <a16:colId xmlns:a16="http://schemas.microsoft.com/office/drawing/2014/main" val="3934180871"/>
                    </a:ext>
                  </a:extLst>
                </a:gridCol>
              </a:tblGrid>
              <a:tr h="370840">
                <a:tc gridSpan="3">
                  <a:txBody>
                    <a:bodyPr/>
                    <a:lstStyle/>
                    <a:p>
                      <a:pPr algn="ctr"/>
                      <a:r>
                        <a:rPr lang="en-US" dirty="0"/>
                        <a:t>Employee table</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157279347"/>
                  </a:ext>
                </a:extLst>
              </a:tr>
              <a:tr h="370840">
                <a:tc>
                  <a:txBody>
                    <a:bodyPr/>
                    <a:lstStyle/>
                    <a:p>
                      <a:r>
                        <a:rPr lang="en-US" b="1" dirty="0"/>
                        <a:t>First name</a:t>
                      </a:r>
                    </a:p>
                  </a:txBody>
                  <a:tcPr>
                    <a:solidFill>
                      <a:schemeClr val="accent1">
                        <a:lumMod val="60000"/>
                        <a:lumOff val="40000"/>
                      </a:schemeClr>
                    </a:solidFill>
                  </a:tcPr>
                </a:tc>
                <a:tc>
                  <a:txBody>
                    <a:bodyPr/>
                    <a:lstStyle/>
                    <a:p>
                      <a:r>
                        <a:rPr lang="en-US" b="1" dirty="0"/>
                        <a:t>last name</a:t>
                      </a:r>
                    </a:p>
                  </a:txBody>
                  <a:tcPr>
                    <a:solidFill>
                      <a:schemeClr val="accent1">
                        <a:lumMod val="60000"/>
                        <a:lumOff val="40000"/>
                      </a:schemeClr>
                    </a:solidFill>
                  </a:tcPr>
                </a:tc>
                <a:tc>
                  <a:txBody>
                    <a:bodyPr/>
                    <a:lstStyle/>
                    <a:p>
                      <a:r>
                        <a:rPr lang="en-US" b="1" dirty="0"/>
                        <a:t>SSN</a:t>
                      </a:r>
                    </a:p>
                  </a:txBody>
                  <a:tcPr>
                    <a:solidFill>
                      <a:schemeClr val="accent1">
                        <a:lumMod val="60000"/>
                        <a:lumOff val="40000"/>
                      </a:schemeClr>
                    </a:solidFill>
                  </a:tcPr>
                </a:tc>
                <a:extLst>
                  <a:ext uri="{0D108BD9-81ED-4DB2-BD59-A6C34878D82A}">
                    <a16:rowId xmlns:a16="http://schemas.microsoft.com/office/drawing/2014/main" val="168043011"/>
                  </a:ext>
                </a:extLst>
              </a:tr>
              <a:tr h="370840">
                <a:tc>
                  <a:txBody>
                    <a:bodyPr/>
                    <a:lstStyle/>
                    <a:p>
                      <a:r>
                        <a:rPr lang="en-US" dirty="0"/>
                        <a:t>John</a:t>
                      </a:r>
                    </a:p>
                  </a:txBody>
                  <a:tcPr/>
                </a:tc>
                <a:tc>
                  <a:txBody>
                    <a:bodyPr/>
                    <a:lstStyle/>
                    <a:p>
                      <a:r>
                        <a:rPr lang="en-US" dirty="0"/>
                        <a:t>Smith</a:t>
                      </a:r>
                    </a:p>
                  </a:txBody>
                  <a:tcPr/>
                </a:tc>
                <a:tc>
                  <a:txBody>
                    <a:bodyPr/>
                    <a:lstStyle/>
                    <a:p>
                      <a:r>
                        <a:rPr lang="en-US" dirty="0"/>
                        <a:t>9925202152</a:t>
                      </a:r>
                    </a:p>
                  </a:txBody>
                  <a:tcPr/>
                </a:tc>
                <a:extLst>
                  <a:ext uri="{0D108BD9-81ED-4DB2-BD59-A6C34878D82A}">
                    <a16:rowId xmlns:a16="http://schemas.microsoft.com/office/drawing/2014/main" val="381175578"/>
                  </a:ext>
                </a:extLst>
              </a:tr>
              <a:tr h="370840">
                <a:tc>
                  <a:txBody>
                    <a:bodyPr/>
                    <a:lstStyle/>
                    <a:p>
                      <a:r>
                        <a:rPr lang="en-US" dirty="0"/>
                        <a:t>Mary</a:t>
                      </a:r>
                    </a:p>
                  </a:txBody>
                  <a:tcPr/>
                </a:tc>
                <a:tc>
                  <a:txBody>
                    <a:bodyPr/>
                    <a:lstStyle/>
                    <a:p>
                      <a:r>
                        <a:rPr lang="en-US" dirty="0"/>
                        <a:t>Kadin</a:t>
                      </a:r>
                    </a:p>
                  </a:txBody>
                  <a:tcPr/>
                </a:tc>
                <a:tc>
                  <a:txBody>
                    <a:bodyPr/>
                    <a:lstStyle/>
                    <a:p>
                      <a:r>
                        <a:rPr lang="en-US" dirty="0"/>
                        <a:t>6956525212</a:t>
                      </a:r>
                    </a:p>
                  </a:txBody>
                  <a:tcPr/>
                </a:tc>
                <a:extLst>
                  <a:ext uri="{0D108BD9-81ED-4DB2-BD59-A6C34878D82A}">
                    <a16:rowId xmlns:a16="http://schemas.microsoft.com/office/drawing/2014/main" val="2044137122"/>
                  </a:ext>
                </a:extLst>
              </a:tr>
              <a:tr h="370840">
                <a:tc>
                  <a:txBody>
                    <a:bodyPr/>
                    <a:lstStyle/>
                    <a:p>
                      <a:r>
                        <a:rPr lang="en-US" dirty="0"/>
                        <a:t>Allis</a:t>
                      </a:r>
                    </a:p>
                  </a:txBody>
                  <a:tcPr/>
                </a:tc>
                <a:tc>
                  <a:txBody>
                    <a:bodyPr/>
                    <a:lstStyle/>
                    <a:p>
                      <a:r>
                        <a:rPr lang="en-US" dirty="0"/>
                        <a:t>Edward</a:t>
                      </a:r>
                    </a:p>
                  </a:txBody>
                  <a:tcPr/>
                </a:tc>
                <a:tc>
                  <a:txBody>
                    <a:bodyPr/>
                    <a:lstStyle/>
                    <a:p>
                      <a:r>
                        <a:rPr lang="en-US" dirty="0"/>
                        <a:t>2202021254</a:t>
                      </a:r>
                    </a:p>
                  </a:txBody>
                  <a:tcPr/>
                </a:tc>
                <a:extLst>
                  <a:ext uri="{0D108BD9-81ED-4DB2-BD59-A6C34878D82A}">
                    <a16:rowId xmlns:a16="http://schemas.microsoft.com/office/drawing/2014/main" val="244871019"/>
                  </a:ext>
                </a:extLst>
              </a:tr>
            </a:tbl>
          </a:graphicData>
        </a:graphic>
      </p:graphicFrame>
      <p:sp>
        <p:nvSpPr>
          <p:cNvPr id="5" name="Left Brace 4">
            <a:extLst>
              <a:ext uri="{FF2B5EF4-FFF2-40B4-BE49-F238E27FC236}">
                <a16:creationId xmlns:a16="http://schemas.microsoft.com/office/drawing/2014/main" id="{FBC8582B-3B0F-4E95-A899-40B4FB59F0D7}"/>
              </a:ext>
            </a:extLst>
          </p:cNvPr>
          <p:cNvSpPr/>
          <p:nvPr/>
        </p:nvSpPr>
        <p:spPr>
          <a:xfrm rot="5400000">
            <a:off x="4998321" y="-199389"/>
            <a:ext cx="379486" cy="5173557"/>
          </a:xfrm>
          <a:prstGeom prst="leftBrace">
            <a:avLst>
              <a:gd name="adj1" fmla="val 529336"/>
              <a:gd name="adj2" fmla="val 509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a:p>
        </p:txBody>
      </p:sp>
      <p:sp>
        <p:nvSpPr>
          <p:cNvPr id="6" name="Rectangle 5">
            <a:extLst>
              <a:ext uri="{FF2B5EF4-FFF2-40B4-BE49-F238E27FC236}">
                <a16:creationId xmlns:a16="http://schemas.microsoft.com/office/drawing/2014/main" id="{ABC15E6E-52C6-4E3A-ADBC-D51B8B1898A1}"/>
              </a:ext>
            </a:extLst>
          </p:cNvPr>
          <p:cNvSpPr/>
          <p:nvPr/>
        </p:nvSpPr>
        <p:spPr>
          <a:xfrm>
            <a:off x="3730876" y="1785353"/>
            <a:ext cx="4279952" cy="338554"/>
          </a:xfrm>
          <a:prstGeom prst="rect">
            <a:avLst/>
          </a:prstGeom>
        </p:spPr>
        <p:txBody>
          <a:bodyPr wrap="square">
            <a:spAutoFit/>
          </a:bodyPr>
          <a:lstStyle/>
          <a:p>
            <a:pPr>
              <a:spcBef>
                <a:spcPts val="300"/>
              </a:spcBef>
              <a:buClr>
                <a:srgbClr val="009CAC"/>
              </a:buClr>
            </a:pPr>
            <a:r>
              <a:rPr lang="en-US" sz="1600" b="1" dirty="0">
                <a:solidFill>
                  <a:srgbClr val="006B76"/>
                </a:solidFill>
              </a:rPr>
              <a:t>The whole table called entity type</a:t>
            </a:r>
            <a:endParaRPr lang="en-US" sz="1600" b="1" dirty="0"/>
          </a:p>
        </p:txBody>
      </p:sp>
      <p:cxnSp>
        <p:nvCxnSpPr>
          <p:cNvPr id="8" name="Straight Arrow Connector 7">
            <a:extLst>
              <a:ext uri="{FF2B5EF4-FFF2-40B4-BE49-F238E27FC236}">
                <a16:creationId xmlns:a16="http://schemas.microsoft.com/office/drawing/2014/main" id="{5BD0659A-AB59-4465-9784-0C29B47795EB}"/>
              </a:ext>
            </a:extLst>
          </p:cNvPr>
          <p:cNvCxnSpPr>
            <a:cxnSpLocks/>
            <a:stCxn id="12" idx="1"/>
          </p:cNvCxnSpPr>
          <p:nvPr/>
        </p:nvCxnSpPr>
        <p:spPr>
          <a:xfrm flipH="1">
            <a:off x="7826470" y="3711425"/>
            <a:ext cx="368718"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2" name="Rectangle 11">
            <a:extLst>
              <a:ext uri="{FF2B5EF4-FFF2-40B4-BE49-F238E27FC236}">
                <a16:creationId xmlns:a16="http://schemas.microsoft.com/office/drawing/2014/main" id="{64C19ED0-56A3-4A1C-A48A-55D19C904A90}"/>
              </a:ext>
            </a:extLst>
          </p:cNvPr>
          <p:cNvSpPr/>
          <p:nvPr/>
        </p:nvSpPr>
        <p:spPr>
          <a:xfrm>
            <a:off x="8195188" y="3542148"/>
            <a:ext cx="3708352" cy="338554"/>
          </a:xfrm>
          <a:prstGeom prst="rect">
            <a:avLst/>
          </a:prstGeom>
        </p:spPr>
        <p:txBody>
          <a:bodyPr wrap="square">
            <a:spAutoFit/>
          </a:bodyPr>
          <a:lstStyle/>
          <a:p>
            <a:pPr>
              <a:spcBef>
                <a:spcPts val="300"/>
              </a:spcBef>
              <a:buClr>
                <a:srgbClr val="009CAC"/>
              </a:buClr>
            </a:pPr>
            <a:r>
              <a:rPr lang="en-US" sz="1600" b="1" dirty="0">
                <a:solidFill>
                  <a:srgbClr val="006B76"/>
                </a:solidFill>
              </a:rPr>
              <a:t>The first row individually named entity</a:t>
            </a:r>
            <a:endParaRPr lang="en-US" sz="1600" b="1" dirty="0"/>
          </a:p>
        </p:txBody>
      </p:sp>
      <p:cxnSp>
        <p:nvCxnSpPr>
          <p:cNvPr id="16" name="Straight Arrow Connector 15">
            <a:extLst>
              <a:ext uri="{FF2B5EF4-FFF2-40B4-BE49-F238E27FC236}">
                <a16:creationId xmlns:a16="http://schemas.microsoft.com/office/drawing/2014/main" id="{C102971C-F6FD-47CA-822A-17ECA0ED4A53}"/>
              </a:ext>
            </a:extLst>
          </p:cNvPr>
          <p:cNvCxnSpPr>
            <a:cxnSpLocks/>
          </p:cNvCxnSpPr>
          <p:nvPr/>
        </p:nvCxnSpPr>
        <p:spPr>
          <a:xfrm flipH="1">
            <a:off x="7826470" y="4056233"/>
            <a:ext cx="36871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Rectangle 16">
            <a:extLst>
              <a:ext uri="{FF2B5EF4-FFF2-40B4-BE49-F238E27FC236}">
                <a16:creationId xmlns:a16="http://schemas.microsoft.com/office/drawing/2014/main" id="{98958EC0-E899-41F2-8791-12871DEFF1A3}"/>
              </a:ext>
            </a:extLst>
          </p:cNvPr>
          <p:cNvSpPr/>
          <p:nvPr/>
        </p:nvSpPr>
        <p:spPr>
          <a:xfrm>
            <a:off x="8195187" y="3866900"/>
            <a:ext cx="3996813" cy="338554"/>
          </a:xfrm>
          <a:prstGeom prst="rect">
            <a:avLst/>
          </a:prstGeom>
        </p:spPr>
        <p:txBody>
          <a:bodyPr wrap="square">
            <a:spAutoFit/>
          </a:bodyPr>
          <a:lstStyle/>
          <a:p>
            <a:pPr>
              <a:spcBef>
                <a:spcPts val="300"/>
              </a:spcBef>
              <a:buClr>
                <a:srgbClr val="009CAC"/>
              </a:buClr>
            </a:pPr>
            <a:r>
              <a:rPr lang="en-US" sz="1600" b="1" dirty="0">
                <a:solidFill>
                  <a:srgbClr val="006B76"/>
                </a:solidFill>
              </a:rPr>
              <a:t>The second row individually named entity</a:t>
            </a:r>
            <a:endParaRPr lang="en-US" sz="1600" b="1" dirty="0"/>
          </a:p>
        </p:txBody>
      </p:sp>
      <p:cxnSp>
        <p:nvCxnSpPr>
          <p:cNvPr id="18" name="Straight Arrow Connector 17">
            <a:extLst>
              <a:ext uri="{FF2B5EF4-FFF2-40B4-BE49-F238E27FC236}">
                <a16:creationId xmlns:a16="http://schemas.microsoft.com/office/drawing/2014/main" id="{0F787A37-867D-4BE9-9677-6A221E6D4E0F}"/>
              </a:ext>
            </a:extLst>
          </p:cNvPr>
          <p:cNvCxnSpPr>
            <a:cxnSpLocks/>
            <a:stCxn id="19" idx="1"/>
          </p:cNvCxnSpPr>
          <p:nvPr/>
        </p:nvCxnSpPr>
        <p:spPr>
          <a:xfrm flipH="1">
            <a:off x="7826470" y="4409534"/>
            <a:ext cx="36871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9" name="Rectangle 18">
            <a:extLst>
              <a:ext uri="{FF2B5EF4-FFF2-40B4-BE49-F238E27FC236}">
                <a16:creationId xmlns:a16="http://schemas.microsoft.com/office/drawing/2014/main" id="{62AC6155-8324-437D-877D-5ED363561EB1}"/>
              </a:ext>
            </a:extLst>
          </p:cNvPr>
          <p:cNvSpPr/>
          <p:nvPr/>
        </p:nvSpPr>
        <p:spPr>
          <a:xfrm>
            <a:off x="8195187" y="4240257"/>
            <a:ext cx="3785412" cy="338554"/>
          </a:xfrm>
          <a:prstGeom prst="rect">
            <a:avLst/>
          </a:prstGeom>
        </p:spPr>
        <p:txBody>
          <a:bodyPr wrap="square">
            <a:spAutoFit/>
          </a:bodyPr>
          <a:lstStyle/>
          <a:p>
            <a:pPr>
              <a:spcBef>
                <a:spcPts val="300"/>
              </a:spcBef>
              <a:buClr>
                <a:srgbClr val="009CAC"/>
              </a:buClr>
            </a:pPr>
            <a:r>
              <a:rPr lang="en-US" sz="1600" b="1" dirty="0">
                <a:solidFill>
                  <a:srgbClr val="006B76"/>
                </a:solidFill>
              </a:rPr>
              <a:t>The third row individually named entity</a:t>
            </a:r>
            <a:endParaRPr lang="en-US" sz="1600" b="1" dirty="0"/>
          </a:p>
        </p:txBody>
      </p:sp>
      <p:sp>
        <p:nvSpPr>
          <p:cNvPr id="14" name="Left Brace 13">
            <a:extLst>
              <a:ext uri="{FF2B5EF4-FFF2-40B4-BE49-F238E27FC236}">
                <a16:creationId xmlns:a16="http://schemas.microsoft.com/office/drawing/2014/main" id="{A5A9EE0A-3675-4B9B-8BB2-A238F98C19CA}"/>
              </a:ext>
            </a:extLst>
          </p:cNvPr>
          <p:cNvSpPr/>
          <p:nvPr/>
        </p:nvSpPr>
        <p:spPr>
          <a:xfrm>
            <a:off x="2080820" y="3542147"/>
            <a:ext cx="379486" cy="1036663"/>
          </a:xfrm>
          <a:prstGeom prst="leftBrace">
            <a:avLst>
              <a:gd name="adj1" fmla="val 529336"/>
              <a:gd name="adj2" fmla="val 509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a:p>
        </p:txBody>
      </p:sp>
      <p:sp>
        <p:nvSpPr>
          <p:cNvPr id="15" name="Rectangle 14">
            <a:extLst>
              <a:ext uri="{FF2B5EF4-FFF2-40B4-BE49-F238E27FC236}">
                <a16:creationId xmlns:a16="http://schemas.microsoft.com/office/drawing/2014/main" id="{B125C93B-B45F-4570-9C55-E74D5C7167F3}"/>
              </a:ext>
            </a:extLst>
          </p:cNvPr>
          <p:cNvSpPr/>
          <p:nvPr/>
        </p:nvSpPr>
        <p:spPr>
          <a:xfrm>
            <a:off x="288460" y="3640734"/>
            <a:ext cx="1892481" cy="830997"/>
          </a:xfrm>
          <a:prstGeom prst="rect">
            <a:avLst/>
          </a:prstGeom>
        </p:spPr>
        <p:txBody>
          <a:bodyPr wrap="square">
            <a:spAutoFit/>
          </a:bodyPr>
          <a:lstStyle/>
          <a:p>
            <a:pPr>
              <a:spcBef>
                <a:spcPts val="300"/>
              </a:spcBef>
              <a:buClr>
                <a:srgbClr val="009CAC"/>
              </a:buClr>
            </a:pPr>
            <a:r>
              <a:rPr lang="en-US" sz="1600" b="1" dirty="0">
                <a:solidFill>
                  <a:srgbClr val="006B76"/>
                </a:solidFill>
              </a:rPr>
              <a:t>The three rows together named entity set</a:t>
            </a:r>
            <a:endParaRPr lang="en-US" sz="1600" b="1" dirty="0"/>
          </a:p>
        </p:txBody>
      </p:sp>
      <p:sp>
        <p:nvSpPr>
          <p:cNvPr id="4" name="Title 3">
            <a:extLst>
              <a:ext uri="{FF2B5EF4-FFF2-40B4-BE49-F238E27FC236}">
                <a16:creationId xmlns:a16="http://schemas.microsoft.com/office/drawing/2014/main" id="{54400E49-25BF-6F65-4570-FD2B8777A8AC}"/>
              </a:ext>
            </a:extLst>
          </p:cNvPr>
          <p:cNvSpPr>
            <a:spLocks noGrp="1"/>
          </p:cNvSpPr>
          <p:nvPr>
            <p:ph type="title"/>
          </p:nvPr>
        </p:nvSpPr>
        <p:spPr>
          <a:xfrm>
            <a:off x="989704" y="920554"/>
            <a:ext cx="10058400" cy="1450757"/>
          </a:xfrm>
        </p:spPr>
        <p:txBody>
          <a:bodyPr/>
          <a:lstStyle/>
          <a:p>
            <a:r>
              <a:rPr lang="en-US" sz="4800" b="1" i="0" dirty="0"/>
              <a:t>Entity vs. Entity Type vs. Entity Set</a:t>
            </a:r>
            <a:br>
              <a:rPr lang="en-US" sz="4800" b="1" i="0" dirty="0"/>
            </a:br>
            <a:endParaRPr lang="en-US" b="1" dirty="0"/>
          </a:p>
        </p:txBody>
      </p:sp>
      <p:sp>
        <p:nvSpPr>
          <p:cNvPr id="11" name="Footer Placeholder 10">
            <a:extLst>
              <a:ext uri="{FF2B5EF4-FFF2-40B4-BE49-F238E27FC236}">
                <a16:creationId xmlns:a16="http://schemas.microsoft.com/office/drawing/2014/main" id="{FCFAE826-9356-8551-05D4-EB2A4007F29B}"/>
              </a:ext>
            </a:extLst>
          </p:cNvPr>
          <p:cNvSpPr>
            <a:spLocks noGrp="1"/>
          </p:cNvSpPr>
          <p:nvPr>
            <p:ph type="ftr" sz="quarter" idx="11"/>
          </p:nvPr>
        </p:nvSpPr>
        <p:spPr/>
        <p:txBody>
          <a:bodyPr/>
          <a:lstStyle/>
          <a:p>
            <a:r>
              <a:rPr lang="en-US"/>
              <a:t>Eng. Aisha Al-Sadi | HTU | Al Hussein Technical University</a:t>
            </a:r>
          </a:p>
        </p:txBody>
      </p:sp>
      <p:sp>
        <p:nvSpPr>
          <p:cNvPr id="13" name="Slide Number Placeholder 12">
            <a:extLst>
              <a:ext uri="{FF2B5EF4-FFF2-40B4-BE49-F238E27FC236}">
                <a16:creationId xmlns:a16="http://schemas.microsoft.com/office/drawing/2014/main" id="{B707DD5A-C3C2-AF05-DF8A-4D8183C86B2E}"/>
              </a:ext>
            </a:extLst>
          </p:cNvPr>
          <p:cNvSpPr>
            <a:spLocks noGrp="1"/>
          </p:cNvSpPr>
          <p:nvPr>
            <p:ph type="sldNum" sz="quarter" idx="12"/>
          </p:nvPr>
        </p:nvSpPr>
        <p:spPr/>
        <p:txBody>
          <a:bodyPr/>
          <a:lstStyle/>
          <a:p>
            <a:fld id="{FD97C469-14A9-4BE4-BDC2-AF98C32D29B7}" type="slidenum">
              <a:rPr lang="en-US" smtClean="0"/>
              <a:t>22</a:t>
            </a:fld>
            <a:endParaRPr lang="en-US"/>
          </a:p>
        </p:txBody>
      </p:sp>
    </p:spTree>
    <p:extLst>
      <p:ext uri="{BB962C8B-B14F-4D97-AF65-F5344CB8AC3E}">
        <p14:creationId xmlns:p14="http://schemas.microsoft.com/office/powerpoint/2010/main" val="7575217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A003A-DD2F-460B-9A80-E67AE0B4CCBC}"/>
              </a:ext>
            </a:extLst>
          </p:cNvPr>
          <p:cNvSpPr>
            <a:spLocks noGrp="1"/>
          </p:cNvSpPr>
          <p:nvPr>
            <p:ph type="title"/>
          </p:nvPr>
        </p:nvSpPr>
        <p:spPr/>
        <p:txBody>
          <a:bodyPr/>
          <a:lstStyle/>
          <a:p>
            <a:r>
              <a:rPr lang="en-US" b="1" dirty="0"/>
              <a:t>ERD Notations in Data Modeling</a:t>
            </a:r>
          </a:p>
        </p:txBody>
      </p:sp>
      <p:sp>
        <p:nvSpPr>
          <p:cNvPr id="3" name="Content Placeholder 2">
            <a:extLst>
              <a:ext uri="{FF2B5EF4-FFF2-40B4-BE49-F238E27FC236}">
                <a16:creationId xmlns:a16="http://schemas.microsoft.com/office/drawing/2014/main" id="{3B3274B2-838E-40B0-B9CA-C3E61DB7D92A}"/>
              </a:ext>
            </a:extLst>
          </p:cNvPr>
          <p:cNvSpPr>
            <a:spLocks noGrp="1"/>
          </p:cNvSpPr>
          <p:nvPr>
            <p:ph idx="1"/>
          </p:nvPr>
        </p:nvSpPr>
        <p:spPr/>
        <p:txBody>
          <a:bodyPr/>
          <a:lstStyle/>
          <a:p>
            <a:pPr marL="0" indent="0">
              <a:buNone/>
            </a:pPr>
            <a:r>
              <a:rPr lang="en-US" dirty="0"/>
              <a:t>Different Notations</a:t>
            </a:r>
          </a:p>
          <a:p>
            <a:pPr marL="578358" lvl="1" indent="-285750"/>
            <a:r>
              <a:rPr lang="en-US" dirty="0"/>
              <a:t>Barker’s Notation</a:t>
            </a:r>
          </a:p>
          <a:p>
            <a:pPr marL="578358" lvl="1" indent="-285750"/>
            <a:r>
              <a:rPr lang="en-US" dirty="0"/>
              <a:t>Chen Notation</a:t>
            </a:r>
          </a:p>
          <a:p>
            <a:pPr marL="578358" lvl="1" indent="-285750"/>
            <a:r>
              <a:rPr lang="en-US" dirty="0"/>
              <a:t>IDEF1X Notation</a:t>
            </a:r>
          </a:p>
          <a:p>
            <a:pPr marL="578358" lvl="1" indent="-285750"/>
            <a:r>
              <a:rPr lang="en-US" dirty="0"/>
              <a:t>Arrow Notation</a:t>
            </a:r>
          </a:p>
          <a:p>
            <a:pPr marL="578358" lvl="1" indent="-285750"/>
            <a:r>
              <a:rPr lang="en-US" dirty="0"/>
              <a:t>UML Notation</a:t>
            </a:r>
          </a:p>
          <a:p>
            <a:pPr marL="578358" lvl="1" indent="-285750"/>
            <a:r>
              <a:rPr lang="en-US" b="1" dirty="0"/>
              <a:t>Crow’s Foot Notation; we will use in this course.</a:t>
            </a:r>
          </a:p>
          <a:p>
            <a:pPr marL="285750" indent="-285750"/>
            <a:endParaRPr lang="en-US" dirty="0"/>
          </a:p>
        </p:txBody>
      </p:sp>
      <p:sp>
        <p:nvSpPr>
          <p:cNvPr id="7" name="Footer Placeholder 6">
            <a:extLst>
              <a:ext uri="{FF2B5EF4-FFF2-40B4-BE49-F238E27FC236}">
                <a16:creationId xmlns:a16="http://schemas.microsoft.com/office/drawing/2014/main" id="{149B8318-5A26-52A7-C2DD-F5B82A26BC09}"/>
              </a:ext>
            </a:extLst>
          </p:cNvPr>
          <p:cNvSpPr>
            <a:spLocks noGrp="1"/>
          </p:cNvSpPr>
          <p:nvPr>
            <p:ph type="ftr" sz="quarter" idx="11"/>
          </p:nvPr>
        </p:nvSpPr>
        <p:spPr/>
        <p:txBody>
          <a:bodyPr/>
          <a:lstStyle/>
          <a:p>
            <a:r>
              <a:rPr lang="en-US"/>
              <a:t>Eng. Aisha Al-Sadi | HTU | Al Hussein Technical University</a:t>
            </a:r>
          </a:p>
        </p:txBody>
      </p:sp>
      <p:sp>
        <p:nvSpPr>
          <p:cNvPr id="8" name="Slide Number Placeholder 7">
            <a:extLst>
              <a:ext uri="{FF2B5EF4-FFF2-40B4-BE49-F238E27FC236}">
                <a16:creationId xmlns:a16="http://schemas.microsoft.com/office/drawing/2014/main" id="{6C570D78-D72C-D51B-9723-09900B4D509C}"/>
              </a:ext>
            </a:extLst>
          </p:cNvPr>
          <p:cNvSpPr>
            <a:spLocks noGrp="1"/>
          </p:cNvSpPr>
          <p:nvPr>
            <p:ph type="sldNum" sz="quarter" idx="12"/>
          </p:nvPr>
        </p:nvSpPr>
        <p:spPr/>
        <p:txBody>
          <a:bodyPr/>
          <a:lstStyle/>
          <a:p>
            <a:fld id="{FD97C469-14A9-4BE4-BDC2-AF98C32D29B7}" type="slidenum">
              <a:rPr lang="en-US" smtClean="0"/>
              <a:t>23</a:t>
            </a:fld>
            <a:endParaRPr lang="en-US"/>
          </a:p>
        </p:txBody>
      </p:sp>
    </p:spTree>
    <p:extLst>
      <p:ext uri="{BB962C8B-B14F-4D97-AF65-F5344CB8AC3E}">
        <p14:creationId xmlns:p14="http://schemas.microsoft.com/office/powerpoint/2010/main" val="3691089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41459" y="2173288"/>
            <a:ext cx="1944726" cy="338554"/>
          </a:xfrm>
          <a:prstGeom prst="rect">
            <a:avLst/>
          </a:prstGeom>
        </p:spPr>
        <p:txBody>
          <a:bodyPr wrap="square">
            <a:spAutoFit/>
          </a:bodyPr>
          <a:lstStyle/>
          <a:p>
            <a:pPr marL="285750" indent="-285750">
              <a:spcBef>
                <a:spcPts val="300"/>
              </a:spcBef>
              <a:buClr>
                <a:srgbClr val="009CAC"/>
              </a:buClr>
              <a:buFont typeface="Arial" panose="020B0604020202020204" pitchFamily="34" charset="0"/>
              <a:buChar char="►"/>
            </a:pPr>
            <a:r>
              <a:rPr lang="en-US" sz="1600" b="1" dirty="0">
                <a:solidFill>
                  <a:srgbClr val="006B76"/>
                </a:solidFill>
              </a:rPr>
              <a:t>Entity type:</a:t>
            </a:r>
          </a:p>
        </p:txBody>
      </p:sp>
      <p:sp>
        <p:nvSpPr>
          <p:cNvPr id="6" name="Rectangle 5">
            <a:extLst>
              <a:ext uri="{FF2B5EF4-FFF2-40B4-BE49-F238E27FC236}">
                <a16:creationId xmlns:a16="http://schemas.microsoft.com/office/drawing/2014/main" id="{91A9A7DA-77DB-487E-B430-A836AF61D952}"/>
              </a:ext>
            </a:extLst>
          </p:cNvPr>
          <p:cNvSpPr/>
          <p:nvPr/>
        </p:nvSpPr>
        <p:spPr>
          <a:xfrm>
            <a:off x="5774211" y="2179675"/>
            <a:ext cx="1944726" cy="338554"/>
          </a:xfrm>
          <a:prstGeom prst="rect">
            <a:avLst/>
          </a:prstGeom>
        </p:spPr>
        <p:txBody>
          <a:bodyPr wrap="square">
            <a:spAutoFit/>
          </a:bodyPr>
          <a:lstStyle/>
          <a:p>
            <a:pPr marL="285750" indent="-285750">
              <a:spcBef>
                <a:spcPts val="300"/>
              </a:spcBef>
              <a:buClr>
                <a:srgbClr val="009CAC"/>
              </a:buClr>
              <a:buFont typeface="Arial" panose="020B0604020202020204" pitchFamily="34" charset="0"/>
              <a:buChar char="►"/>
            </a:pPr>
            <a:r>
              <a:rPr lang="en-US" sz="1600" b="1" dirty="0">
                <a:solidFill>
                  <a:srgbClr val="006B76"/>
                </a:solidFill>
              </a:rPr>
              <a:t>Attributes</a:t>
            </a:r>
          </a:p>
        </p:txBody>
      </p:sp>
      <p:pic>
        <p:nvPicPr>
          <p:cNvPr id="15" name="Picture 14" descr="Graphical user interface, text, application&#10;&#10;Description automatically generated with medium confidence">
            <a:extLst>
              <a:ext uri="{FF2B5EF4-FFF2-40B4-BE49-F238E27FC236}">
                <a16:creationId xmlns:a16="http://schemas.microsoft.com/office/drawing/2014/main" id="{B707F85F-63C8-41E5-804F-4F4AED7972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3913" y="2540944"/>
            <a:ext cx="2571623" cy="1845486"/>
          </a:xfrm>
          <a:prstGeom prst="rect">
            <a:avLst/>
          </a:prstGeom>
        </p:spPr>
      </p:pic>
      <p:pic>
        <p:nvPicPr>
          <p:cNvPr id="17" name="Picture 16" descr="Graphical user interface, text, application&#10;&#10;Description automatically generated">
            <a:extLst>
              <a:ext uri="{FF2B5EF4-FFF2-40B4-BE49-F238E27FC236}">
                <a16:creationId xmlns:a16="http://schemas.microsoft.com/office/drawing/2014/main" id="{FDD61223-8F58-4E93-8241-953719B812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45501" y="2561821"/>
            <a:ext cx="2399560" cy="1815991"/>
          </a:xfrm>
          <a:prstGeom prst="rect">
            <a:avLst/>
          </a:prstGeom>
        </p:spPr>
      </p:pic>
      <p:sp>
        <p:nvSpPr>
          <p:cNvPr id="2" name="Title 1">
            <a:extLst>
              <a:ext uri="{FF2B5EF4-FFF2-40B4-BE49-F238E27FC236}">
                <a16:creationId xmlns:a16="http://schemas.microsoft.com/office/drawing/2014/main" id="{BEC1EF6F-3DBD-AAAB-3F29-8C8387A01440}"/>
              </a:ext>
            </a:extLst>
          </p:cNvPr>
          <p:cNvSpPr>
            <a:spLocks noGrp="1"/>
          </p:cNvSpPr>
          <p:nvPr>
            <p:ph type="title"/>
          </p:nvPr>
        </p:nvSpPr>
        <p:spPr>
          <a:xfrm>
            <a:off x="1134713" y="891808"/>
            <a:ext cx="10058400" cy="1450757"/>
          </a:xfrm>
        </p:spPr>
        <p:txBody>
          <a:bodyPr/>
          <a:lstStyle/>
          <a:p>
            <a:r>
              <a:rPr lang="en-US" altLang="en-US" sz="4800" b="1" dirty="0">
                <a:solidFill>
                  <a:schemeClr val="tx1">
                    <a:lumMod val="85000"/>
                    <a:lumOff val="15000"/>
                  </a:schemeClr>
                </a:solidFill>
              </a:rPr>
              <a:t>Notations for ER Diagrams</a:t>
            </a:r>
            <a:br>
              <a:rPr lang="en-US" altLang="en-US" sz="4800" b="1" dirty="0">
                <a:solidFill>
                  <a:schemeClr val="tx1">
                    <a:lumMod val="85000"/>
                    <a:lumOff val="15000"/>
                  </a:schemeClr>
                </a:solidFill>
              </a:rPr>
            </a:br>
            <a:endParaRPr lang="en-US" b="1" dirty="0"/>
          </a:p>
        </p:txBody>
      </p:sp>
      <p:sp>
        <p:nvSpPr>
          <p:cNvPr id="9" name="Footer Placeholder 8">
            <a:extLst>
              <a:ext uri="{FF2B5EF4-FFF2-40B4-BE49-F238E27FC236}">
                <a16:creationId xmlns:a16="http://schemas.microsoft.com/office/drawing/2014/main" id="{746FEE15-CE63-CB0A-9DE2-85F578F2921F}"/>
              </a:ext>
            </a:extLst>
          </p:cNvPr>
          <p:cNvSpPr>
            <a:spLocks noGrp="1"/>
          </p:cNvSpPr>
          <p:nvPr>
            <p:ph type="ftr" sz="quarter" idx="11"/>
          </p:nvPr>
        </p:nvSpPr>
        <p:spPr/>
        <p:txBody>
          <a:bodyPr/>
          <a:lstStyle/>
          <a:p>
            <a:r>
              <a:rPr lang="en-US"/>
              <a:t>Eng. Aisha Al-Sadi | HTU | Al Hussein Technical University</a:t>
            </a:r>
          </a:p>
        </p:txBody>
      </p:sp>
      <p:sp>
        <p:nvSpPr>
          <p:cNvPr id="10" name="Slide Number Placeholder 9">
            <a:extLst>
              <a:ext uri="{FF2B5EF4-FFF2-40B4-BE49-F238E27FC236}">
                <a16:creationId xmlns:a16="http://schemas.microsoft.com/office/drawing/2014/main" id="{E95EA382-3B64-F072-6C56-0C3603BB1223}"/>
              </a:ext>
            </a:extLst>
          </p:cNvPr>
          <p:cNvSpPr>
            <a:spLocks noGrp="1"/>
          </p:cNvSpPr>
          <p:nvPr>
            <p:ph type="sldNum" sz="quarter" idx="12"/>
          </p:nvPr>
        </p:nvSpPr>
        <p:spPr/>
        <p:txBody>
          <a:bodyPr/>
          <a:lstStyle/>
          <a:p>
            <a:fld id="{FD97C469-14A9-4BE4-BDC2-AF98C32D29B7}" type="slidenum">
              <a:rPr lang="en-US" smtClean="0"/>
              <a:t>24</a:t>
            </a:fld>
            <a:endParaRPr lang="en-US"/>
          </a:p>
        </p:txBody>
      </p:sp>
    </p:spTree>
    <p:extLst>
      <p:ext uri="{BB962C8B-B14F-4D97-AF65-F5344CB8AC3E}">
        <p14:creationId xmlns:p14="http://schemas.microsoft.com/office/powerpoint/2010/main" val="1036489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descr="Chart, box and whisker chart&#10;&#10;Description automatically generated">
            <a:extLst>
              <a:ext uri="{FF2B5EF4-FFF2-40B4-BE49-F238E27FC236}">
                <a16:creationId xmlns:a16="http://schemas.microsoft.com/office/drawing/2014/main" id="{B0491060-FE9A-430D-97E3-ED77DD5146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1291" y="2842074"/>
            <a:ext cx="6905430" cy="1984696"/>
          </a:xfrm>
          <a:prstGeom prst="rect">
            <a:avLst/>
          </a:prstGeom>
        </p:spPr>
      </p:pic>
      <p:sp>
        <p:nvSpPr>
          <p:cNvPr id="27" name="Rectangle 26">
            <a:extLst>
              <a:ext uri="{FF2B5EF4-FFF2-40B4-BE49-F238E27FC236}">
                <a16:creationId xmlns:a16="http://schemas.microsoft.com/office/drawing/2014/main" id="{E6D642BB-348F-4072-AD93-A79CA38A2332}"/>
              </a:ext>
            </a:extLst>
          </p:cNvPr>
          <p:cNvSpPr/>
          <p:nvPr/>
        </p:nvSpPr>
        <p:spPr>
          <a:xfrm>
            <a:off x="1514912" y="2132765"/>
            <a:ext cx="3541362" cy="623248"/>
          </a:xfrm>
          <a:prstGeom prst="rect">
            <a:avLst/>
          </a:prstGeom>
        </p:spPr>
        <p:txBody>
          <a:bodyPr wrap="square">
            <a:spAutoFit/>
          </a:bodyPr>
          <a:lstStyle/>
          <a:p>
            <a:pPr>
              <a:spcBef>
                <a:spcPts val="300"/>
              </a:spcBef>
              <a:buClr>
                <a:srgbClr val="009CAC"/>
              </a:buClr>
            </a:pPr>
            <a:r>
              <a:rPr lang="en-US" sz="1600" b="1" dirty="0">
                <a:solidFill>
                  <a:srgbClr val="006B76"/>
                </a:solidFill>
              </a:rPr>
              <a:t>Relationship:</a:t>
            </a:r>
          </a:p>
          <a:p>
            <a:pPr marL="742950" lvl="1" indent="-285750">
              <a:spcBef>
                <a:spcPts val="300"/>
              </a:spcBef>
              <a:buClr>
                <a:srgbClr val="009CAC"/>
              </a:buClr>
              <a:buFont typeface="Wingdings" panose="05000000000000000000" pitchFamily="2" charset="2"/>
              <a:buChar char="§"/>
            </a:pPr>
            <a:r>
              <a:rPr lang="en-US" sz="1600" dirty="0"/>
              <a:t>One-to-one relation (1:1)</a:t>
            </a:r>
            <a:endParaRPr lang="en-US" sz="1600" b="1" dirty="0">
              <a:solidFill>
                <a:srgbClr val="006B76"/>
              </a:solidFill>
            </a:endParaRPr>
          </a:p>
        </p:txBody>
      </p:sp>
      <p:sp>
        <p:nvSpPr>
          <p:cNvPr id="2" name="Title 1">
            <a:extLst>
              <a:ext uri="{FF2B5EF4-FFF2-40B4-BE49-F238E27FC236}">
                <a16:creationId xmlns:a16="http://schemas.microsoft.com/office/drawing/2014/main" id="{BEC1EF6F-3DBD-AAAB-3F29-8C8387A01440}"/>
              </a:ext>
            </a:extLst>
          </p:cNvPr>
          <p:cNvSpPr>
            <a:spLocks noGrp="1"/>
          </p:cNvSpPr>
          <p:nvPr>
            <p:ph type="title"/>
          </p:nvPr>
        </p:nvSpPr>
        <p:spPr>
          <a:xfrm>
            <a:off x="1066800" y="209429"/>
            <a:ext cx="10058400" cy="1450757"/>
          </a:xfrm>
        </p:spPr>
        <p:txBody>
          <a:bodyPr/>
          <a:lstStyle/>
          <a:p>
            <a:r>
              <a:rPr lang="en-US" altLang="en-US" sz="4800" b="1" dirty="0">
                <a:solidFill>
                  <a:schemeClr val="tx1">
                    <a:lumMod val="85000"/>
                    <a:lumOff val="15000"/>
                  </a:schemeClr>
                </a:solidFill>
              </a:rPr>
              <a:t>Notations for ER Diagrams</a:t>
            </a:r>
            <a:endParaRPr lang="en-US" b="1" dirty="0"/>
          </a:p>
        </p:txBody>
      </p:sp>
      <p:sp>
        <p:nvSpPr>
          <p:cNvPr id="9" name="Footer Placeholder 8">
            <a:extLst>
              <a:ext uri="{FF2B5EF4-FFF2-40B4-BE49-F238E27FC236}">
                <a16:creationId xmlns:a16="http://schemas.microsoft.com/office/drawing/2014/main" id="{067A3662-DD6C-5F85-DE5E-35C62EF6F68A}"/>
              </a:ext>
            </a:extLst>
          </p:cNvPr>
          <p:cNvSpPr>
            <a:spLocks noGrp="1"/>
          </p:cNvSpPr>
          <p:nvPr>
            <p:ph type="ftr" sz="quarter" idx="11"/>
          </p:nvPr>
        </p:nvSpPr>
        <p:spPr/>
        <p:txBody>
          <a:bodyPr/>
          <a:lstStyle/>
          <a:p>
            <a:r>
              <a:rPr lang="en-US"/>
              <a:t>Eng. Aisha Al-Sadi | HTU | Al Hussein Technical University</a:t>
            </a:r>
          </a:p>
        </p:txBody>
      </p:sp>
      <p:sp>
        <p:nvSpPr>
          <p:cNvPr id="10" name="Slide Number Placeholder 9">
            <a:extLst>
              <a:ext uri="{FF2B5EF4-FFF2-40B4-BE49-F238E27FC236}">
                <a16:creationId xmlns:a16="http://schemas.microsoft.com/office/drawing/2014/main" id="{06BCA32F-7E93-369F-ACB6-8CECA4D72942}"/>
              </a:ext>
            </a:extLst>
          </p:cNvPr>
          <p:cNvSpPr>
            <a:spLocks noGrp="1"/>
          </p:cNvSpPr>
          <p:nvPr>
            <p:ph type="sldNum" sz="quarter" idx="12"/>
          </p:nvPr>
        </p:nvSpPr>
        <p:spPr/>
        <p:txBody>
          <a:bodyPr/>
          <a:lstStyle/>
          <a:p>
            <a:fld id="{FD97C469-14A9-4BE4-BDC2-AF98C32D29B7}" type="slidenum">
              <a:rPr lang="en-US" smtClean="0"/>
              <a:t>25</a:t>
            </a:fld>
            <a:endParaRPr lang="en-US"/>
          </a:p>
        </p:txBody>
      </p:sp>
    </p:spTree>
    <p:extLst>
      <p:ext uri="{BB962C8B-B14F-4D97-AF65-F5344CB8AC3E}">
        <p14:creationId xmlns:p14="http://schemas.microsoft.com/office/powerpoint/2010/main" val="2921446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F4E2A6C-D63B-419E-9CBC-D3DD57D1512F}"/>
              </a:ext>
            </a:extLst>
          </p:cNvPr>
          <p:cNvSpPr/>
          <p:nvPr/>
        </p:nvSpPr>
        <p:spPr>
          <a:xfrm>
            <a:off x="1027697" y="2083546"/>
            <a:ext cx="3541362" cy="623248"/>
          </a:xfrm>
          <a:prstGeom prst="rect">
            <a:avLst/>
          </a:prstGeom>
        </p:spPr>
        <p:txBody>
          <a:bodyPr wrap="square">
            <a:spAutoFit/>
          </a:bodyPr>
          <a:lstStyle/>
          <a:p>
            <a:pPr marL="285750" indent="-285750">
              <a:spcBef>
                <a:spcPts val="300"/>
              </a:spcBef>
              <a:buClr>
                <a:srgbClr val="009CAC"/>
              </a:buClr>
              <a:buFont typeface="Arial" panose="020B0604020202020204" pitchFamily="34" charset="0"/>
              <a:buChar char="►"/>
            </a:pPr>
            <a:r>
              <a:rPr lang="en-US" sz="1600" b="1" dirty="0">
                <a:solidFill>
                  <a:srgbClr val="006B76"/>
                </a:solidFill>
              </a:rPr>
              <a:t>Relationship:</a:t>
            </a:r>
          </a:p>
          <a:p>
            <a:pPr marL="742950" lvl="1" indent="-285750">
              <a:spcBef>
                <a:spcPts val="300"/>
              </a:spcBef>
              <a:buClr>
                <a:srgbClr val="009CAC"/>
              </a:buClr>
              <a:buFont typeface="Wingdings" panose="05000000000000000000" pitchFamily="2" charset="2"/>
              <a:buChar char="§"/>
            </a:pPr>
            <a:r>
              <a:rPr lang="en-US" sz="1600" dirty="0"/>
              <a:t>One-to-many relation (1:M)</a:t>
            </a:r>
            <a:endParaRPr lang="en-US" sz="1600" b="1" dirty="0">
              <a:solidFill>
                <a:srgbClr val="006B76"/>
              </a:solidFill>
            </a:endParaRPr>
          </a:p>
        </p:txBody>
      </p:sp>
      <p:pic>
        <p:nvPicPr>
          <p:cNvPr id="4" name="Picture 3" descr="Box and whisker chart&#10;&#10;Description automatically generated">
            <a:extLst>
              <a:ext uri="{FF2B5EF4-FFF2-40B4-BE49-F238E27FC236}">
                <a16:creationId xmlns:a16="http://schemas.microsoft.com/office/drawing/2014/main" id="{353F0995-A079-4A24-942E-6C12DEE56D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2806" y="3031273"/>
            <a:ext cx="6905430" cy="1758578"/>
          </a:xfrm>
          <a:prstGeom prst="rect">
            <a:avLst/>
          </a:prstGeom>
        </p:spPr>
      </p:pic>
      <p:sp>
        <p:nvSpPr>
          <p:cNvPr id="2" name="Title 1">
            <a:extLst>
              <a:ext uri="{FF2B5EF4-FFF2-40B4-BE49-F238E27FC236}">
                <a16:creationId xmlns:a16="http://schemas.microsoft.com/office/drawing/2014/main" id="{7CB0E66B-0611-EEDB-5630-36ECD4F9D1D1}"/>
              </a:ext>
            </a:extLst>
          </p:cNvPr>
          <p:cNvSpPr>
            <a:spLocks noGrp="1"/>
          </p:cNvSpPr>
          <p:nvPr>
            <p:ph type="title"/>
          </p:nvPr>
        </p:nvSpPr>
        <p:spPr>
          <a:xfrm>
            <a:off x="1027697" y="846192"/>
            <a:ext cx="10058400" cy="1450757"/>
          </a:xfrm>
        </p:spPr>
        <p:txBody>
          <a:bodyPr/>
          <a:lstStyle/>
          <a:p>
            <a:r>
              <a:rPr lang="en-US" sz="4800" b="1" dirty="0"/>
              <a:t>ERD Notations</a:t>
            </a:r>
            <a:br>
              <a:rPr lang="en-US" sz="4800" b="1" i="0" dirty="0"/>
            </a:br>
            <a:endParaRPr lang="en-US" b="1" dirty="0"/>
          </a:p>
        </p:txBody>
      </p:sp>
      <p:sp>
        <p:nvSpPr>
          <p:cNvPr id="14" name="Footer Placeholder 13">
            <a:extLst>
              <a:ext uri="{FF2B5EF4-FFF2-40B4-BE49-F238E27FC236}">
                <a16:creationId xmlns:a16="http://schemas.microsoft.com/office/drawing/2014/main" id="{7AC17031-88F0-8569-552F-B5250751FC0B}"/>
              </a:ext>
            </a:extLst>
          </p:cNvPr>
          <p:cNvSpPr>
            <a:spLocks noGrp="1"/>
          </p:cNvSpPr>
          <p:nvPr>
            <p:ph type="ftr" sz="quarter" idx="11"/>
          </p:nvPr>
        </p:nvSpPr>
        <p:spPr/>
        <p:txBody>
          <a:bodyPr/>
          <a:lstStyle/>
          <a:p>
            <a:r>
              <a:rPr lang="en-US"/>
              <a:t>Eng. Aisha Al-Sadi | HTU | Al Hussein Technical University</a:t>
            </a:r>
          </a:p>
        </p:txBody>
      </p:sp>
      <p:sp>
        <p:nvSpPr>
          <p:cNvPr id="15" name="Slide Number Placeholder 14">
            <a:extLst>
              <a:ext uri="{FF2B5EF4-FFF2-40B4-BE49-F238E27FC236}">
                <a16:creationId xmlns:a16="http://schemas.microsoft.com/office/drawing/2014/main" id="{0FD7E659-F9A1-53EC-4628-CF8355143A57}"/>
              </a:ext>
            </a:extLst>
          </p:cNvPr>
          <p:cNvSpPr>
            <a:spLocks noGrp="1"/>
          </p:cNvSpPr>
          <p:nvPr>
            <p:ph type="sldNum" sz="quarter" idx="12"/>
          </p:nvPr>
        </p:nvSpPr>
        <p:spPr/>
        <p:txBody>
          <a:bodyPr/>
          <a:lstStyle/>
          <a:p>
            <a:fld id="{FD97C469-14A9-4BE4-BDC2-AF98C32D29B7}" type="slidenum">
              <a:rPr lang="en-US" smtClean="0"/>
              <a:t>26</a:t>
            </a:fld>
            <a:endParaRPr lang="en-US"/>
          </a:p>
        </p:txBody>
      </p:sp>
    </p:spTree>
    <p:extLst>
      <p:ext uri="{BB962C8B-B14F-4D97-AF65-F5344CB8AC3E}">
        <p14:creationId xmlns:p14="http://schemas.microsoft.com/office/powerpoint/2010/main" val="386423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3DA5DA1F-A19D-4C23-A247-066C85AA9A3F}"/>
              </a:ext>
            </a:extLst>
          </p:cNvPr>
          <p:cNvSpPr/>
          <p:nvPr/>
        </p:nvSpPr>
        <p:spPr>
          <a:xfrm>
            <a:off x="920178" y="1869006"/>
            <a:ext cx="3541362" cy="623248"/>
          </a:xfrm>
          <a:prstGeom prst="rect">
            <a:avLst/>
          </a:prstGeom>
        </p:spPr>
        <p:txBody>
          <a:bodyPr wrap="square">
            <a:spAutoFit/>
          </a:bodyPr>
          <a:lstStyle/>
          <a:p>
            <a:pPr marL="285750" indent="-285750">
              <a:spcBef>
                <a:spcPts val="300"/>
              </a:spcBef>
              <a:buClr>
                <a:srgbClr val="009CAC"/>
              </a:buClr>
              <a:buFont typeface="Arial" panose="020B0604020202020204" pitchFamily="34" charset="0"/>
              <a:buChar char="►"/>
            </a:pPr>
            <a:r>
              <a:rPr lang="en-US" sz="1600" b="1" dirty="0">
                <a:solidFill>
                  <a:srgbClr val="006B76"/>
                </a:solidFill>
              </a:rPr>
              <a:t>Relationship:</a:t>
            </a:r>
          </a:p>
          <a:p>
            <a:pPr marL="742950" lvl="1" indent="-285750">
              <a:spcBef>
                <a:spcPts val="300"/>
              </a:spcBef>
              <a:buClr>
                <a:srgbClr val="009CAC"/>
              </a:buClr>
              <a:buFont typeface="Wingdings" panose="05000000000000000000" pitchFamily="2" charset="2"/>
              <a:buChar char="§"/>
            </a:pPr>
            <a:r>
              <a:rPr lang="en-US" sz="1600" dirty="0"/>
              <a:t>Many-to-many relation (M:M)</a:t>
            </a:r>
            <a:endParaRPr lang="en-US" sz="1600" b="1" dirty="0">
              <a:solidFill>
                <a:srgbClr val="006B76"/>
              </a:solidFill>
            </a:endParaRPr>
          </a:p>
        </p:txBody>
      </p:sp>
      <p:pic>
        <p:nvPicPr>
          <p:cNvPr id="6" name="Picture 5" descr="A picture containing diagram&#10;&#10;Description automatically generated">
            <a:extLst>
              <a:ext uri="{FF2B5EF4-FFF2-40B4-BE49-F238E27FC236}">
                <a16:creationId xmlns:a16="http://schemas.microsoft.com/office/drawing/2014/main" id="{3082A092-3BD7-4E6D-8828-EB29F0213A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7714" y="2999177"/>
            <a:ext cx="6905430" cy="1782415"/>
          </a:xfrm>
          <a:prstGeom prst="rect">
            <a:avLst/>
          </a:prstGeom>
        </p:spPr>
      </p:pic>
      <p:sp>
        <p:nvSpPr>
          <p:cNvPr id="2" name="Title 1">
            <a:extLst>
              <a:ext uri="{FF2B5EF4-FFF2-40B4-BE49-F238E27FC236}">
                <a16:creationId xmlns:a16="http://schemas.microsoft.com/office/drawing/2014/main" id="{7CB0E66B-0611-EEDB-5630-36ECD4F9D1D1}"/>
              </a:ext>
            </a:extLst>
          </p:cNvPr>
          <p:cNvSpPr>
            <a:spLocks noGrp="1"/>
          </p:cNvSpPr>
          <p:nvPr>
            <p:ph type="title"/>
          </p:nvPr>
        </p:nvSpPr>
        <p:spPr>
          <a:xfrm>
            <a:off x="836645" y="890166"/>
            <a:ext cx="10058400" cy="1450757"/>
          </a:xfrm>
        </p:spPr>
        <p:txBody>
          <a:bodyPr/>
          <a:lstStyle/>
          <a:p>
            <a:r>
              <a:rPr lang="en-US" sz="4800" b="1" dirty="0"/>
              <a:t>ERD Notations</a:t>
            </a:r>
            <a:br>
              <a:rPr lang="en-US" sz="4800" b="1" i="0" dirty="0"/>
            </a:br>
            <a:endParaRPr lang="en-US" b="1" dirty="0"/>
          </a:p>
        </p:txBody>
      </p:sp>
      <p:sp>
        <p:nvSpPr>
          <p:cNvPr id="3" name="Footer Placeholder 2">
            <a:extLst>
              <a:ext uri="{FF2B5EF4-FFF2-40B4-BE49-F238E27FC236}">
                <a16:creationId xmlns:a16="http://schemas.microsoft.com/office/drawing/2014/main" id="{CF757551-C02B-277E-6C9B-A4E34ADFE709}"/>
              </a:ext>
            </a:extLst>
          </p:cNvPr>
          <p:cNvSpPr>
            <a:spLocks noGrp="1"/>
          </p:cNvSpPr>
          <p:nvPr>
            <p:ph type="ftr" sz="quarter" idx="11"/>
          </p:nvPr>
        </p:nvSpPr>
        <p:spPr/>
        <p:txBody>
          <a:bodyPr/>
          <a:lstStyle/>
          <a:p>
            <a:r>
              <a:rPr lang="en-US"/>
              <a:t>Eng. Aisha Al-Sadi | HTU | Al Hussein Technical University</a:t>
            </a:r>
          </a:p>
        </p:txBody>
      </p:sp>
      <p:sp>
        <p:nvSpPr>
          <p:cNvPr id="8" name="Slide Number Placeholder 7">
            <a:extLst>
              <a:ext uri="{FF2B5EF4-FFF2-40B4-BE49-F238E27FC236}">
                <a16:creationId xmlns:a16="http://schemas.microsoft.com/office/drawing/2014/main" id="{79EFF21D-6A9B-353C-2A4C-E8ED86FF6661}"/>
              </a:ext>
            </a:extLst>
          </p:cNvPr>
          <p:cNvSpPr>
            <a:spLocks noGrp="1"/>
          </p:cNvSpPr>
          <p:nvPr>
            <p:ph type="sldNum" sz="quarter" idx="12"/>
          </p:nvPr>
        </p:nvSpPr>
        <p:spPr/>
        <p:txBody>
          <a:bodyPr/>
          <a:lstStyle/>
          <a:p>
            <a:fld id="{FD97C469-14A9-4BE4-BDC2-AF98C32D29B7}" type="slidenum">
              <a:rPr lang="en-US" smtClean="0"/>
              <a:t>27</a:t>
            </a:fld>
            <a:endParaRPr lang="en-US"/>
          </a:p>
        </p:txBody>
      </p:sp>
    </p:spTree>
    <p:extLst>
      <p:ext uri="{BB962C8B-B14F-4D97-AF65-F5344CB8AC3E}">
        <p14:creationId xmlns:p14="http://schemas.microsoft.com/office/powerpoint/2010/main" val="1461349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038FAFA-8488-46E5-8C7A-835C6E0C0A91}"/>
              </a:ext>
            </a:extLst>
          </p:cNvPr>
          <p:cNvSpPr/>
          <p:nvPr/>
        </p:nvSpPr>
        <p:spPr>
          <a:xfrm>
            <a:off x="699844" y="1820862"/>
            <a:ext cx="3316325" cy="338554"/>
          </a:xfrm>
          <a:prstGeom prst="rect">
            <a:avLst/>
          </a:prstGeom>
        </p:spPr>
        <p:txBody>
          <a:bodyPr wrap="square">
            <a:spAutoFit/>
          </a:bodyPr>
          <a:lstStyle/>
          <a:p>
            <a:pPr marL="285750" indent="-285750">
              <a:spcBef>
                <a:spcPts val="300"/>
              </a:spcBef>
              <a:buClr>
                <a:srgbClr val="009CAC"/>
              </a:buClr>
              <a:buFont typeface="Arial" panose="020B0604020202020204" pitchFamily="34" charset="0"/>
              <a:buChar char="►"/>
            </a:pPr>
            <a:r>
              <a:rPr lang="en-US" sz="1600" b="1" dirty="0">
                <a:solidFill>
                  <a:srgbClr val="006B76"/>
                </a:solidFill>
              </a:rPr>
              <a:t>Strong relationship</a:t>
            </a:r>
          </a:p>
        </p:txBody>
      </p:sp>
      <p:sp>
        <p:nvSpPr>
          <p:cNvPr id="30" name="Rectangle 29">
            <a:extLst>
              <a:ext uri="{FF2B5EF4-FFF2-40B4-BE49-F238E27FC236}">
                <a16:creationId xmlns:a16="http://schemas.microsoft.com/office/drawing/2014/main" id="{DD49C202-707D-4E2C-8E5F-E7C36E3C0D62}"/>
              </a:ext>
            </a:extLst>
          </p:cNvPr>
          <p:cNvSpPr/>
          <p:nvPr/>
        </p:nvSpPr>
        <p:spPr>
          <a:xfrm>
            <a:off x="598379" y="4374775"/>
            <a:ext cx="3316325" cy="338554"/>
          </a:xfrm>
          <a:prstGeom prst="rect">
            <a:avLst/>
          </a:prstGeom>
        </p:spPr>
        <p:txBody>
          <a:bodyPr wrap="square">
            <a:spAutoFit/>
          </a:bodyPr>
          <a:lstStyle/>
          <a:p>
            <a:pPr marL="285750" indent="-285750">
              <a:spcBef>
                <a:spcPts val="300"/>
              </a:spcBef>
              <a:buClr>
                <a:srgbClr val="009CAC"/>
              </a:buClr>
              <a:buFont typeface="Arial" panose="020B0604020202020204" pitchFamily="34" charset="0"/>
              <a:buChar char="►"/>
            </a:pPr>
            <a:r>
              <a:rPr lang="en-US" sz="1600" b="1" dirty="0">
                <a:solidFill>
                  <a:srgbClr val="006B76"/>
                </a:solidFill>
              </a:rPr>
              <a:t>Weak relationship</a:t>
            </a:r>
          </a:p>
        </p:txBody>
      </p:sp>
      <p:pic>
        <p:nvPicPr>
          <p:cNvPr id="7" name="Picture 6" descr="Box and whisker chart&#10;&#10;Description automatically generated">
            <a:extLst>
              <a:ext uri="{FF2B5EF4-FFF2-40B4-BE49-F238E27FC236}">
                <a16:creationId xmlns:a16="http://schemas.microsoft.com/office/drawing/2014/main" id="{DCAFBDB2-01A3-44B4-9F53-6CC48368F6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6185" y="2108993"/>
            <a:ext cx="6214273" cy="1582564"/>
          </a:xfrm>
          <a:prstGeom prst="rect">
            <a:avLst/>
          </a:prstGeom>
        </p:spPr>
      </p:pic>
      <p:pic>
        <p:nvPicPr>
          <p:cNvPr id="6" name="Picture 5" descr="Shape, rectangle&#10;&#10;Description automatically generated">
            <a:extLst>
              <a:ext uri="{FF2B5EF4-FFF2-40B4-BE49-F238E27FC236}">
                <a16:creationId xmlns:a16="http://schemas.microsoft.com/office/drawing/2014/main" id="{8B2E872A-432F-400D-8763-3AAAB4E45D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86184" y="4552887"/>
            <a:ext cx="6214274" cy="1601433"/>
          </a:xfrm>
          <a:prstGeom prst="rect">
            <a:avLst/>
          </a:prstGeom>
        </p:spPr>
      </p:pic>
      <p:sp>
        <p:nvSpPr>
          <p:cNvPr id="5" name="Title 4">
            <a:extLst>
              <a:ext uri="{FF2B5EF4-FFF2-40B4-BE49-F238E27FC236}">
                <a16:creationId xmlns:a16="http://schemas.microsoft.com/office/drawing/2014/main" id="{9677DD9C-0C52-AD67-AA11-03AD680A6C43}"/>
              </a:ext>
            </a:extLst>
          </p:cNvPr>
          <p:cNvSpPr>
            <a:spLocks noGrp="1"/>
          </p:cNvSpPr>
          <p:nvPr>
            <p:ph type="title"/>
          </p:nvPr>
        </p:nvSpPr>
        <p:spPr>
          <a:xfrm>
            <a:off x="498070" y="217070"/>
            <a:ext cx="10058400" cy="1450757"/>
          </a:xfrm>
        </p:spPr>
        <p:txBody>
          <a:bodyPr/>
          <a:lstStyle/>
          <a:p>
            <a:r>
              <a:rPr lang="en-US" sz="4800" b="1" dirty="0">
                <a:solidFill>
                  <a:schemeClr val="tx1"/>
                </a:solidFill>
              </a:rPr>
              <a:t>Shapes of E-R Diagram</a:t>
            </a:r>
            <a:br>
              <a:rPr lang="en-US" sz="4800" b="1" i="0" dirty="0">
                <a:solidFill>
                  <a:schemeClr val="tx1"/>
                </a:solidFill>
              </a:rPr>
            </a:br>
            <a:endParaRPr lang="en-US" b="1" dirty="0">
              <a:solidFill>
                <a:schemeClr val="tx1"/>
              </a:solidFill>
            </a:endParaRPr>
          </a:p>
        </p:txBody>
      </p:sp>
      <p:sp>
        <p:nvSpPr>
          <p:cNvPr id="11" name="Footer Placeholder 10">
            <a:extLst>
              <a:ext uri="{FF2B5EF4-FFF2-40B4-BE49-F238E27FC236}">
                <a16:creationId xmlns:a16="http://schemas.microsoft.com/office/drawing/2014/main" id="{8C2CAA67-D91D-BFAB-2924-E73AB2030BB0}"/>
              </a:ext>
            </a:extLst>
          </p:cNvPr>
          <p:cNvSpPr>
            <a:spLocks noGrp="1"/>
          </p:cNvSpPr>
          <p:nvPr>
            <p:ph type="ftr" sz="quarter" idx="11"/>
          </p:nvPr>
        </p:nvSpPr>
        <p:spPr/>
        <p:txBody>
          <a:bodyPr/>
          <a:lstStyle/>
          <a:p>
            <a:r>
              <a:rPr lang="en-US"/>
              <a:t>Eng. Aisha Al-Sadi | HTU | Al Hussein Technical University</a:t>
            </a:r>
          </a:p>
        </p:txBody>
      </p:sp>
      <p:sp>
        <p:nvSpPr>
          <p:cNvPr id="12" name="Slide Number Placeholder 11">
            <a:extLst>
              <a:ext uri="{FF2B5EF4-FFF2-40B4-BE49-F238E27FC236}">
                <a16:creationId xmlns:a16="http://schemas.microsoft.com/office/drawing/2014/main" id="{8F7BF3F1-41E3-89B1-17D5-C18CC9DD6CCA}"/>
              </a:ext>
            </a:extLst>
          </p:cNvPr>
          <p:cNvSpPr>
            <a:spLocks noGrp="1"/>
          </p:cNvSpPr>
          <p:nvPr>
            <p:ph type="sldNum" sz="quarter" idx="12"/>
          </p:nvPr>
        </p:nvSpPr>
        <p:spPr/>
        <p:txBody>
          <a:bodyPr/>
          <a:lstStyle/>
          <a:p>
            <a:fld id="{FD97C469-14A9-4BE4-BDC2-AF98C32D29B7}" type="slidenum">
              <a:rPr lang="en-US" smtClean="0"/>
              <a:t>28</a:t>
            </a:fld>
            <a:endParaRPr lang="en-US"/>
          </a:p>
        </p:txBody>
      </p:sp>
      <p:sp>
        <p:nvSpPr>
          <p:cNvPr id="2" name="TextBox 1">
            <a:extLst>
              <a:ext uri="{FF2B5EF4-FFF2-40B4-BE49-F238E27FC236}">
                <a16:creationId xmlns:a16="http://schemas.microsoft.com/office/drawing/2014/main" id="{67DA4915-D400-6F9F-DFBE-3460FAA0B798}"/>
              </a:ext>
            </a:extLst>
          </p:cNvPr>
          <p:cNvSpPr txBox="1"/>
          <p:nvPr/>
        </p:nvSpPr>
        <p:spPr>
          <a:xfrm>
            <a:off x="4016169" y="1718839"/>
            <a:ext cx="1574203" cy="369332"/>
          </a:xfrm>
          <a:prstGeom prst="rect">
            <a:avLst/>
          </a:prstGeom>
          <a:noFill/>
        </p:spPr>
        <p:txBody>
          <a:bodyPr wrap="square" rtlCol="0">
            <a:spAutoFit/>
          </a:bodyPr>
          <a:lstStyle/>
          <a:p>
            <a:r>
              <a:rPr lang="en-US" b="1" dirty="0">
                <a:solidFill>
                  <a:srgbClr val="FF0000"/>
                </a:solidFill>
              </a:rPr>
              <a:t>Strong Entity </a:t>
            </a:r>
          </a:p>
        </p:txBody>
      </p:sp>
      <p:sp>
        <p:nvSpPr>
          <p:cNvPr id="3" name="TextBox 2">
            <a:extLst>
              <a:ext uri="{FF2B5EF4-FFF2-40B4-BE49-F238E27FC236}">
                <a16:creationId xmlns:a16="http://schemas.microsoft.com/office/drawing/2014/main" id="{D3FBACED-78D2-A460-E484-3A259D17C354}"/>
              </a:ext>
            </a:extLst>
          </p:cNvPr>
          <p:cNvSpPr txBox="1"/>
          <p:nvPr/>
        </p:nvSpPr>
        <p:spPr>
          <a:xfrm>
            <a:off x="8119595" y="1739661"/>
            <a:ext cx="1574203" cy="369332"/>
          </a:xfrm>
          <a:prstGeom prst="rect">
            <a:avLst/>
          </a:prstGeom>
          <a:noFill/>
        </p:spPr>
        <p:txBody>
          <a:bodyPr wrap="square" rtlCol="0">
            <a:spAutoFit/>
          </a:bodyPr>
          <a:lstStyle/>
          <a:p>
            <a:r>
              <a:rPr lang="en-US" b="1" dirty="0">
                <a:solidFill>
                  <a:schemeClr val="accent2"/>
                </a:solidFill>
              </a:rPr>
              <a:t>Weak Entity </a:t>
            </a:r>
          </a:p>
        </p:txBody>
      </p:sp>
      <p:sp>
        <p:nvSpPr>
          <p:cNvPr id="4" name="TextBox 3">
            <a:extLst>
              <a:ext uri="{FF2B5EF4-FFF2-40B4-BE49-F238E27FC236}">
                <a16:creationId xmlns:a16="http://schemas.microsoft.com/office/drawing/2014/main" id="{592AA580-83B3-0ACA-20A9-392E865A48AF}"/>
              </a:ext>
            </a:extLst>
          </p:cNvPr>
          <p:cNvSpPr txBox="1"/>
          <p:nvPr/>
        </p:nvSpPr>
        <p:spPr>
          <a:xfrm>
            <a:off x="3848933" y="4183555"/>
            <a:ext cx="1574203" cy="369332"/>
          </a:xfrm>
          <a:prstGeom prst="rect">
            <a:avLst/>
          </a:prstGeom>
          <a:noFill/>
        </p:spPr>
        <p:txBody>
          <a:bodyPr wrap="square" rtlCol="0">
            <a:spAutoFit/>
          </a:bodyPr>
          <a:lstStyle/>
          <a:p>
            <a:r>
              <a:rPr lang="en-US" b="1" dirty="0">
                <a:solidFill>
                  <a:srgbClr val="FF0000"/>
                </a:solidFill>
              </a:rPr>
              <a:t>Strong Entity </a:t>
            </a:r>
          </a:p>
        </p:txBody>
      </p:sp>
      <p:sp>
        <p:nvSpPr>
          <p:cNvPr id="8" name="TextBox 7">
            <a:extLst>
              <a:ext uri="{FF2B5EF4-FFF2-40B4-BE49-F238E27FC236}">
                <a16:creationId xmlns:a16="http://schemas.microsoft.com/office/drawing/2014/main" id="{D9EB5107-AC8D-F1AC-E7E4-5CBA38374779}"/>
              </a:ext>
            </a:extLst>
          </p:cNvPr>
          <p:cNvSpPr txBox="1"/>
          <p:nvPr/>
        </p:nvSpPr>
        <p:spPr>
          <a:xfrm>
            <a:off x="7886588" y="4190109"/>
            <a:ext cx="1574203" cy="369332"/>
          </a:xfrm>
          <a:prstGeom prst="rect">
            <a:avLst/>
          </a:prstGeom>
          <a:noFill/>
        </p:spPr>
        <p:txBody>
          <a:bodyPr wrap="square" rtlCol="0">
            <a:spAutoFit/>
          </a:bodyPr>
          <a:lstStyle/>
          <a:p>
            <a:r>
              <a:rPr lang="en-US" b="1" dirty="0">
                <a:solidFill>
                  <a:srgbClr val="FF0000"/>
                </a:solidFill>
              </a:rPr>
              <a:t>Strong Entity </a:t>
            </a:r>
          </a:p>
        </p:txBody>
      </p:sp>
      <p:sp>
        <p:nvSpPr>
          <p:cNvPr id="9" name="TextBox 8">
            <a:extLst>
              <a:ext uri="{FF2B5EF4-FFF2-40B4-BE49-F238E27FC236}">
                <a16:creationId xmlns:a16="http://schemas.microsoft.com/office/drawing/2014/main" id="{317E49D2-9DBE-7B9F-84FD-5BFDF8DD9E62}"/>
              </a:ext>
            </a:extLst>
          </p:cNvPr>
          <p:cNvSpPr txBox="1"/>
          <p:nvPr/>
        </p:nvSpPr>
        <p:spPr>
          <a:xfrm>
            <a:off x="8673689" y="44805"/>
            <a:ext cx="3087755" cy="1754326"/>
          </a:xfrm>
          <a:prstGeom prst="rect">
            <a:avLst/>
          </a:prstGeom>
          <a:noFill/>
        </p:spPr>
        <p:txBody>
          <a:bodyPr wrap="square" rtlCol="0">
            <a:spAutoFit/>
          </a:bodyPr>
          <a:lstStyle/>
          <a:p>
            <a:r>
              <a:rPr lang="en-US" b="1" dirty="0"/>
              <a:t>Note: </a:t>
            </a:r>
            <a:r>
              <a:rPr lang="en-US" dirty="0"/>
              <a:t>in the conceptual design part, we don’t focus on strong/weak relationships. We will focus on it in the logical design part.</a:t>
            </a:r>
          </a:p>
          <a:p>
            <a:endParaRPr lang="en-US" dirty="0"/>
          </a:p>
        </p:txBody>
      </p:sp>
    </p:spTree>
    <p:extLst>
      <p:ext uri="{BB962C8B-B14F-4D97-AF65-F5344CB8AC3E}">
        <p14:creationId xmlns:p14="http://schemas.microsoft.com/office/powerpoint/2010/main" val="31518413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C8C49-C638-8FAB-71EA-3A79C24B0280}"/>
              </a:ext>
            </a:extLst>
          </p:cNvPr>
          <p:cNvSpPr>
            <a:spLocks noGrp="1"/>
          </p:cNvSpPr>
          <p:nvPr>
            <p:ph type="title"/>
          </p:nvPr>
        </p:nvSpPr>
        <p:spPr/>
        <p:txBody>
          <a:bodyPr/>
          <a:lstStyle/>
          <a:p>
            <a:r>
              <a:rPr lang="en-US" sz="4800" b="1" dirty="0">
                <a:solidFill>
                  <a:schemeClr val="tx1"/>
                </a:solidFill>
              </a:rPr>
              <a:t>Shapes of E-R Diagram</a:t>
            </a:r>
            <a:br>
              <a:rPr lang="en-US" sz="4800" b="1" i="0" dirty="0">
                <a:solidFill>
                  <a:schemeClr val="tx1"/>
                </a:solidFill>
              </a:rPr>
            </a:br>
            <a:r>
              <a:rPr lang="en-US" sz="3200" i="0" dirty="0">
                <a:solidFill>
                  <a:schemeClr val="tx1"/>
                </a:solidFill>
              </a:rPr>
              <a:t>Optional relationship</a:t>
            </a:r>
            <a:endParaRPr lang="en-US" dirty="0"/>
          </a:p>
        </p:txBody>
      </p:sp>
      <p:sp>
        <p:nvSpPr>
          <p:cNvPr id="3" name="Content Placeholder 2">
            <a:extLst>
              <a:ext uri="{FF2B5EF4-FFF2-40B4-BE49-F238E27FC236}">
                <a16:creationId xmlns:a16="http://schemas.microsoft.com/office/drawing/2014/main" id="{4DA2A537-1939-3DC0-F740-1D7574E316BB}"/>
              </a:ext>
            </a:extLst>
          </p:cNvPr>
          <p:cNvSpPr>
            <a:spLocks noGrp="1"/>
          </p:cNvSpPr>
          <p:nvPr>
            <p:ph idx="1"/>
          </p:nvPr>
        </p:nvSpPr>
        <p:spPr>
          <a:xfrm>
            <a:off x="1197429" y="1867249"/>
            <a:ext cx="9958250" cy="4023360"/>
          </a:xfrm>
        </p:spPr>
        <p:txBody>
          <a:bodyPr/>
          <a:lstStyle/>
          <a:p>
            <a:r>
              <a:rPr lang="en-US" dirty="0"/>
              <a:t>The symbol indicating whether the relationship is mandatory or optional.</a:t>
            </a:r>
          </a:p>
          <a:p>
            <a:endParaRPr lang="en-US" dirty="0"/>
          </a:p>
          <a:p>
            <a:endParaRPr lang="en-US" dirty="0"/>
          </a:p>
          <a:p>
            <a:endParaRPr lang="en-US" dirty="0"/>
          </a:p>
          <a:p>
            <a:endParaRPr lang="en-US" dirty="0"/>
          </a:p>
          <a:p>
            <a:endParaRPr lang="en-US" dirty="0"/>
          </a:p>
          <a:p>
            <a:endParaRPr lang="en-US" dirty="0"/>
          </a:p>
          <a:p>
            <a:r>
              <a:rPr lang="en-US" dirty="0"/>
              <a:t>Customer may have many sales.  It is permissible to have a customer with no associated sale records.</a:t>
            </a:r>
          </a:p>
        </p:txBody>
      </p:sp>
      <p:sp>
        <p:nvSpPr>
          <p:cNvPr id="4" name="Footer Placeholder 3">
            <a:extLst>
              <a:ext uri="{FF2B5EF4-FFF2-40B4-BE49-F238E27FC236}">
                <a16:creationId xmlns:a16="http://schemas.microsoft.com/office/drawing/2014/main" id="{031481BB-0DBF-90B9-FF38-3B30A1DA7F95}"/>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97BA1AA1-08C3-5615-CE0A-38C277D0CBC2}"/>
              </a:ext>
            </a:extLst>
          </p:cNvPr>
          <p:cNvSpPr>
            <a:spLocks noGrp="1"/>
          </p:cNvSpPr>
          <p:nvPr>
            <p:ph type="sldNum" sz="quarter" idx="12"/>
          </p:nvPr>
        </p:nvSpPr>
        <p:spPr/>
        <p:txBody>
          <a:bodyPr/>
          <a:lstStyle/>
          <a:p>
            <a:fld id="{FD97C469-14A9-4BE4-BDC2-AF98C32D29B7}" type="slidenum">
              <a:rPr lang="en-US" smtClean="0"/>
              <a:t>29</a:t>
            </a:fld>
            <a:endParaRPr lang="en-US"/>
          </a:p>
        </p:txBody>
      </p:sp>
      <p:pic>
        <p:nvPicPr>
          <p:cNvPr id="1026" name="Picture 2" descr="Mandatory relationship in crow’s foot notation">
            <a:extLst>
              <a:ext uri="{FF2B5EF4-FFF2-40B4-BE49-F238E27FC236}">
                <a16:creationId xmlns:a16="http://schemas.microsoft.com/office/drawing/2014/main" id="{4C5A3E5E-3ACF-2A20-EB51-73C71FB266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071" y="2404164"/>
            <a:ext cx="4222316" cy="10215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026C927-12DD-BA4E-85C6-7A23BE4B67B3}"/>
              </a:ext>
            </a:extLst>
          </p:cNvPr>
          <p:cNvPicPr>
            <a:picLocks noChangeAspect="1"/>
          </p:cNvPicPr>
          <p:nvPr/>
        </p:nvPicPr>
        <p:blipFill>
          <a:blip r:embed="rId3"/>
          <a:stretch>
            <a:fillRect/>
          </a:stretch>
        </p:blipFill>
        <p:spPr>
          <a:xfrm>
            <a:off x="3503071" y="5427485"/>
            <a:ext cx="4238625" cy="676275"/>
          </a:xfrm>
          <a:prstGeom prst="rect">
            <a:avLst/>
          </a:prstGeom>
        </p:spPr>
      </p:pic>
      <p:pic>
        <p:nvPicPr>
          <p:cNvPr id="1028" name="Picture 4" descr="Optional relationship in crow’s foot notation">
            <a:extLst>
              <a:ext uri="{FF2B5EF4-FFF2-40B4-BE49-F238E27FC236}">
                <a16:creationId xmlns:a16="http://schemas.microsoft.com/office/drawing/2014/main" id="{D745FE53-0715-0992-5A94-92DC81376D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431" y="3638843"/>
            <a:ext cx="4691462" cy="10215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4AA3FAE-1CB9-0125-4DB9-A969B89DD89F}"/>
              </a:ext>
            </a:extLst>
          </p:cNvPr>
          <p:cNvSpPr txBox="1"/>
          <p:nvPr/>
        </p:nvSpPr>
        <p:spPr>
          <a:xfrm>
            <a:off x="5217459" y="5540188"/>
            <a:ext cx="645459" cy="307777"/>
          </a:xfrm>
          <a:prstGeom prst="rect">
            <a:avLst/>
          </a:prstGeom>
          <a:noFill/>
        </p:spPr>
        <p:txBody>
          <a:bodyPr wrap="square" rtlCol="0">
            <a:spAutoFit/>
          </a:bodyPr>
          <a:lstStyle/>
          <a:p>
            <a:r>
              <a:rPr lang="en-US" sz="1400" b="1" dirty="0"/>
              <a:t>Place</a:t>
            </a:r>
          </a:p>
        </p:txBody>
      </p:sp>
    </p:spTree>
    <p:extLst>
      <p:ext uri="{BB962C8B-B14F-4D97-AF65-F5344CB8AC3E}">
        <p14:creationId xmlns:p14="http://schemas.microsoft.com/office/powerpoint/2010/main" val="1711177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413" y="1758080"/>
            <a:ext cx="11000096" cy="3785652"/>
          </a:xfrm>
          <a:prstGeom prst="rect">
            <a:avLst/>
          </a:prstGeom>
          <a:noFill/>
        </p:spPr>
        <p:txBody>
          <a:bodyPr wrap="square" rtlCol="0">
            <a:spAutoFit/>
          </a:bodyPr>
          <a:lstStyle/>
          <a:p>
            <a:pPr>
              <a:buClr>
                <a:srgbClr val="009CAC"/>
              </a:buClr>
            </a:pPr>
            <a:r>
              <a:rPr lang="en-US" sz="2400" b="1" u="sng" dirty="0"/>
              <a:t>Scenario</a:t>
            </a:r>
            <a:r>
              <a:rPr lang="en-US" sz="2400" u="sng" dirty="0"/>
              <a:t>:</a:t>
            </a:r>
            <a:br>
              <a:rPr lang="en-US" sz="2400" u="sng" dirty="0"/>
            </a:br>
            <a:endParaRPr lang="en-US" sz="2400" u="sng" dirty="0"/>
          </a:p>
          <a:p>
            <a:pPr algn="just"/>
            <a:r>
              <a:rPr lang="en-US" sz="2400" dirty="0"/>
              <a:t>The bank has many branches. Each branch consists of multiple departments, and each department includes many employees. The employee should work in one department. An employee can make many transactions. Each transaction is performed on one account. Note: the account may have multiple transactions. In addition, the account is owned by one or more customers and customers can have multiple accounts. There are many account types like (saving, checking, and money market accounts). For each account, there is one account type. Customers can visit multiple branches.</a:t>
            </a:r>
          </a:p>
          <a:p>
            <a:endParaRPr lang="en-US" sz="2400" dirty="0"/>
          </a:p>
        </p:txBody>
      </p:sp>
      <p:sp>
        <p:nvSpPr>
          <p:cNvPr id="3" name="Title 2">
            <a:extLst>
              <a:ext uri="{FF2B5EF4-FFF2-40B4-BE49-F238E27FC236}">
                <a16:creationId xmlns:a16="http://schemas.microsoft.com/office/drawing/2014/main" id="{F02F9DBA-0EB2-91CD-465B-DEB8DDC63634}"/>
              </a:ext>
            </a:extLst>
          </p:cNvPr>
          <p:cNvSpPr>
            <a:spLocks noGrp="1"/>
          </p:cNvSpPr>
          <p:nvPr>
            <p:ph type="title"/>
          </p:nvPr>
        </p:nvSpPr>
        <p:spPr>
          <a:xfrm>
            <a:off x="611165" y="116648"/>
            <a:ext cx="10058400" cy="1450757"/>
          </a:xfrm>
        </p:spPr>
        <p:txBody>
          <a:bodyPr>
            <a:normAutofit/>
          </a:bodyPr>
          <a:lstStyle/>
          <a:p>
            <a:r>
              <a:rPr lang="en-US" b="1" i="0" dirty="0">
                <a:solidFill>
                  <a:schemeClr val="tx1"/>
                </a:solidFill>
              </a:rPr>
              <a:t>Bank Management System Example</a:t>
            </a:r>
            <a:endParaRPr lang="en-US" b="1" dirty="0">
              <a:solidFill>
                <a:schemeClr val="tx1"/>
              </a:solidFill>
            </a:endParaRPr>
          </a:p>
        </p:txBody>
      </p:sp>
      <p:sp>
        <p:nvSpPr>
          <p:cNvPr id="8" name="Footer Placeholder 7">
            <a:extLst>
              <a:ext uri="{FF2B5EF4-FFF2-40B4-BE49-F238E27FC236}">
                <a16:creationId xmlns:a16="http://schemas.microsoft.com/office/drawing/2014/main" id="{27540406-6EC6-95DF-D5C7-2EA828B295BB}"/>
              </a:ext>
            </a:extLst>
          </p:cNvPr>
          <p:cNvSpPr>
            <a:spLocks noGrp="1"/>
          </p:cNvSpPr>
          <p:nvPr>
            <p:ph type="ftr" sz="quarter" idx="11"/>
          </p:nvPr>
        </p:nvSpPr>
        <p:spPr/>
        <p:txBody>
          <a:bodyPr/>
          <a:lstStyle/>
          <a:p>
            <a:r>
              <a:rPr lang="en-US"/>
              <a:t>Eng. Aisha Al-Sadi | HTU | Al Hussein Technical University</a:t>
            </a:r>
          </a:p>
        </p:txBody>
      </p:sp>
      <p:sp>
        <p:nvSpPr>
          <p:cNvPr id="9" name="Slide Number Placeholder 8">
            <a:extLst>
              <a:ext uri="{FF2B5EF4-FFF2-40B4-BE49-F238E27FC236}">
                <a16:creationId xmlns:a16="http://schemas.microsoft.com/office/drawing/2014/main" id="{7F68538F-091F-DD70-B94E-D3CDBAA71515}"/>
              </a:ext>
            </a:extLst>
          </p:cNvPr>
          <p:cNvSpPr>
            <a:spLocks noGrp="1"/>
          </p:cNvSpPr>
          <p:nvPr>
            <p:ph type="sldNum" sz="quarter" idx="12"/>
          </p:nvPr>
        </p:nvSpPr>
        <p:spPr/>
        <p:txBody>
          <a:bodyPr/>
          <a:lstStyle/>
          <a:p>
            <a:fld id="{FD97C469-14A9-4BE4-BDC2-AF98C32D29B7}" type="slidenum">
              <a:rPr lang="en-US" smtClean="0"/>
              <a:t>30</a:t>
            </a:fld>
            <a:endParaRPr lang="en-US"/>
          </a:p>
        </p:txBody>
      </p:sp>
    </p:spTree>
    <p:extLst>
      <p:ext uri="{BB962C8B-B14F-4D97-AF65-F5344CB8AC3E}">
        <p14:creationId xmlns:p14="http://schemas.microsoft.com/office/powerpoint/2010/main" val="4230196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831685" y="1688806"/>
            <a:ext cx="9635319" cy="3785652"/>
          </a:xfrm>
          <a:prstGeom prst="rect">
            <a:avLst/>
          </a:prstGeom>
          <a:noFill/>
        </p:spPr>
        <p:txBody>
          <a:bodyPr wrap="square" rtlCol="0">
            <a:spAutoFit/>
          </a:bodyPr>
          <a:lstStyle/>
          <a:p>
            <a:pPr>
              <a:buClr>
                <a:srgbClr val="009CAC"/>
              </a:buClr>
            </a:pPr>
            <a:endParaRPr lang="en-US" sz="2000" dirty="0"/>
          </a:p>
          <a:p>
            <a:pPr>
              <a:buClr>
                <a:srgbClr val="009CAC"/>
              </a:buClr>
            </a:pPr>
            <a:r>
              <a:rPr lang="en-US" sz="2000" dirty="0"/>
              <a:t>We should follow the below steps to be done with the ERD:</a:t>
            </a:r>
          </a:p>
          <a:p>
            <a:pPr>
              <a:buClr>
                <a:srgbClr val="009CAC"/>
              </a:buClr>
            </a:pPr>
            <a:endParaRPr lang="en-US" sz="2000" dirty="0"/>
          </a:p>
          <a:p>
            <a:pPr marL="800100" lvl="1" indent="-342900">
              <a:buFont typeface="+mj-lt"/>
              <a:buAutoNum type="arabicPeriod"/>
            </a:pPr>
            <a:r>
              <a:rPr lang="en-US" sz="2000" b="1" dirty="0">
                <a:solidFill>
                  <a:srgbClr val="FF0000"/>
                </a:solidFill>
              </a:rPr>
              <a:t>Identify the entities</a:t>
            </a:r>
          </a:p>
          <a:p>
            <a:pPr marL="800100" lvl="1" indent="-342900">
              <a:buFont typeface="+mj-lt"/>
              <a:buAutoNum type="arabicPeriod"/>
            </a:pPr>
            <a:r>
              <a:rPr lang="en-US" sz="2000" b="1" dirty="0">
                <a:solidFill>
                  <a:srgbClr val="FF0000"/>
                </a:solidFill>
              </a:rPr>
              <a:t>Identify the relationships and cardinalities</a:t>
            </a:r>
          </a:p>
          <a:p>
            <a:pPr marL="800100" lvl="1" indent="-342900">
              <a:buFont typeface="+mj-lt"/>
              <a:buAutoNum type="arabicPeriod"/>
            </a:pPr>
            <a:r>
              <a:rPr lang="en-US" sz="2000" b="1" dirty="0">
                <a:solidFill>
                  <a:srgbClr val="FF0000"/>
                </a:solidFill>
              </a:rPr>
              <a:t>Conceptual  design</a:t>
            </a:r>
          </a:p>
          <a:p>
            <a:pPr marL="800100" lvl="1" indent="-342900">
              <a:buFont typeface="+mj-lt"/>
              <a:buAutoNum type="arabicPeriod"/>
            </a:pPr>
            <a:r>
              <a:rPr lang="en-US" sz="2000" dirty="0"/>
              <a:t>Identify the attributes</a:t>
            </a:r>
          </a:p>
          <a:p>
            <a:pPr marL="800100" lvl="1" indent="-342900">
              <a:buFont typeface="+mj-lt"/>
              <a:buAutoNum type="arabicPeriod"/>
            </a:pPr>
            <a:r>
              <a:rPr lang="en-US" sz="2000" dirty="0"/>
              <a:t>Schema and mapping</a:t>
            </a:r>
          </a:p>
          <a:p>
            <a:pPr marL="800100" lvl="1" indent="-342900">
              <a:buFont typeface="+mj-lt"/>
              <a:buAutoNum type="arabicPeriod"/>
            </a:pPr>
            <a:r>
              <a:rPr lang="en-US" sz="2000" dirty="0"/>
              <a:t>Normalization</a:t>
            </a:r>
          </a:p>
          <a:p>
            <a:pPr marL="800100" lvl="1" indent="-342900">
              <a:buFont typeface="+mj-lt"/>
              <a:buAutoNum type="arabicPeriod"/>
            </a:pPr>
            <a:r>
              <a:rPr lang="en-US" sz="2000" dirty="0"/>
              <a:t>Logical design</a:t>
            </a:r>
          </a:p>
          <a:p>
            <a:pPr marL="800100" lvl="1" indent="-342900">
              <a:buFont typeface="+mj-lt"/>
              <a:buAutoNum type="arabicPeriod"/>
            </a:pPr>
            <a:r>
              <a:rPr lang="en-US" sz="2000" dirty="0"/>
              <a:t>Physical design</a:t>
            </a:r>
          </a:p>
          <a:p>
            <a:endParaRPr lang="en-US" sz="2000" dirty="0"/>
          </a:p>
        </p:txBody>
      </p:sp>
      <p:sp>
        <p:nvSpPr>
          <p:cNvPr id="2" name="Title 2">
            <a:extLst>
              <a:ext uri="{FF2B5EF4-FFF2-40B4-BE49-F238E27FC236}">
                <a16:creationId xmlns:a16="http://schemas.microsoft.com/office/drawing/2014/main" id="{5FE78973-7853-BFFE-EFFD-4C102982A502}"/>
              </a:ext>
            </a:extLst>
          </p:cNvPr>
          <p:cNvSpPr>
            <a:spLocks noGrp="1"/>
          </p:cNvSpPr>
          <p:nvPr>
            <p:ph type="title"/>
          </p:nvPr>
        </p:nvSpPr>
        <p:spPr>
          <a:xfrm>
            <a:off x="742277" y="802970"/>
            <a:ext cx="10058400" cy="1450757"/>
          </a:xfrm>
        </p:spPr>
        <p:txBody>
          <a:bodyPr>
            <a:normAutofit/>
          </a:bodyPr>
          <a:lstStyle/>
          <a:p>
            <a:r>
              <a:rPr lang="en-US" b="1" i="0" dirty="0">
                <a:solidFill>
                  <a:schemeClr val="tx1"/>
                </a:solidFill>
              </a:rPr>
              <a:t>Bank Management System Example</a:t>
            </a:r>
            <a:br>
              <a:rPr lang="en-US" b="1" i="0" dirty="0">
                <a:solidFill>
                  <a:schemeClr val="tx1"/>
                </a:solidFill>
              </a:rPr>
            </a:br>
            <a:endParaRPr lang="en-US" b="1" dirty="0">
              <a:solidFill>
                <a:schemeClr val="tx1"/>
              </a:solidFill>
            </a:endParaRPr>
          </a:p>
        </p:txBody>
      </p:sp>
      <p:sp>
        <p:nvSpPr>
          <p:cNvPr id="9" name="Footer Placeholder 8">
            <a:extLst>
              <a:ext uri="{FF2B5EF4-FFF2-40B4-BE49-F238E27FC236}">
                <a16:creationId xmlns:a16="http://schemas.microsoft.com/office/drawing/2014/main" id="{8834C550-72A8-D810-94A4-52A29E831A24}"/>
              </a:ext>
            </a:extLst>
          </p:cNvPr>
          <p:cNvSpPr>
            <a:spLocks noGrp="1"/>
          </p:cNvSpPr>
          <p:nvPr>
            <p:ph type="ftr" sz="quarter" idx="11"/>
          </p:nvPr>
        </p:nvSpPr>
        <p:spPr/>
        <p:txBody>
          <a:bodyPr/>
          <a:lstStyle/>
          <a:p>
            <a:r>
              <a:rPr lang="en-US"/>
              <a:t>Eng. Aisha Al-Sadi | HTU | Al Hussein Technical University</a:t>
            </a:r>
          </a:p>
        </p:txBody>
      </p:sp>
      <p:sp>
        <p:nvSpPr>
          <p:cNvPr id="10" name="Slide Number Placeholder 9">
            <a:extLst>
              <a:ext uri="{FF2B5EF4-FFF2-40B4-BE49-F238E27FC236}">
                <a16:creationId xmlns:a16="http://schemas.microsoft.com/office/drawing/2014/main" id="{D0E11D84-12CC-EB17-9859-D8814D4E706B}"/>
              </a:ext>
            </a:extLst>
          </p:cNvPr>
          <p:cNvSpPr>
            <a:spLocks noGrp="1"/>
          </p:cNvSpPr>
          <p:nvPr>
            <p:ph type="sldNum" sz="quarter" idx="12"/>
          </p:nvPr>
        </p:nvSpPr>
        <p:spPr/>
        <p:txBody>
          <a:bodyPr/>
          <a:lstStyle/>
          <a:p>
            <a:fld id="{FD97C469-14A9-4BE4-BDC2-AF98C32D29B7}" type="slidenum">
              <a:rPr lang="en-US" smtClean="0"/>
              <a:t>31</a:t>
            </a:fld>
            <a:endParaRPr lang="en-US"/>
          </a:p>
        </p:txBody>
      </p:sp>
    </p:spTree>
    <p:extLst>
      <p:ext uri="{BB962C8B-B14F-4D97-AF65-F5344CB8AC3E}">
        <p14:creationId xmlns:p14="http://schemas.microsoft.com/office/powerpoint/2010/main" val="38281346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413" y="1758080"/>
            <a:ext cx="11000096" cy="3785652"/>
          </a:xfrm>
          <a:prstGeom prst="rect">
            <a:avLst/>
          </a:prstGeom>
          <a:noFill/>
        </p:spPr>
        <p:txBody>
          <a:bodyPr wrap="square" rtlCol="0">
            <a:spAutoFit/>
          </a:bodyPr>
          <a:lstStyle/>
          <a:p>
            <a:pPr>
              <a:buClr>
                <a:srgbClr val="009CAC"/>
              </a:buClr>
            </a:pPr>
            <a:r>
              <a:rPr lang="en-US" sz="2400" b="1" u="sng" dirty="0"/>
              <a:t>Scenario</a:t>
            </a:r>
            <a:r>
              <a:rPr lang="en-US" sz="2400" u="sng" dirty="0"/>
              <a:t>:</a:t>
            </a:r>
            <a:br>
              <a:rPr lang="en-US" sz="2400" u="sng" dirty="0"/>
            </a:br>
            <a:endParaRPr lang="en-US" sz="2400" u="sng" dirty="0"/>
          </a:p>
          <a:p>
            <a:pPr algn="just"/>
            <a:r>
              <a:rPr lang="en-US" sz="2400" dirty="0"/>
              <a:t>The bank has many </a:t>
            </a:r>
            <a:r>
              <a:rPr lang="en-US" sz="2400" b="1" dirty="0"/>
              <a:t>branches</a:t>
            </a:r>
            <a:r>
              <a:rPr lang="en-US" sz="2400" dirty="0"/>
              <a:t>. Each branch consists of multiple </a:t>
            </a:r>
            <a:r>
              <a:rPr lang="en-US" sz="2400" b="1" dirty="0"/>
              <a:t>departments</a:t>
            </a:r>
            <a:r>
              <a:rPr lang="en-US" sz="2400" dirty="0"/>
              <a:t>, and each department includes many </a:t>
            </a:r>
            <a:r>
              <a:rPr lang="en-US" sz="2400" b="1" dirty="0"/>
              <a:t>employees</a:t>
            </a:r>
            <a:r>
              <a:rPr lang="en-US" sz="2400" dirty="0"/>
              <a:t>. The employee should work in one department. An employee can make many </a:t>
            </a:r>
            <a:r>
              <a:rPr lang="en-US" sz="2400" b="1" dirty="0"/>
              <a:t>transactions</a:t>
            </a:r>
            <a:r>
              <a:rPr lang="en-US" sz="2400" dirty="0"/>
              <a:t>. Each transaction is performed on one </a:t>
            </a:r>
            <a:r>
              <a:rPr lang="en-US" sz="2400" b="1" dirty="0"/>
              <a:t>account</a:t>
            </a:r>
            <a:r>
              <a:rPr lang="en-US" sz="2400" dirty="0"/>
              <a:t>. Note: the account may have multiple transactions. In addition, the account is owned by one or more </a:t>
            </a:r>
            <a:r>
              <a:rPr lang="en-US" sz="2400" b="1" dirty="0"/>
              <a:t>customers</a:t>
            </a:r>
            <a:r>
              <a:rPr lang="en-US" sz="2400" dirty="0"/>
              <a:t> and customers can have multiple accounts. There are many </a:t>
            </a:r>
            <a:r>
              <a:rPr lang="en-US" sz="2400" b="1" dirty="0"/>
              <a:t>account types </a:t>
            </a:r>
            <a:r>
              <a:rPr lang="en-US" sz="2400" dirty="0"/>
              <a:t>like (saving, checking, and money market accounts). For each account, there is one account type. Customers can visit multiple branches.</a:t>
            </a:r>
          </a:p>
          <a:p>
            <a:endParaRPr lang="en-US" sz="2400" dirty="0"/>
          </a:p>
        </p:txBody>
      </p:sp>
      <p:sp>
        <p:nvSpPr>
          <p:cNvPr id="3" name="Title 2">
            <a:extLst>
              <a:ext uri="{FF2B5EF4-FFF2-40B4-BE49-F238E27FC236}">
                <a16:creationId xmlns:a16="http://schemas.microsoft.com/office/drawing/2014/main" id="{F02F9DBA-0EB2-91CD-465B-DEB8DDC63634}"/>
              </a:ext>
            </a:extLst>
          </p:cNvPr>
          <p:cNvSpPr>
            <a:spLocks noGrp="1"/>
          </p:cNvSpPr>
          <p:nvPr>
            <p:ph type="title"/>
          </p:nvPr>
        </p:nvSpPr>
        <p:spPr>
          <a:xfrm>
            <a:off x="633321" y="307323"/>
            <a:ext cx="10058400" cy="1450757"/>
          </a:xfrm>
        </p:spPr>
        <p:txBody>
          <a:bodyPr>
            <a:normAutofit/>
          </a:bodyPr>
          <a:lstStyle/>
          <a:p>
            <a:r>
              <a:rPr lang="en-US" b="1" i="0" dirty="0">
                <a:solidFill>
                  <a:schemeClr val="tx1"/>
                </a:solidFill>
              </a:rPr>
              <a:t>Bank Management System Example</a:t>
            </a:r>
            <a:endParaRPr lang="en-US" b="1" dirty="0">
              <a:solidFill>
                <a:schemeClr val="tx1"/>
              </a:solidFill>
            </a:endParaRPr>
          </a:p>
        </p:txBody>
      </p:sp>
      <p:sp>
        <p:nvSpPr>
          <p:cNvPr id="8" name="Footer Placeholder 7">
            <a:extLst>
              <a:ext uri="{FF2B5EF4-FFF2-40B4-BE49-F238E27FC236}">
                <a16:creationId xmlns:a16="http://schemas.microsoft.com/office/drawing/2014/main" id="{27540406-6EC6-95DF-D5C7-2EA828B295BB}"/>
              </a:ext>
            </a:extLst>
          </p:cNvPr>
          <p:cNvSpPr>
            <a:spLocks noGrp="1"/>
          </p:cNvSpPr>
          <p:nvPr>
            <p:ph type="ftr" sz="quarter" idx="11"/>
          </p:nvPr>
        </p:nvSpPr>
        <p:spPr/>
        <p:txBody>
          <a:bodyPr/>
          <a:lstStyle/>
          <a:p>
            <a:r>
              <a:rPr lang="en-US"/>
              <a:t>Eng. Aisha Al-Sadi | HTU | Al Hussein Technical University</a:t>
            </a:r>
          </a:p>
        </p:txBody>
      </p:sp>
      <p:sp>
        <p:nvSpPr>
          <p:cNvPr id="9" name="Slide Number Placeholder 8">
            <a:extLst>
              <a:ext uri="{FF2B5EF4-FFF2-40B4-BE49-F238E27FC236}">
                <a16:creationId xmlns:a16="http://schemas.microsoft.com/office/drawing/2014/main" id="{7F68538F-091F-DD70-B94E-D3CDBAA71515}"/>
              </a:ext>
            </a:extLst>
          </p:cNvPr>
          <p:cNvSpPr>
            <a:spLocks noGrp="1"/>
          </p:cNvSpPr>
          <p:nvPr>
            <p:ph type="sldNum" sz="quarter" idx="12"/>
          </p:nvPr>
        </p:nvSpPr>
        <p:spPr/>
        <p:txBody>
          <a:bodyPr/>
          <a:lstStyle/>
          <a:p>
            <a:fld id="{FD97C469-14A9-4BE4-BDC2-AF98C32D29B7}" type="slidenum">
              <a:rPr lang="en-US" smtClean="0"/>
              <a:t>32</a:t>
            </a:fld>
            <a:endParaRPr lang="en-US"/>
          </a:p>
        </p:txBody>
      </p:sp>
    </p:spTree>
    <p:extLst>
      <p:ext uri="{BB962C8B-B14F-4D97-AF65-F5344CB8AC3E}">
        <p14:creationId xmlns:p14="http://schemas.microsoft.com/office/powerpoint/2010/main" val="3253225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413" y="1801907"/>
            <a:ext cx="10364015" cy="2862322"/>
          </a:xfrm>
          <a:prstGeom prst="rect">
            <a:avLst/>
          </a:prstGeom>
          <a:noFill/>
        </p:spPr>
        <p:txBody>
          <a:bodyPr wrap="square" rtlCol="0">
            <a:spAutoFit/>
          </a:bodyPr>
          <a:lstStyle/>
          <a:p>
            <a:pPr lvl="1"/>
            <a:r>
              <a:rPr lang="en-US" sz="2000" b="1" dirty="0"/>
              <a:t>Entities:</a:t>
            </a:r>
          </a:p>
          <a:p>
            <a:pPr lvl="1"/>
            <a:endParaRPr lang="en-US" sz="2000" b="1" dirty="0"/>
          </a:p>
          <a:p>
            <a:pPr marL="800100" lvl="1" indent="-342900">
              <a:buFont typeface="+mj-lt"/>
              <a:buAutoNum type="arabicPeriod"/>
            </a:pPr>
            <a:r>
              <a:rPr lang="en-US" sz="2000" b="1" dirty="0">
                <a:solidFill>
                  <a:schemeClr val="accent1">
                    <a:lumMod val="75000"/>
                  </a:schemeClr>
                </a:solidFill>
              </a:rPr>
              <a:t>Branch</a:t>
            </a:r>
          </a:p>
          <a:p>
            <a:pPr marL="800100" lvl="1" indent="-342900">
              <a:buFont typeface="+mj-lt"/>
              <a:buAutoNum type="arabicPeriod"/>
            </a:pPr>
            <a:r>
              <a:rPr lang="en-US" sz="2000" b="1" dirty="0">
                <a:solidFill>
                  <a:schemeClr val="accent1">
                    <a:lumMod val="75000"/>
                  </a:schemeClr>
                </a:solidFill>
              </a:rPr>
              <a:t>Employee</a:t>
            </a:r>
            <a:endParaRPr lang="en-US" sz="2000" dirty="0"/>
          </a:p>
          <a:p>
            <a:pPr marL="800100" lvl="1" indent="-342900">
              <a:buFont typeface="+mj-lt"/>
              <a:buAutoNum type="arabicPeriod"/>
            </a:pPr>
            <a:r>
              <a:rPr lang="en-US" sz="2000" b="1" dirty="0">
                <a:solidFill>
                  <a:schemeClr val="accent1">
                    <a:lumMod val="75000"/>
                  </a:schemeClr>
                </a:solidFill>
              </a:rPr>
              <a:t>Department</a:t>
            </a:r>
            <a:endParaRPr lang="en-US" sz="2000" dirty="0"/>
          </a:p>
          <a:p>
            <a:pPr marL="800100" lvl="1" indent="-342900">
              <a:buFont typeface="+mj-lt"/>
              <a:buAutoNum type="arabicPeriod"/>
            </a:pPr>
            <a:r>
              <a:rPr lang="en-US" sz="2000" b="1" dirty="0">
                <a:solidFill>
                  <a:schemeClr val="accent1">
                    <a:lumMod val="75000"/>
                  </a:schemeClr>
                </a:solidFill>
              </a:rPr>
              <a:t>Transaction</a:t>
            </a:r>
            <a:endParaRPr lang="en-US" sz="2000" dirty="0"/>
          </a:p>
          <a:p>
            <a:pPr marL="800100" lvl="1" indent="-342900">
              <a:buFont typeface="+mj-lt"/>
              <a:buAutoNum type="arabicPeriod"/>
            </a:pPr>
            <a:r>
              <a:rPr lang="en-US" sz="2000" b="1" dirty="0">
                <a:solidFill>
                  <a:schemeClr val="accent1">
                    <a:lumMod val="75000"/>
                  </a:schemeClr>
                </a:solidFill>
              </a:rPr>
              <a:t>Account</a:t>
            </a:r>
            <a:endParaRPr lang="en-US" sz="2000" dirty="0"/>
          </a:p>
          <a:p>
            <a:pPr marL="800100" lvl="1" indent="-342900">
              <a:buFont typeface="+mj-lt"/>
              <a:buAutoNum type="arabicPeriod"/>
            </a:pPr>
            <a:r>
              <a:rPr lang="en-US" sz="2000" b="1" dirty="0">
                <a:solidFill>
                  <a:schemeClr val="accent1">
                    <a:lumMod val="75000"/>
                  </a:schemeClr>
                </a:solidFill>
              </a:rPr>
              <a:t>Customer</a:t>
            </a:r>
            <a:endParaRPr lang="en-US" sz="2000" dirty="0"/>
          </a:p>
          <a:p>
            <a:pPr marL="800100" lvl="1" indent="-342900">
              <a:buFont typeface="+mj-lt"/>
              <a:buAutoNum type="arabicPeriod"/>
            </a:pPr>
            <a:r>
              <a:rPr lang="en-US" sz="2000" b="1" dirty="0">
                <a:solidFill>
                  <a:schemeClr val="accent1">
                    <a:lumMod val="75000"/>
                  </a:schemeClr>
                </a:solidFill>
              </a:rPr>
              <a:t>Account type</a:t>
            </a:r>
            <a:endParaRPr lang="en-US" sz="2000" dirty="0"/>
          </a:p>
        </p:txBody>
      </p:sp>
      <p:sp>
        <p:nvSpPr>
          <p:cNvPr id="3" name="Title 2">
            <a:extLst>
              <a:ext uri="{FF2B5EF4-FFF2-40B4-BE49-F238E27FC236}">
                <a16:creationId xmlns:a16="http://schemas.microsoft.com/office/drawing/2014/main" id="{F02F9DBA-0EB2-91CD-465B-DEB8DDC63634}"/>
              </a:ext>
            </a:extLst>
          </p:cNvPr>
          <p:cNvSpPr>
            <a:spLocks noGrp="1"/>
          </p:cNvSpPr>
          <p:nvPr>
            <p:ph type="title"/>
          </p:nvPr>
        </p:nvSpPr>
        <p:spPr>
          <a:xfrm>
            <a:off x="498070" y="127461"/>
            <a:ext cx="10058400" cy="1450757"/>
          </a:xfrm>
        </p:spPr>
        <p:txBody>
          <a:bodyPr>
            <a:normAutofit/>
          </a:bodyPr>
          <a:lstStyle/>
          <a:p>
            <a:r>
              <a:rPr lang="en-US" b="1" i="0" dirty="0">
                <a:solidFill>
                  <a:schemeClr val="tx1"/>
                </a:solidFill>
              </a:rPr>
              <a:t>Bank Management System Example</a:t>
            </a:r>
            <a:endParaRPr lang="en-US" b="1" dirty="0">
              <a:solidFill>
                <a:schemeClr val="tx1"/>
              </a:solidFill>
            </a:endParaRPr>
          </a:p>
        </p:txBody>
      </p:sp>
      <p:sp>
        <p:nvSpPr>
          <p:cNvPr id="4" name="Footer Placeholder 3">
            <a:extLst>
              <a:ext uri="{FF2B5EF4-FFF2-40B4-BE49-F238E27FC236}">
                <a16:creationId xmlns:a16="http://schemas.microsoft.com/office/drawing/2014/main" id="{CB3B06A9-AC8D-91DE-D0AC-441169D76B0F}"/>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DD7EE9B9-988C-FDC6-B8CD-C0F8B04DEA78}"/>
              </a:ext>
            </a:extLst>
          </p:cNvPr>
          <p:cNvSpPr>
            <a:spLocks noGrp="1"/>
          </p:cNvSpPr>
          <p:nvPr>
            <p:ph type="sldNum" sz="quarter" idx="12"/>
          </p:nvPr>
        </p:nvSpPr>
        <p:spPr/>
        <p:txBody>
          <a:bodyPr/>
          <a:lstStyle/>
          <a:p>
            <a:fld id="{FD97C469-14A9-4BE4-BDC2-AF98C32D29B7}" type="slidenum">
              <a:rPr lang="en-US" smtClean="0"/>
              <a:t>33</a:t>
            </a:fld>
            <a:endParaRPr lang="en-US"/>
          </a:p>
        </p:txBody>
      </p:sp>
    </p:spTree>
    <p:extLst>
      <p:ext uri="{BB962C8B-B14F-4D97-AF65-F5344CB8AC3E}">
        <p14:creationId xmlns:p14="http://schemas.microsoft.com/office/powerpoint/2010/main" val="16209560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92C572F0-587F-45A1-BEE7-88DB2574E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382" y="1164456"/>
            <a:ext cx="9999406" cy="5048719"/>
          </a:xfrm>
          <a:prstGeom prst="rect">
            <a:avLst/>
          </a:prstGeom>
        </p:spPr>
      </p:pic>
      <p:sp>
        <p:nvSpPr>
          <p:cNvPr id="2" name="Title 1">
            <a:extLst>
              <a:ext uri="{FF2B5EF4-FFF2-40B4-BE49-F238E27FC236}">
                <a16:creationId xmlns:a16="http://schemas.microsoft.com/office/drawing/2014/main" id="{3461B0BF-AF3B-D170-D64D-32648EE835F2}"/>
              </a:ext>
            </a:extLst>
          </p:cNvPr>
          <p:cNvSpPr>
            <a:spLocks noGrp="1"/>
          </p:cNvSpPr>
          <p:nvPr>
            <p:ph type="title"/>
          </p:nvPr>
        </p:nvSpPr>
        <p:spPr>
          <a:xfrm>
            <a:off x="498070" y="192467"/>
            <a:ext cx="10058400" cy="1450757"/>
          </a:xfrm>
        </p:spPr>
        <p:txBody>
          <a:bodyPr/>
          <a:lstStyle/>
          <a:p>
            <a:r>
              <a:rPr lang="en-US" sz="4800" b="1" dirty="0">
                <a:solidFill>
                  <a:schemeClr val="tx1"/>
                </a:solidFill>
              </a:rPr>
              <a:t>Conceptual Model</a:t>
            </a:r>
            <a:br>
              <a:rPr lang="en-US" sz="4800" b="1" i="0" dirty="0">
                <a:solidFill>
                  <a:schemeClr val="tx1"/>
                </a:solidFill>
              </a:rPr>
            </a:br>
            <a:endParaRPr lang="en-US" b="1" dirty="0">
              <a:solidFill>
                <a:schemeClr val="tx1"/>
              </a:solidFill>
            </a:endParaRPr>
          </a:p>
        </p:txBody>
      </p:sp>
      <p:sp>
        <p:nvSpPr>
          <p:cNvPr id="8" name="Footer Placeholder 7">
            <a:extLst>
              <a:ext uri="{FF2B5EF4-FFF2-40B4-BE49-F238E27FC236}">
                <a16:creationId xmlns:a16="http://schemas.microsoft.com/office/drawing/2014/main" id="{F4C5BF50-F8C6-667B-060C-401D1A65DDD7}"/>
              </a:ext>
            </a:extLst>
          </p:cNvPr>
          <p:cNvSpPr>
            <a:spLocks noGrp="1"/>
          </p:cNvSpPr>
          <p:nvPr>
            <p:ph type="ftr" sz="quarter" idx="11"/>
          </p:nvPr>
        </p:nvSpPr>
        <p:spPr/>
        <p:txBody>
          <a:bodyPr/>
          <a:lstStyle/>
          <a:p>
            <a:r>
              <a:rPr lang="en-US"/>
              <a:t>Eng. Aisha Al-Sadi | HTU | Al Hussein Technical University</a:t>
            </a:r>
          </a:p>
        </p:txBody>
      </p:sp>
      <p:sp>
        <p:nvSpPr>
          <p:cNvPr id="9" name="Slide Number Placeholder 8">
            <a:extLst>
              <a:ext uri="{FF2B5EF4-FFF2-40B4-BE49-F238E27FC236}">
                <a16:creationId xmlns:a16="http://schemas.microsoft.com/office/drawing/2014/main" id="{22B677E6-FE2E-FEBB-1C39-E924750A67DF}"/>
              </a:ext>
            </a:extLst>
          </p:cNvPr>
          <p:cNvSpPr>
            <a:spLocks noGrp="1"/>
          </p:cNvSpPr>
          <p:nvPr>
            <p:ph type="sldNum" sz="quarter" idx="12"/>
          </p:nvPr>
        </p:nvSpPr>
        <p:spPr/>
        <p:txBody>
          <a:bodyPr/>
          <a:lstStyle/>
          <a:p>
            <a:fld id="{FD97C469-14A9-4BE4-BDC2-AF98C32D29B7}" type="slidenum">
              <a:rPr lang="en-US" smtClean="0"/>
              <a:t>34</a:t>
            </a:fld>
            <a:endParaRPr lang="en-US"/>
          </a:p>
        </p:txBody>
      </p:sp>
    </p:spTree>
    <p:extLst>
      <p:ext uri="{BB962C8B-B14F-4D97-AF65-F5344CB8AC3E}">
        <p14:creationId xmlns:p14="http://schemas.microsoft.com/office/powerpoint/2010/main" val="17590680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A6981-1D51-5706-84FC-01239213494D}"/>
              </a:ext>
            </a:extLst>
          </p:cNvPr>
          <p:cNvSpPr>
            <a:spLocks noGrp="1"/>
          </p:cNvSpPr>
          <p:nvPr>
            <p:ph type="title"/>
          </p:nvPr>
        </p:nvSpPr>
        <p:spPr>
          <a:xfrm>
            <a:off x="1066800" y="263527"/>
            <a:ext cx="10058400" cy="1450757"/>
          </a:xfrm>
        </p:spPr>
        <p:txBody>
          <a:bodyPr/>
          <a:lstStyle/>
          <a:p>
            <a:r>
              <a:rPr lang="en-US" b="1" dirty="0"/>
              <a:t>Company Example</a:t>
            </a:r>
          </a:p>
        </p:txBody>
      </p:sp>
      <p:sp>
        <p:nvSpPr>
          <p:cNvPr id="3" name="Content Placeholder 2">
            <a:extLst>
              <a:ext uri="{FF2B5EF4-FFF2-40B4-BE49-F238E27FC236}">
                <a16:creationId xmlns:a16="http://schemas.microsoft.com/office/drawing/2014/main" id="{EFAB19EB-DD3E-16BA-9F21-517F0C732149}"/>
              </a:ext>
            </a:extLst>
          </p:cNvPr>
          <p:cNvSpPr>
            <a:spLocks noGrp="1"/>
          </p:cNvSpPr>
          <p:nvPr>
            <p:ph idx="1"/>
          </p:nvPr>
        </p:nvSpPr>
        <p:spPr/>
        <p:txBody>
          <a:bodyPr vert="horz" lIns="0" tIns="45720" rIns="0" bIns="45720" rtlCol="0" anchor="t">
            <a:normAutofit/>
          </a:bodyPr>
          <a:lstStyle/>
          <a:p>
            <a:pPr marL="0" indent="0" algn="just">
              <a:buNone/>
            </a:pPr>
            <a:r>
              <a:rPr lang="en-US" sz="2000" b="1" u="sng" dirty="0"/>
              <a:t>Scenario</a:t>
            </a:r>
            <a:r>
              <a:rPr lang="en-US" sz="2000" u="sng" dirty="0"/>
              <a:t>: </a:t>
            </a:r>
          </a:p>
          <a:p>
            <a:pPr marL="0" indent="0" algn="just">
              <a:buNone/>
            </a:pPr>
            <a:r>
              <a:rPr lang="en-US" dirty="0"/>
              <a:t>The company is organized into departments. Each department has an employee who manages the department. Each department controls a number of projects. Each employee works for one department but may work on several projects. Each employee may have a number of dependents.</a:t>
            </a:r>
          </a:p>
        </p:txBody>
      </p:sp>
      <p:sp>
        <p:nvSpPr>
          <p:cNvPr id="4" name="Footer Placeholder 3">
            <a:extLst>
              <a:ext uri="{FF2B5EF4-FFF2-40B4-BE49-F238E27FC236}">
                <a16:creationId xmlns:a16="http://schemas.microsoft.com/office/drawing/2014/main" id="{369CFD22-D69E-2293-9210-DD888E5C7D05}"/>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2FD26C61-B640-DED1-C258-371A4B02E0F1}"/>
              </a:ext>
            </a:extLst>
          </p:cNvPr>
          <p:cNvSpPr>
            <a:spLocks noGrp="1"/>
          </p:cNvSpPr>
          <p:nvPr>
            <p:ph type="sldNum" sz="quarter" idx="12"/>
          </p:nvPr>
        </p:nvSpPr>
        <p:spPr/>
        <p:txBody>
          <a:bodyPr/>
          <a:lstStyle/>
          <a:p>
            <a:fld id="{FD97C469-14A9-4BE4-BDC2-AF98C32D29B7}" type="slidenum">
              <a:rPr lang="en-US" smtClean="0"/>
              <a:t>35</a:t>
            </a:fld>
            <a:endParaRPr lang="en-US"/>
          </a:p>
        </p:txBody>
      </p:sp>
    </p:spTree>
    <p:extLst>
      <p:ext uri="{BB962C8B-B14F-4D97-AF65-F5344CB8AC3E}">
        <p14:creationId xmlns:p14="http://schemas.microsoft.com/office/powerpoint/2010/main" val="1596879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A6981-1D51-5706-84FC-01239213494D}"/>
              </a:ext>
            </a:extLst>
          </p:cNvPr>
          <p:cNvSpPr>
            <a:spLocks noGrp="1"/>
          </p:cNvSpPr>
          <p:nvPr>
            <p:ph type="title"/>
          </p:nvPr>
        </p:nvSpPr>
        <p:spPr>
          <a:xfrm>
            <a:off x="1066800" y="263527"/>
            <a:ext cx="10058400" cy="1450757"/>
          </a:xfrm>
        </p:spPr>
        <p:txBody>
          <a:bodyPr/>
          <a:lstStyle/>
          <a:p>
            <a:r>
              <a:rPr lang="en-US" b="1" dirty="0"/>
              <a:t>Company Example</a:t>
            </a:r>
          </a:p>
        </p:txBody>
      </p:sp>
      <p:sp>
        <p:nvSpPr>
          <p:cNvPr id="3" name="Content Placeholder 2">
            <a:extLst>
              <a:ext uri="{FF2B5EF4-FFF2-40B4-BE49-F238E27FC236}">
                <a16:creationId xmlns:a16="http://schemas.microsoft.com/office/drawing/2014/main" id="{EFAB19EB-DD3E-16BA-9F21-517F0C732149}"/>
              </a:ext>
            </a:extLst>
          </p:cNvPr>
          <p:cNvSpPr>
            <a:spLocks noGrp="1"/>
          </p:cNvSpPr>
          <p:nvPr>
            <p:ph idx="1"/>
          </p:nvPr>
        </p:nvSpPr>
        <p:spPr/>
        <p:txBody>
          <a:bodyPr>
            <a:normAutofit/>
          </a:bodyPr>
          <a:lstStyle/>
          <a:p>
            <a:pPr marL="0" indent="0" algn="just">
              <a:buNone/>
            </a:pPr>
            <a:r>
              <a:rPr lang="en-US" sz="2000" b="1" u="sng" dirty="0"/>
              <a:t>Scenario</a:t>
            </a:r>
            <a:r>
              <a:rPr lang="en-US" sz="2000" u="sng" dirty="0"/>
              <a:t>: </a:t>
            </a:r>
          </a:p>
          <a:p>
            <a:pPr marL="0" indent="0" algn="just">
              <a:buNone/>
            </a:pPr>
            <a:r>
              <a:rPr lang="en-US" dirty="0"/>
              <a:t>The company is organized into </a:t>
            </a:r>
            <a:r>
              <a:rPr lang="en-US" b="1" dirty="0"/>
              <a:t>departments (N:M)</a:t>
            </a:r>
            <a:r>
              <a:rPr lang="en-US" dirty="0"/>
              <a:t>. Each department has an </a:t>
            </a:r>
            <a:r>
              <a:rPr lang="en-US" b="1" dirty="0"/>
              <a:t>employee</a:t>
            </a:r>
            <a:r>
              <a:rPr lang="en-US" dirty="0"/>
              <a:t> who manages the department (N:N). Each department controls a number of </a:t>
            </a:r>
            <a:r>
              <a:rPr lang="en-US" b="1" dirty="0"/>
              <a:t>projects(N:M)</a:t>
            </a:r>
            <a:r>
              <a:rPr lang="en-US" dirty="0"/>
              <a:t>. Each employee works for one department but may work on several projects(N:M). Each employee may have a number </a:t>
            </a:r>
            <a:r>
              <a:rPr lang="en-US"/>
              <a:t>of </a:t>
            </a:r>
            <a:r>
              <a:rPr lang="en-US" b="1"/>
              <a:t>dependents(N:M)</a:t>
            </a:r>
            <a:r>
              <a:rPr lang="en-US"/>
              <a:t>.</a:t>
            </a:r>
            <a:endParaRPr lang="en-US" dirty="0"/>
          </a:p>
        </p:txBody>
      </p:sp>
      <p:sp>
        <p:nvSpPr>
          <p:cNvPr id="4" name="Footer Placeholder 3">
            <a:extLst>
              <a:ext uri="{FF2B5EF4-FFF2-40B4-BE49-F238E27FC236}">
                <a16:creationId xmlns:a16="http://schemas.microsoft.com/office/drawing/2014/main" id="{369CFD22-D69E-2293-9210-DD888E5C7D05}"/>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2FD26C61-B640-DED1-C258-371A4B02E0F1}"/>
              </a:ext>
            </a:extLst>
          </p:cNvPr>
          <p:cNvSpPr>
            <a:spLocks noGrp="1"/>
          </p:cNvSpPr>
          <p:nvPr>
            <p:ph type="sldNum" sz="quarter" idx="12"/>
          </p:nvPr>
        </p:nvSpPr>
        <p:spPr/>
        <p:txBody>
          <a:bodyPr/>
          <a:lstStyle/>
          <a:p>
            <a:fld id="{FD97C469-14A9-4BE4-BDC2-AF98C32D29B7}" type="slidenum">
              <a:rPr lang="en-US" smtClean="0"/>
              <a:t>36</a:t>
            </a:fld>
            <a:endParaRPr lang="en-US"/>
          </a:p>
        </p:txBody>
      </p:sp>
    </p:spTree>
    <p:extLst>
      <p:ext uri="{BB962C8B-B14F-4D97-AF65-F5344CB8AC3E}">
        <p14:creationId xmlns:p14="http://schemas.microsoft.com/office/powerpoint/2010/main" val="5447592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413" y="1801907"/>
            <a:ext cx="10364015" cy="1938992"/>
          </a:xfrm>
          <a:prstGeom prst="rect">
            <a:avLst/>
          </a:prstGeom>
          <a:noFill/>
        </p:spPr>
        <p:txBody>
          <a:bodyPr wrap="square" rtlCol="0">
            <a:spAutoFit/>
          </a:bodyPr>
          <a:lstStyle/>
          <a:p>
            <a:pPr lvl="1"/>
            <a:r>
              <a:rPr lang="en-US" sz="2000" b="1" dirty="0"/>
              <a:t>Entities:</a:t>
            </a:r>
          </a:p>
          <a:p>
            <a:pPr lvl="1"/>
            <a:endParaRPr lang="en-US" sz="2000" b="1" dirty="0"/>
          </a:p>
          <a:p>
            <a:pPr marL="800100" lvl="1" indent="-342900">
              <a:buFont typeface="+mj-lt"/>
              <a:buAutoNum type="arabicPeriod"/>
            </a:pPr>
            <a:r>
              <a:rPr lang="en-US" sz="2000" b="1" dirty="0">
                <a:solidFill>
                  <a:schemeClr val="accent1">
                    <a:lumMod val="75000"/>
                  </a:schemeClr>
                </a:solidFill>
              </a:rPr>
              <a:t>Department</a:t>
            </a:r>
          </a:p>
          <a:p>
            <a:pPr marL="800100" lvl="1" indent="-342900">
              <a:buFont typeface="+mj-lt"/>
              <a:buAutoNum type="arabicPeriod"/>
            </a:pPr>
            <a:r>
              <a:rPr lang="en-US" sz="2000" b="1" dirty="0">
                <a:solidFill>
                  <a:schemeClr val="accent1">
                    <a:lumMod val="75000"/>
                  </a:schemeClr>
                </a:solidFill>
              </a:rPr>
              <a:t>Employee</a:t>
            </a:r>
            <a:endParaRPr lang="en-US" sz="2000" dirty="0"/>
          </a:p>
          <a:p>
            <a:pPr marL="800100" lvl="1" indent="-342900">
              <a:buFont typeface="+mj-lt"/>
              <a:buAutoNum type="arabicPeriod"/>
            </a:pPr>
            <a:r>
              <a:rPr lang="en-US" sz="2000" b="1" dirty="0">
                <a:solidFill>
                  <a:schemeClr val="accent1">
                    <a:lumMod val="75000"/>
                  </a:schemeClr>
                </a:solidFill>
              </a:rPr>
              <a:t>Project</a:t>
            </a:r>
            <a:endParaRPr lang="en-US" sz="2000" dirty="0"/>
          </a:p>
          <a:p>
            <a:pPr marL="800100" lvl="1" indent="-342900">
              <a:buFont typeface="+mj-lt"/>
              <a:buAutoNum type="arabicPeriod"/>
            </a:pPr>
            <a:r>
              <a:rPr lang="en-US" sz="2000" b="1" dirty="0">
                <a:solidFill>
                  <a:schemeClr val="accent1">
                    <a:lumMod val="75000"/>
                  </a:schemeClr>
                </a:solidFill>
              </a:rPr>
              <a:t>Dependent</a:t>
            </a:r>
            <a:endParaRPr lang="en-US" sz="2000" dirty="0"/>
          </a:p>
        </p:txBody>
      </p:sp>
      <p:sp>
        <p:nvSpPr>
          <p:cNvPr id="3" name="Title 2">
            <a:extLst>
              <a:ext uri="{FF2B5EF4-FFF2-40B4-BE49-F238E27FC236}">
                <a16:creationId xmlns:a16="http://schemas.microsoft.com/office/drawing/2014/main" id="{F02F9DBA-0EB2-91CD-465B-DEB8DDC63634}"/>
              </a:ext>
            </a:extLst>
          </p:cNvPr>
          <p:cNvSpPr>
            <a:spLocks noGrp="1"/>
          </p:cNvSpPr>
          <p:nvPr>
            <p:ph type="title"/>
          </p:nvPr>
        </p:nvSpPr>
        <p:spPr>
          <a:xfrm>
            <a:off x="762413" y="178751"/>
            <a:ext cx="10058400" cy="1450757"/>
          </a:xfrm>
        </p:spPr>
        <p:txBody>
          <a:bodyPr>
            <a:normAutofit/>
          </a:bodyPr>
          <a:lstStyle/>
          <a:p>
            <a:r>
              <a:rPr lang="en-US" b="1" dirty="0"/>
              <a:t>Company Example</a:t>
            </a:r>
            <a:endParaRPr lang="en-US" b="1" dirty="0">
              <a:solidFill>
                <a:schemeClr val="tx1"/>
              </a:solidFill>
            </a:endParaRPr>
          </a:p>
        </p:txBody>
      </p:sp>
      <p:sp>
        <p:nvSpPr>
          <p:cNvPr id="4" name="Footer Placeholder 3">
            <a:extLst>
              <a:ext uri="{FF2B5EF4-FFF2-40B4-BE49-F238E27FC236}">
                <a16:creationId xmlns:a16="http://schemas.microsoft.com/office/drawing/2014/main" id="{CB3B06A9-AC8D-91DE-D0AC-441169D76B0F}"/>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DD7EE9B9-988C-FDC6-B8CD-C0F8B04DEA78}"/>
              </a:ext>
            </a:extLst>
          </p:cNvPr>
          <p:cNvSpPr>
            <a:spLocks noGrp="1"/>
          </p:cNvSpPr>
          <p:nvPr>
            <p:ph type="sldNum" sz="quarter" idx="12"/>
          </p:nvPr>
        </p:nvSpPr>
        <p:spPr/>
        <p:txBody>
          <a:bodyPr/>
          <a:lstStyle/>
          <a:p>
            <a:fld id="{FD97C469-14A9-4BE4-BDC2-AF98C32D29B7}" type="slidenum">
              <a:rPr lang="en-US" smtClean="0"/>
              <a:t>37</a:t>
            </a:fld>
            <a:endParaRPr lang="en-US"/>
          </a:p>
        </p:txBody>
      </p:sp>
    </p:spTree>
    <p:extLst>
      <p:ext uri="{BB962C8B-B14F-4D97-AF65-F5344CB8AC3E}">
        <p14:creationId xmlns:p14="http://schemas.microsoft.com/office/powerpoint/2010/main" val="3321753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20EEE-2355-5A8A-6CB9-190C282F0AB6}"/>
              </a:ext>
            </a:extLst>
          </p:cNvPr>
          <p:cNvSpPr>
            <a:spLocks noGrp="1"/>
          </p:cNvSpPr>
          <p:nvPr>
            <p:ph type="title"/>
          </p:nvPr>
        </p:nvSpPr>
        <p:spPr/>
        <p:txBody>
          <a:bodyPr/>
          <a:lstStyle/>
          <a:p>
            <a:r>
              <a:rPr lang="en-US" sz="4800" b="1" dirty="0">
                <a:solidFill>
                  <a:schemeClr val="tx1"/>
                </a:solidFill>
              </a:rPr>
              <a:t>Conceptual Model</a:t>
            </a:r>
            <a:endParaRPr lang="en-US" dirty="0"/>
          </a:p>
        </p:txBody>
      </p:sp>
      <p:sp>
        <p:nvSpPr>
          <p:cNvPr id="4" name="Footer Placeholder 3">
            <a:extLst>
              <a:ext uri="{FF2B5EF4-FFF2-40B4-BE49-F238E27FC236}">
                <a16:creationId xmlns:a16="http://schemas.microsoft.com/office/drawing/2014/main" id="{2E5B8F3D-E568-EB9D-405F-E11417C2C9F6}"/>
              </a:ext>
            </a:extLst>
          </p:cNvPr>
          <p:cNvSpPr>
            <a:spLocks noGrp="1"/>
          </p:cNvSpPr>
          <p:nvPr>
            <p:ph type="ftr" sz="quarter" idx="11"/>
          </p:nvPr>
        </p:nvSpPr>
        <p:spPr/>
        <p:txBody>
          <a:bodyPr/>
          <a:lstStyle/>
          <a:p>
            <a:r>
              <a:rPr lang="en-US"/>
              <a:t>Eng. Aisha Al-Sadi | HTU | Al Hussein Technical University</a:t>
            </a:r>
          </a:p>
        </p:txBody>
      </p:sp>
      <p:sp>
        <p:nvSpPr>
          <p:cNvPr id="5" name="Slide Number Placeholder 4">
            <a:extLst>
              <a:ext uri="{FF2B5EF4-FFF2-40B4-BE49-F238E27FC236}">
                <a16:creationId xmlns:a16="http://schemas.microsoft.com/office/drawing/2014/main" id="{F9466BC6-1EE7-D7FC-686B-3D7EE6584DF4}"/>
              </a:ext>
            </a:extLst>
          </p:cNvPr>
          <p:cNvSpPr>
            <a:spLocks noGrp="1"/>
          </p:cNvSpPr>
          <p:nvPr>
            <p:ph type="sldNum" sz="quarter" idx="12"/>
          </p:nvPr>
        </p:nvSpPr>
        <p:spPr/>
        <p:txBody>
          <a:bodyPr/>
          <a:lstStyle/>
          <a:p>
            <a:fld id="{FD97C469-14A9-4BE4-BDC2-AF98C32D29B7}" type="slidenum">
              <a:rPr lang="en-US" smtClean="0"/>
              <a:t>38</a:t>
            </a:fld>
            <a:endParaRPr lang="en-US"/>
          </a:p>
        </p:txBody>
      </p:sp>
      <p:pic>
        <p:nvPicPr>
          <p:cNvPr id="6" name="Content Placeholder 7" descr="Diagram&#10;&#10;Description automatically generated">
            <a:extLst>
              <a:ext uri="{FF2B5EF4-FFF2-40B4-BE49-F238E27FC236}">
                <a16:creationId xmlns:a16="http://schemas.microsoft.com/office/drawing/2014/main" id="{EE69FC30-1110-2218-84FA-CD53792FE0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5924" y="1963665"/>
            <a:ext cx="6636356" cy="4092164"/>
          </a:xfrm>
        </p:spPr>
      </p:pic>
    </p:spTree>
    <p:extLst>
      <p:ext uri="{BB962C8B-B14F-4D97-AF65-F5344CB8AC3E}">
        <p14:creationId xmlns:p14="http://schemas.microsoft.com/office/powerpoint/2010/main" val="5655622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CD4E9-AB76-DCC3-DF29-E580B5097241}"/>
              </a:ext>
            </a:extLst>
          </p:cNvPr>
          <p:cNvSpPr>
            <a:spLocks noGrp="1"/>
          </p:cNvSpPr>
          <p:nvPr>
            <p:ph type="title"/>
          </p:nvPr>
        </p:nvSpPr>
        <p:spPr/>
        <p:txBody>
          <a:bodyPr/>
          <a:lstStyle/>
          <a:p>
            <a:r>
              <a:rPr lang="en-US" b="1" dirty="0"/>
              <a:t>References</a:t>
            </a:r>
          </a:p>
        </p:txBody>
      </p:sp>
      <p:sp>
        <p:nvSpPr>
          <p:cNvPr id="3" name="Content Placeholder 2">
            <a:extLst>
              <a:ext uri="{FF2B5EF4-FFF2-40B4-BE49-F238E27FC236}">
                <a16:creationId xmlns:a16="http://schemas.microsoft.com/office/drawing/2014/main" id="{A265E0F3-5D11-F367-CFA2-962E4B13BF18}"/>
              </a:ext>
            </a:extLst>
          </p:cNvPr>
          <p:cNvSpPr>
            <a:spLocks noGrp="1"/>
          </p:cNvSpPr>
          <p:nvPr>
            <p:ph idx="1"/>
          </p:nvPr>
        </p:nvSpPr>
        <p:spPr/>
        <p:txBody>
          <a:bodyPr/>
          <a:lstStyle/>
          <a:p>
            <a:pPr marL="461963" indent="-342900">
              <a:buFont typeface="Wingdings" panose="05000000000000000000" pitchFamily="2" charset="2"/>
              <a:buChar char="§"/>
            </a:pPr>
            <a:r>
              <a:rPr lang="en-US" dirty="0" err="1"/>
              <a:t>Elmasri</a:t>
            </a:r>
            <a:r>
              <a:rPr lang="en-US" dirty="0"/>
              <a:t>, R., &amp; Navathe, S. (2017). Fundamentals of database systems (Vol. 7). Pearson</a:t>
            </a:r>
          </a:p>
          <a:p>
            <a:pPr marL="461963" indent="-342900">
              <a:buFont typeface="Wingdings" panose="05000000000000000000" pitchFamily="2" charset="2"/>
              <a:buChar char="§"/>
            </a:pPr>
            <a:r>
              <a:rPr lang="en-US" dirty="0"/>
              <a:t>Eng. Lina’s slides</a:t>
            </a:r>
          </a:p>
          <a:p>
            <a:pPr marL="461963" indent="-342900">
              <a:buFont typeface="Wingdings" panose="05000000000000000000" pitchFamily="2" charset="2"/>
              <a:buChar char="§"/>
            </a:pPr>
            <a:r>
              <a:rPr lang="en-US" dirty="0"/>
              <a:t>Dr. </a:t>
            </a:r>
            <a:r>
              <a:rPr lang="en-US" dirty="0" err="1"/>
              <a:t>Raneem’s</a:t>
            </a:r>
            <a:r>
              <a:rPr lang="en-US" dirty="0"/>
              <a:t> slides.</a:t>
            </a:r>
          </a:p>
          <a:p>
            <a:endParaRPr lang="en-US" dirty="0"/>
          </a:p>
        </p:txBody>
      </p:sp>
      <p:sp>
        <p:nvSpPr>
          <p:cNvPr id="8" name="Footer Placeholder 7">
            <a:extLst>
              <a:ext uri="{FF2B5EF4-FFF2-40B4-BE49-F238E27FC236}">
                <a16:creationId xmlns:a16="http://schemas.microsoft.com/office/drawing/2014/main" id="{770C214B-C333-DF48-667B-3B940B09BFA9}"/>
              </a:ext>
            </a:extLst>
          </p:cNvPr>
          <p:cNvSpPr>
            <a:spLocks noGrp="1"/>
          </p:cNvSpPr>
          <p:nvPr>
            <p:ph type="ftr" sz="quarter" idx="11"/>
          </p:nvPr>
        </p:nvSpPr>
        <p:spPr/>
        <p:txBody>
          <a:bodyPr/>
          <a:lstStyle/>
          <a:p>
            <a:r>
              <a:rPr lang="en-US"/>
              <a:t>Eng. Aisha Al-Sadi | HTU | Al Hussein Technical University</a:t>
            </a:r>
          </a:p>
        </p:txBody>
      </p:sp>
      <p:sp>
        <p:nvSpPr>
          <p:cNvPr id="9" name="Slide Number Placeholder 8">
            <a:extLst>
              <a:ext uri="{FF2B5EF4-FFF2-40B4-BE49-F238E27FC236}">
                <a16:creationId xmlns:a16="http://schemas.microsoft.com/office/drawing/2014/main" id="{29DAE85A-CA6F-AED8-9559-58627049E5A9}"/>
              </a:ext>
            </a:extLst>
          </p:cNvPr>
          <p:cNvSpPr>
            <a:spLocks noGrp="1"/>
          </p:cNvSpPr>
          <p:nvPr>
            <p:ph type="sldNum" sz="quarter" idx="12"/>
          </p:nvPr>
        </p:nvSpPr>
        <p:spPr/>
        <p:txBody>
          <a:bodyPr/>
          <a:lstStyle/>
          <a:p>
            <a:fld id="{FD97C469-14A9-4BE4-BDC2-AF98C32D29B7}" type="slidenum">
              <a:rPr lang="en-US" smtClean="0"/>
              <a:t>39</a:t>
            </a:fld>
            <a:endParaRPr lang="en-US"/>
          </a:p>
        </p:txBody>
      </p:sp>
    </p:spTree>
    <p:extLst>
      <p:ext uri="{BB962C8B-B14F-4D97-AF65-F5344CB8AC3E}">
        <p14:creationId xmlns:p14="http://schemas.microsoft.com/office/powerpoint/2010/main" val="3479583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8.09.12"/>
  <p:tag name="AS_TITLE" val="Aspose.Slides for .NET 2.0"/>
  <p:tag name="AS_VERSION" val="18.9"/>
</p:tagLst>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1a8be0f-7015-4e50-9564-35eed95e1d4b" xsi:nil="true"/>
    <lcf76f155ced4ddcb4097134ff3c332f xmlns="20e1e97f-73d7-4e18-a866-c21287f5beb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C25F4A22F9A2244AB4191CB94A9A122" ma:contentTypeVersion="12" ma:contentTypeDescription="Create a new document." ma:contentTypeScope="" ma:versionID="78c05d3e7b76959abcce1c7855191722">
  <xsd:schema xmlns:xsd="http://www.w3.org/2001/XMLSchema" xmlns:xs="http://www.w3.org/2001/XMLSchema" xmlns:p="http://schemas.microsoft.com/office/2006/metadata/properties" xmlns:ns2="20e1e97f-73d7-4e18-a866-c21287f5beba" xmlns:ns3="61a8be0f-7015-4e50-9564-35eed95e1d4b" targetNamespace="http://schemas.microsoft.com/office/2006/metadata/properties" ma:root="true" ma:fieldsID="cebcee57a684f7b0fa8fb183cc3edcdc" ns2:_="" ns3:_="">
    <xsd:import namespace="20e1e97f-73d7-4e18-a866-c21287f5beba"/>
    <xsd:import namespace="61a8be0f-7015-4e50-9564-35eed95e1d4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e1e97f-73d7-4e18-a866-c21287f5be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07ed373-0d48-45e2-9f92-3017cfc5a97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1a8be0f-7015-4e50-9564-35eed95e1d4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49b9ce2e-66ea-4c8f-8db8-7f7bee885ef5}" ma:internalName="TaxCatchAll" ma:showField="CatchAllData" ma:web="61a8be0f-7015-4e50-9564-35eed95e1d4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61CB00-E0AC-46DD-A47A-2EB68007BF1C}">
  <ds:schemaRefs>
    <ds:schemaRef ds:uri="http://schemas.microsoft.com/office/infopath/2007/PartnerControls"/>
    <ds:schemaRef ds:uri="61a8be0f-7015-4e50-9564-35eed95e1d4b"/>
    <ds:schemaRef ds:uri="20e1e97f-73d7-4e18-a866-c21287f5beba"/>
    <ds:schemaRef ds:uri="http://schemas.openxmlformats.org/package/2006/metadata/core-properties"/>
    <ds:schemaRef ds:uri="http://schemas.microsoft.com/office/2006/documentManagement/types"/>
    <ds:schemaRef ds:uri="http://purl.org/dc/elements/1.1/"/>
    <ds:schemaRef ds:uri="http://purl.org/dc/dcmitype/"/>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7273AAC6-38E5-4BA7-9DFA-C0FEDDCBEC74}">
  <ds:schemaRefs>
    <ds:schemaRef ds:uri="http://schemas.microsoft.com/sharepoint/v3/contenttype/forms"/>
  </ds:schemaRefs>
</ds:datastoreItem>
</file>

<file path=customXml/itemProps3.xml><?xml version="1.0" encoding="utf-8"?>
<ds:datastoreItem xmlns:ds="http://schemas.openxmlformats.org/officeDocument/2006/customXml" ds:itemID="{D24AB638-345D-4214-8C7F-4A0A8B6BF3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e1e97f-73d7-4e18-a866-c21287f5beba"/>
    <ds:schemaRef ds:uri="61a8be0f-7015-4e50-9564-35eed95e1d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Retrospect</Template>
  <TotalTime>9580</TotalTime>
  <Words>2725</Words>
  <Application>Microsoft Office PowerPoint</Application>
  <PresentationFormat>Widescreen</PresentationFormat>
  <Paragraphs>351</Paragraphs>
  <Slides>39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Wingdings</vt:lpstr>
      <vt:lpstr>Retrospect</vt:lpstr>
      <vt:lpstr>Database Development &amp; Design </vt:lpstr>
      <vt:lpstr>Outline</vt:lpstr>
      <vt:lpstr>ER Model</vt:lpstr>
      <vt:lpstr>Data Models in DBMS (schema in DBMS) </vt:lpstr>
      <vt:lpstr>Data Models in DBMS (schema in DBMS) </vt:lpstr>
      <vt:lpstr>Overview of Database Design Process</vt:lpstr>
      <vt:lpstr>Database Design Process</vt:lpstr>
      <vt:lpstr>Database Design Process</vt:lpstr>
      <vt:lpstr>Database Design Process</vt:lpstr>
      <vt:lpstr>Database Design Process</vt:lpstr>
      <vt:lpstr>Build the Conceptual Schema</vt:lpstr>
      <vt:lpstr>ER model in DBMS</vt:lpstr>
      <vt:lpstr>ER model in DBMS</vt:lpstr>
      <vt:lpstr>ER model in DBMS</vt:lpstr>
      <vt:lpstr>ER model in DBMS</vt:lpstr>
      <vt:lpstr>ER model in DBMS</vt:lpstr>
      <vt:lpstr>Relationship Type vs. Relationship Set</vt:lpstr>
      <vt:lpstr>E-R model in DBMS</vt:lpstr>
      <vt:lpstr>Constraints on Relationships Types</vt:lpstr>
      <vt:lpstr>Recursive Relationship Type</vt:lpstr>
      <vt:lpstr>Entity vs. Entity Type vs. Entity Set</vt:lpstr>
      <vt:lpstr>Entity vs. Entity Type vs. Entity Set </vt:lpstr>
      <vt:lpstr>ERD Notations in Data Modeling</vt:lpstr>
      <vt:lpstr>Notations for ER Diagrams </vt:lpstr>
      <vt:lpstr>Notations for ER Diagrams</vt:lpstr>
      <vt:lpstr>ERD Notations </vt:lpstr>
      <vt:lpstr>ERD Notations </vt:lpstr>
      <vt:lpstr>Shapes of E-R Diagram </vt:lpstr>
      <vt:lpstr>Shapes of E-R Diagram Optional relationship</vt:lpstr>
      <vt:lpstr>Bank Management System Example</vt:lpstr>
      <vt:lpstr>Bank Management System Example </vt:lpstr>
      <vt:lpstr>Bank Management System Example</vt:lpstr>
      <vt:lpstr>Bank Management System Example</vt:lpstr>
      <vt:lpstr>Conceptual Model </vt:lpstr>
      <vt:lpstr>Company Example</vt:lpstr>
      <vt:lpstr>Company Example</vt:lpstr>
      <vt:lpstr>Company Example</vt:lpstr>
      <vt:lpstr>Conceptual Model</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jabrraghad10@gmail.com</cp:lastModifiedBy>
  <cp:revision>804</cp:revision>
  <dcterms:created xsi:type="dcterms:W3CDTF">2016-11-07T09:21:29Z</dcterms:created>
  <dcterms:modified xsi:type="dcterms:W3CDTF">2024-07-17T00:19:14Z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0x0101004C25F4A22F9A2244AB4191CB94A9A122</vt:lpwstr>
  </property>
</Properties>
</file>