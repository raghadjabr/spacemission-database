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sldIdLst>
    <p:sldId id="428" r:id="rId2"/>
    <p:sldId id="260" r:id="rId3"/>
    <p:sldId id="475" r:id="rId4"/>
    <p:sldId id="493" r:id="rId5"/>
    <p:sldId id="476" r:id="rId6"/>
    <p:sldId id="471" r:id="rId7"/>
    <p:sldId id="483" r:id="rId8"/>
    <p:sldId id="480" r:id="rId9"/>
    <p:sldId id="485" r:id="rId10"/>
    <p:sldId id="487" r:id="rId11"/>
    <p:sldId id="478" r:id="rId12"/>
    <p:sldId id="513" r:id="rId13"/>
    <p:sldId id="514" r:id="rId14"/>
    <p:sldId id="482" r:id="rId15"/>
    <p:sldId id="481" r:id="rId16"/>
    <p:sldId id="488" r:id="rId17"/>
    <p:sldId id="479" r:id="rId18"/>
    <p:sldId id="489" r:id="rId19"/>
    <p:sldId id="490" r:id="rId20"/>
    <p:sldId id="491" r:id="rId21"/>
    <p:sldId id="492" r:id="rId22"/>
    <p:sldId id="474" r:id="rId23"/>
    <p:sldId id="477" r:id="rId24"/>
    <p:sldId id="360" r:id="rId25"/>
    <p:sldId id="496" r:id="rId26"/>
    <p:sldId id="505" r:id="rId27"/>
    <p:sldId id="498" r:id="rId28"/>
    <p:sldId id="502" r:id="rId29"/>
    <p:sldId id="509" r:id="rId30"/>
    <p:sldId id="499" r:id="rId31"/>
    <p:sldId id="500" r:id="rId32"/>
    <p:sldId id="504" r:id="rId33"/>
    <p:sldId id="506" r:id="rId34"/>
    <p:sldId id="507" r:id="rId35"/>
    <p:sldId id="508" r:id="rId36"/>
    <p:sldId id="511" r:id="rId37"/>
    <p:sldId id="512" r:id="rId38"/>
    <p:sldId id="494" r:id="rId39"/>
    <p:sldId id="429"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C5DFB8-E222-4728-8710-656E3B48C378}">
          <p14:sldIdLst>
            <p14:sldId id="428"/>
            <p14:sldId id="260"/>
            <p14:sldId id="475"/>
            <p14:sldId id="493"/>
            <p14:sldId id="476"/>
            <p14:sldId id="471"/>
            <p14:sldId id="483"/>
            <p14:sldId id="480"/>
            <p14:sldId id="485"/>
            <p14:sldId id="487"/>
            <p14:sldId id="478"/>
            <p14:sldId id="513"/>
            <p14:sldId id="514"/>
            <p14:sldId id="482"/>
            <p14:sldId id="481"/>
            <p14:sldId id="488"/>
            <p14:sldId id="479"/>
            <p14:sldId id="489"/>
            <p14:sldId id="490"/>
            <p14:sldId id="491"/>
            <p14:sldId id="492"/>
            <p14:sldId id="474"/>
            <p14:sldId id="477"/>
            <p14:sldId id="360"/>
            <p14:sldId id="496"/>
            <p14:sldId id="505"/>
            <p14:sldId id="498"/>
            <p14:sldId id="502"/>
            <p14:sldId id="509"/>
            <p14:sldId id="499"/>
            <p14:sldId id="500"/>
            <p14:sldId id="504"/>
            <p14:sldId id="506"/>
            <p14:sldId id="507"/>
            <p14:sldId id="508"/>
            <p14:sldId id="511"/>
            <p14:sldId id="512"/>
            <p14:sldId id="494"/>
            <p14:sldId id="4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DF2C2B-DC4D-39C2-91A8-9AC274DD3F3D}" v="1" dt="2024-04-04T00:34:54.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94660"/>
  </p:normalViewPr>
  <p:slideViewPr>
    <p:cSldViewPr snapToGrid="0">
      <p:cViewPr varScale="1">
        <p:scale>
          <a:sx n="78" d="100"/>
          <a:sy n="78" d="100"/>
        </p:scale>
        <p:origin x="49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b1cab02307359dac10cc2d0027895c71bbd05e8d97d3f20e910debbd414639ec::" providerId="AD" clId="Web-{7BB96CC3-6C9C-D605-028B-7132C375E8EA}"/>
    <pc:docChg chg="modSld sldOrd">
      <pc:chgData name="Guest User" userId="S::urn:spo:anon#b1cab02307359dac10cc2d0027895c71bbd05e8d97d3f20e910debbd414639ec::" providerId="AD" clId="Web-{7BB96CC3-6C9C-D605-028B-7132C375E8EA}" dt="2023-11-12T18:23:28.353" v="2" actId="20577"/>
      <pc:docMkLst>
        <pc:docMk/>
      </pc:docMkLst>
      <pc:sldChg chg="ord">
        <pc:chgData name="Guest User" userId="S::urn:spo:anon#b1cab02307359dac10cc2d0027895c71bbd05e8d97d3f20e910debbd414639ec::" providerId="AD" clId="Web-{7BB96CC3-6C9C-D605-028B-7132C375E8EA}" dt="2023-11-12T18:17:08.784" v="0"/>
        <pc:sldMkLst>
          <pc:docMk/>
          <pc:sldMk cId="3571070292" sldId="476"/>
        </pc:sldMkLst>
      </pc:sldChg>
      <pc:sldChg chg="modSp">
        <pc:chgData name="Guest User" userId="S::urn:spo:anon#b1cab02307359dac10cc2d0027895c71bbd05e8d97d3f20e910debbd414639ec::" providerId="AD" clId="Web-{7BB96CC3-6C9C-D605-028B-7132C375E8EA}" dt="2023-11-12T18:23:28.353" v="2" actId="20577"/>
        <pc:sldMkLst>
          <pc:docMk/>
          <pc:sldMk cId="3402162115" sldId="487"/>
        </pc:sldMkLst>
        <pc:spChg chg="mod">
          <ac:chgData name="Guest User" userId="S::urn:spo:anon#b1cab02307359dac10cc2d0027895c71bbd05e8d97d3f20e910debbd414639ec::" providerId="AD" clId="Web-{7BB96CC3-6C9C-D605-028B-7132C375E8EA}" dt="2023-11-12T18:23:28.353" v="2" actId="20577"/>
          <ac:spMkLst>
            <pc:docMk/>
            <pc:sldMk cId="3402162115" sldId="487"/>
            <ac:spMk id="3" creationId="{8256FD73-EC93-E3B9-F0C3-D29B7BD5F232}"/>
          </ac:spMkLst>
        </pc:spChg>
      </pc:sldChg>
    </pc:docChg>
  </pc:docChgLst>
  <pc:docChgLst>
    <pc:chgData name="Ashraf Al-Smadi" userId="S::ashraf.al-smadi@htu.edu.jo::8712697e-8e06-4a5d-87d3-7444f6c1fef6" providerId="AD" clId="Web-{70DF2C2B-DC4D-39C2-91A8-9AC274DD3F3D}"/>
    <pc:docChg chg="modSld">
      <pc:chgData name="Ashraf Al-Smadi" userId="S::ashraf.al-smadi@htu.edu.jo::8712697e-8e06-4a5d-87d3-7444f6c1fef6" providerId="AD" clId="Web-{70DF2C2B-DC4D-39C2-91A8-9AC274DD3F3D}" dt="2024-04-04T00:34:54.435" v="0" actId="1076"/>
      <pc:docMkLst>
        <pc:docMk/>
      </pc:docMkLst>
      <pc:sldChg chg="modSp">
        <pc:chgData name="Ashraf Al-Smadi" userId="S::ashraf.al-smadi@htu.edu.jo::8712697e-8e06-4a5d-87d3-7444f6c1fef6" providerId="AD" clId="Web-{70DF2C2B-DC4D-39C2-91A8-9AC274DD3F3D}" dt="2024-04-04T00:34:54.435" v="0" actId="1076"/>
        <pc:sldMkLst>
          <pc:docMk/>
          <pc:sldMk cId="273169289" sldId="494"/>
        </pc:sldMkLst>
        <pc:picChg chg="mod">
          <ac:chgData name="Ashraf Al-Smadi" userId="S::ashraf.al-smadi@htu.edu.jo::8712697e-8e06-4a5d-87d3-7444f6c1fef6" providerId="AD" clId="Web-{70DF2C2B-DC4D-39C2-91A8-9AC274DD3F3D}" dt="2024-04-04T00:34:54.435" v="0" actId="1076"/>
          <ac:picMkLst>
            <pc:docMk/>
            <pc:sldMk cId="273169289" sldId="494"/>
            <ac:picMk id="4" creationId="{787E1759-FA6A-359D-B999-E09D0F90361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65E0FC-0385-4279-BF96-19415037A8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73876B8-0F9A-4906-8EAE-CDEECAFBC743}">
      <dgm:prSet/>
      <dgm:spPr/>
      <dgm:t>
        <a:bodyPr/>
        <a:lstStyle/>
        <a:p>
          <a:r>
            <a:rPr lang="en-US" dirty="0"/>
            <a:t>Employee (</a:t>
          </a:r>
          <a:r>
            <a:rPr lang="en-US" u="sng" dirty="0"/>
            <a:t>SSN</a:t>
          </a:r>
          <a:r>
            <a:rPr lang="en-US" dirty="0"/>
            <a:t>, </a:t>
          </a:r>
          <a:r>
            <a:rPr lang="en-US" dirty="0" err="1"/>
            <a:t>fname</a:t>
          </a:r>
          <a:r>
            <a:rPr lang="en-US" dirty="0"/>
            <a:t>, </a:t>
          </a:r>
          <a:r>
            <a:rPr lang="en-US" dirty="0" err="1"/>
            <a:t>mname</a:t>
          </a:r>
          <a:r>
            <a:rPr lang="en-US" dirty="0"/>
            <a:t>, </a:t>
          </a:r>
          <a:r>
            <a:rPr lang="en-US" dirty="0" err="1"/>
            <a:t>lname</a:t>
          </a:r>
          <a:r>
            <a:rPr lang="en-US" dirty="0"/>
            <a:t>, birthdate, salary, gender, </a:t>
          </a:r>
          <a:r>
            <a:rPr lang="en-US" dirty="0">
              <a:highlight>
                <a:srgbClr val="800000"/>
              </a:highlight>
            </a:rPr>
            <a:t>dept number, supervisor SSN</a:t>
          </a:r>
          <a:r>
            <a:rPr lang="en-US" dirty="0"/>
            <a:t>)</a:t>
          </a:r>
        </a:p>
      </dgm:t>
    </dgm:pt>
    <dgm:pt modelId="{24F1B80E-D608-4844-9317-90BF9E27AD07}" type="parTrans" cxnId="{4D4E726B-202A-4681-A78C-38EDCBA8F4B9}">
      <dgm:prSet/>
      <dgm:spPr/>
      <dgm:t>
        <a:bodyPr/>
        <a:lstStyle/>
        <a:p>
          <a:endParaRPr lang="en-US"/>
        </a:p>
      </dgm:t>
    </dgm:pt>
    <dgm:pt modelId="{49BAD6B5-C570-43CC-9A1D-73FD1447A858}" type="sibTrans" cxnId="{4D4E726B-202A-4681-A78C-38EDCBA8F4B9}">
      <dgm:prSet/>
      <dgm:spPr/>
      <dgm:t>
        <a:bodyPr/>
        <a:lstStyle/>
        <a:p>
          <a:endParaRPr lang="en-US"/>
        </a:p>
      </dgm:t>
    </dgm:pt>
    <dgm:pt modelId="{986EE8F5-E516-403C-94D6-7FF74CF9D100}">
      <dgm:prSet/>
      <dgm:spPr/>
      <dgm:t>
        <a:bodyPr/>
        <a:lstStyle/>
        <a:p>
          <a:r>
            <a:rPr lang="en-US" dirty="0"/>
            <a:t>Department (</a:t>
          </a:r>
          <a:r>
            <a:rPr lang="en-US" u="sng" dirty="0"/>
            <a:t>number</a:t>
          </a:r>
          <a:r>
            <a:rPr lang="en-US" dirty="0"/>
            <a:t>, name, start date, manager SSN)</a:t>
          </a:r>
        </a:p>
      </dgm:t>
    </dgm:pt>
    <dgm:pt modelId="{E536179B-34CF-4E76-8FE8-93F8A85222F9}" type="parTrans" cxnId="{44AAC263-086C-487F-A3CD-3562920E7AB9}">
      <dgm:prSet/>
      <dgm:spPr/>
      <dgm:t>
        <a:bodyPr/>
        <a:lstStyle/>
        <a:p>
          <a:endParaRPr lang="en-US"/>
        </a:p>
      </dgm:t>
    </dgm:pt>
    <dgm:pt modelId="{9E891041-ED20-4038-846A-BE71500B2BC8}" type="sibTrans" cxnId="{44AAC263-086C-487F-A3CD-3562920E7AB9}">
      <dgm:prSet/>
      <dgm:spPr/>
      <dgm:t>
        <a:bodyPr/>
        <a:lstStyle/>
        <a:p>
          <a:endParaRPr lang="en-US"/>
        </a:p>
      </dgm:t>
    </dgm:pt>
    <dgm:pt modelId="{1517007C-BA06-452B-BE1F-4C7D0112FD25}">
      <dgm:prSet/>
      <dgm:spPr/>
      <dgm:t>
        <a:bodyPr/>
        <a:lstStyle/>
        <a:p>
          <a:r>
            <a:rPr lang="en-US" dirty="0"/>
            <a:t>Project (</a:t>
          </a:r>
          <a:r>
            <a:rPr lang="en-US" u="sng" dirty="0"/>
            <a:t>number</a:t>
          </a:r>
          <a:r>
            <a:rPr lang="en-US" dirty="0"/>
            <a:t>, name, location, </a:t>
          </a:r>
          <a:r>
            <a:rPr lang="en-US" dirty="0">
              <a:highlight>
                <a:srgbClr val="800000"/>
              </a:highlight>
            </a:rPr>
            <a:t>dept number</a:t>
          </a:r>
          <a:r>
            <a:rPr lang="en-US" dirty="0"/>
            <a:t>)</a:t>
          </a:r>
        </a:p>
      </dgm:t>
    </dgm:pt>
    <dgm:pt modelId="{DC84E389-AE67-4111-ABE5-4D9EACEFE450}" type="parTrans" cxnId="{3FAD35AF-7D91-43F6-86E1-3A24E81554B8}">
      <dgm:prSet/>
      <dgm:spPr/>
      <dgm:t>
        <a:bodyPr/>
        <a:lstStyle/>
        <a:p>
          <a:endParaRPr lang="en-US"/>
        </a:p>
      </dgm:t>
    </dgm:pt>
    <dgm:pt modelId="{CE5128A9-D98C-4490-A81B-20FED695E75D}" type="sibTrans" cxnId="{3FAD35AF-7D91-43F6-86E1-3A24E81554B8}">
      <dgm:prSet/>
      <dgm:spPr/>
      <dgm:t>
        <a:bodyPr/>
        <a:lstStyle/>
        <a:p>
          <a:endParaRPr lang="en-US"/>
        </a:p>
      </dgm:t>
    </dgm:pt>
    <dgm:pt modelId="{8F085177-5E4D-4285-8AB1-BC03F77FD029}">
      <dgm:prSet/>
      <dgm:spPr/>
      <dgm:t>
        <a:bodyPr/>
        <a:lstStyle/>
        <a:p>
          <a:r>
            <a:rPr lang="en-US" dirty="0"/>
            <a:t>Dependent (</a:t>
          </a:r>
          <a:r>
            <a:rPr lang="en-US" u="sng" dirty="0"/>
            <a:t>name</a:t>
          </a:r>
          <a:r>
            <a:rPr lang="en-US" dirty="0"/>
            <a:t>, </a:t>
          </a:r>
          <a:r>
            <a:rPr lang="en-US" u="sng" dirty="0"/>
            <a:t>Employee SSN</a:t>
          </a:r>
          <a:r>
            <a:rPr lang="en-US" dirty="0"/>
            <a:t>, birthdate, gender, relationship)</a:t>
          </a:r>
        </a:p>
      </dgm:t>
    </dgm:pt>
    <dgm:pt modelId="{52F14080-7BC9-4C6A-8276-4DAB8A878D0C}" type="parTrans" cxnId="{E300F4A4-48AC-448C-91D1-C605102385C7}">
      <dgm:prSet/>
      <dgm:spPr/>
      <dgm:t>
        <a:bodyPr/>
        <a:lstStyle/>
        <a:p>
          <a:endParaRPr lang="en-US"/>
        </a:p>
      </dgm:t>
    </dgm:pt>
    <dgm:pt modelId="{79D8A238-E1A3-494E-8270-CCC61CBAEA67}" type="sibTrans" cxnId="{E300F4A4-48AC-448C-91D1-C605102385C7}">
      <dgm:prSet/>
      <dgm:spPr/>
      <dgm:t>
        <a:bodyPr/>
        <a:lstStyle/>
        <a:p>
          <a:endParaRPr lang="en-US"/>
        </a:p>
      </dgm:t>
    </dgm:pt>
    <dgm:pt modelId="{5C2334EB-7E42-41F9-A2D7-FF1800FD25A9}">
      <dgm:prSet/>
      <dgm:spPr/>
      <dgm:t>
        <a:bodyPr/>
        <a:lstStyle/>
        <a:p>
          <a:r>
            <a:rPr lang="en-US"/>
            <a:t>Depart loc (</a:t>
          </a:r>
          <a:r>
            <a:rPr lang="en-US" u="sng"/>
            <a:t>dept number</a:t>
          </a:r>
          <a:r>
            <a:rPr lang="en-US"/>
            <a:t>, </a:t>
          </a:r>
          <a:r>
            <a:rPr lang="en-US" u="sng"/>
            <a:t>location</a:t>
          </a:r>
          <a:r>
            <a:rPr lang="en-US"/>
            <a:t>)</a:t>
          </a:r>
          <a:endParaRPr lang="en-US" dirty="0"/>
        </a:p>
      </dgm:t>
    </dgm:pt>
    <dgm:pt modelId="{AF583071-5760-430D-93DF-B9BBE4A7AB43}" type="parTrans" cxnId="{3C650F31-D1AE-452B-B7C9-CB02283F7658}">
      <dgm:prSet/>
      <dgm:spPr/>
      <dgm:t>
        <a:bodyPr/>
        <a:lstStyle/>
        <a:p>
          <a:endParaRPr lang="en-US"/>
        </a:p>
      </dgm:t>
    </dgm:pt>
    <dgm:pt modelId="{7A40229D-D23B-4B4D-BDEF-494B94F21C4D}" type="sibTrans" cxnId="{3C650F31-D1AE-452B-B7C9-CB02283F7658}">
      <dgm:prSet/>
      <dgm:spPr/>
      <dgm:t>
        <a:bodyPr/>
        <a:lstStyle/>
        <a:p>
          <a:endParaRPr lang="en-US"/>
        </a:p>
      </dgm:t>
    </dgm:pt>
    <dgm:pt modelId="{ABBD3416-BCBF-4603-95D9-2F934E04F57E}" type="pres">
      <dgm:prSet presAssocID="{A765E0FC-0385-4279-BF96-19415037A865}" presName="linear" presStyleCnt="0">
        <dgm:presLayoutVars>
          <dgm:animLvl val="lvl"/>
          <dgm:resizeHandles val="exact"/>
        </dgm:presLayoutVars>
      </dgm:prSet>
      <dgm:spPr/>
    </dgm:pt>
    <dgm:pt modelId="{84062F81-9492-49EA-9458-9B3F8DBF6FA8}" type="pres">
      <dgm:prSet presAssocID="{B73876B8-0F9A-4906-8EAE-CDEECAFBC743}" presName="parentText" presStyleLbl="node1" presStyleIdx="0" presStyleCnt="5">
        <dgm:presLayoutVars>
          <dgm:chMax val="0"/>
          <dgm:bulletEnabled val="1"/>
        </dgm:presLayoutVars>
      </dgm:prSet>
      <dgm:spPr/>
    </dgm:pt>
    <dgm:pt modelId="{7211C3EB-63C1-4D24-A472-6230CF19D8AA}" type="pres">
      <dgm:prSet presAssocID="{49BAD6B5-C570-43CC-9A1D-73FD1447A858}" presName="spacer" presStyleCnt="0"/>
      <dgm:spPr/>
    </dgm:pt>
    <dgm:pt modelId="{48369BCA-ACCF-47D6-A05D-A882F2B8084C}" type="pres">
      <dgm:prSet presAssocID="{986EE8F5-E516-403C-94D6-7FF74CF9D100}" presName="parentText" presStyleLbl="node1" presStyleIdx="1" presStyleCnt="5">
        <dgm:presLayoutVars>
          <dgm:chMax val="0"/>
          <dgm:bulletEnabled val="1"/>
        </dgm:presLayoutVars>
      </dgm:prSet>
      <dgm:spPr/>
    </dgm:pt>
    <dgm:pt modelId="{A427E3CD-B287-4614-81F8-7D4ECB86CC66}" type="pres">
      <dgm:prSet presAssocID="{9E891041-ED20-4038-846A-BE71500B2BC8}" presName="spacer" presStyleCnt="0"/>
      <dgm:spPr/>
    </dgm:pt>
    <dgm:pt modelId="{DF4DA4A7-0F89-4D74-B753-5B254B297F1E}" type="pres">
      <dgm:prSet presAssocID="{5C2334EB-7E42-41F9-A2D7-FF1800FD25A9}" presName="parentText" presStyleLbl="node1" presStyleIdx="2" presStyleCnt="5">
        <dgm:presLayoutVars>
          <dgm:chMax val="0"/>
          <dgm:bulletEnabled val="1"/>
        </dgm:presLayoutVars>
      </dgm:prSet>
      <dgm:spPr/>
    </dgm:pt>
    <dgm:pt modelId="{6C2E3892-D50D-4751-BC28-34A5303352E6}" type="pres">
      <dgm:prSet presAssocID="{7A40229D-D23B-4B4D-BDEF-494B94F21C4D}" presName="spacer" presStyleCnt="0"/>
      <dgm:spPr/>
    </dgm:pt>
    <dgm:pt modelId="{81C5770A-1289-459A-8858-A218ACC71549}" type="pres">
      <dgm:prSet presAssocID="{1517007C-BA06-452B-BE1F-4C7D0112FD25}" presName="parentText" presStyleLbl="node1" presStyleIdx="3" presStyleCnt="5">
        <dgm:presLayoutVars>
          <dgm:chMax val="0"/>
          <dgm:bulletEnabled val="1"/>
        </dgm:presLayoutVars>
      </dgm:prSet>
      <dgm:spPr/>
    </dgm:pt>
    <dgm:pt modelId="{700E0E62-8631-4C4D-B56D-81909502A7FE}" type="pres">
      <dgm:prSet presAssocID="{CE5128A9-D98C-4490-A81B-20FED695E75D}" presName="spacer" presStyleCnt="0"/>
      <dgm:spPr/>
    </dgm:pt>
    <dgm:pt modelId="{2E87D25E-A014-4130-A75C-83FC0DF4C4C9}" type="pres">
      <dgm:prSet presAssocID="{8F085177-5E4D-4285-8AB1-BC03F77FD029}" presName="parentText" presStyleLbl="node1" presStyleIdx="4" presStyleCnt="5">
        <dgm:presLayoutVars>
          <dgm:chMax val="0"/>
          <dgm:bulletEnabled val="1"/>
        </dgm:presLayoutVars>
      </dgm:prSet>
      <dgm:spPr/>
    </dgm:pt>
  </dgm:ptLst>
  <dgm:cxnLst>
    <dgm:cxn modelId="{3C650F31-D1AE-452B-B7C9-CB02283F7658}" srcId="{A765E0FC-0385-4279-BF96-19415037A865}" destId="{5C2334EB-7E42-41F9-A2D7-FF1800FD25A9}" srcOrd="2" destOrd="0" parTransId="{AF583071-5760-430D-93DF-B9BBE4A7AB43}" sibTransId="{7A40229D-D23B-4B4D-BDEF-494B94F21C4D}"/>
    <dgm:cxn modelId="{1F12565B-D01B-41E2-9E78-15191B600231}" type="presOf" srcId="{5C2334EB-7E42-41F9-A2D7-FF1800FD25A9}" destId="{DF4DA4A7-0F89-4D74-B753-5B254B297F1E}" srcOrd="0" destOrd="0" presId="urn:microsoft.com/office/officeart/2005/8/layout/vList2"/>
    <dgm:cxn modelId="{44AAC263-086C-487F-A3CD-3562920E7AB9}" srcId="{A765E0FC-0385-4279-BF96-19415037A865}" destId="{986EE8F5-E516-403C-94D6-7FF74CF9D100}" srcOrd="1" destOrd="0" parTransId="{E536179B-34CF-4E76-8FE8-93F8A85222F9}" sibTransId="{9E891041-ED20-4038-846A-BE71500B2BC8}"/>
    <dgm:cxn modelId="{4D4E726B-202A-4681-A78C-38EDCBA8F4B9}" srcId="{A765E0FC-0385-4279-BF96-19415037A865}" destId="{B73876B8-0F9A-4906-8EAE-CDEECAFBC743}" srcOrd="0" destOrd="0" parTransId="{24F1B80E-D608-4844-9317-90BF9E27AD07}" sibTransId="{49BAD6B5-C570-43CC-9A1D-73FD1447A858}"/>
    <dgm:cxn modelId="{23A37578-0F07-44DC-812A-09E85627CC5D}" type="presOf" srcId="{1517007C-BA06-452B-BE1F-4C7D0112FD25}" destId="{81C5770A-1289-459A-8858-A218ACC71549}" srcOrd="0" destOrd="0" presId="urn:microsoft.com/office/officeart/2005/8/layout/vList2"/>
    <dgm:cxn modelId="{41E99F9D-2FB6-45EC-8C17-8F95C9A4B06E}" type="presOf" srcId="{986EE8F5-E516-403C-94D6-7FF74CF9D100}" destId="{48369BCA-ACCF-47D6-A05D-A882F2B8084C}" srcOrd="0" destOrd="0" presId="urn:microsoft.com/office/officeart/2005/8/layout/vList2"/>
    <dgm:cxn modelId="{E300F4A4-48AC-448C-91D1-C605102385C7}" srcId="{A765E0FC-0385-4279-BF96-19415037A865}" destId="{8F085177-5E4D-4285-8AB1-BC03F77FD029}" srcOrd="4" destOrd="0" parTransId="{52F14080-7BC9-4C6A-8276-4DAB8A878D0C}" sibTransId="{79D8A238-E1A3-494E-8270-CCC61CBAEA67}"/>
    <dgm:cxn modelId="{3FAD35AF-7D91-43F6-86E1-3A24E81554B8}" srcId="{A765E0FC-0385-4279-BF96-19415037A865}" destId="{1517007C-BA06-452B-BE1F-4C7D0112FD25}" srcOrd="3" destOrd="0" parTransId="{DC84E389-AE67-4111-ABE5-4D9EACEFE450}" sibTransId="{CE5128A9-D98C-4490-A81B-20FED695E75D}"/>
    <dgm:cxn modelId="{D2874AF3-A5D2-4E2D-AD2C-EACB3E256D8C}" type="presOf" srcId="{8F085177-5E4D-4285-8AB1-BC03F77FD029}" destId="{2E87D25E-A014-4130-A75C-83FC0DF4C4C9}" srcOrd="0" destOrd="0" presId="urn:microsoft.com/office/officeart/2005/8/layout/vList2"/>
    <dgm:cxn modelId="{E8E52FF5-9302-4054-B675-D9CF494F47F9}" type="presOf" srcId="{B73876B8-0F9A-4906-8EAE-CDEECAFBC743}" destId="{84062F81-9492-49EA-9458-9B3F8DBF6FA8}" srcOrd="0" destOrd="0" presId="urn:microsoft.com/office/officeart/2005/8/layout/vList2"/>
    <dgm:cxn modelId="{AB41EAF5-83A4-4F8E-84F9-784585415250}" type="presOf" srcId="{A765E0FC-0385-4279-BF96-19415037A865}" destId="{ABBD3416-BCBF-4603-95D9-2F934E04F57E}" srcOrd="0" destOrd="0" presId="urn:microsoft.com/office/officeart/2005/8/layout/vList2"/>
    <dgm:cxn modelId="{13CD178F-9687-451A-B6FB-96D1D3EAD2E0}" type="presParOf" srcId="{ABBD3416-BCBF-4603-95D9-2F934E04F57E}" destId="{84062F81-9492-49EA-9458-9B3F8DBF6FA8}" srcOrd="0" destOrd="0" presId="urn:microsoft.com/office/officeart/2005/8/layout/vList2"/>
    <dgm:cxn modelId="{920241D5-8008-49A7-A513-A8D356F94A84}" type="presParOf" srcId="{ABBD3416-BCBF-4603-95D9-2F934E04F57E}" destId="{7211C3EB-63C1-4D24-A472-6230CF19D8AA}" srcOrd="1" destOrd="0" presId="urn:microsoft.com/office/officeart/2005/8/layout/vList2"/>
    <dgm:cxn modelId="{5C135CA4-7B30-4FAB-B1AC-F8DFA3B3F86C}" type="presParOf" srcId="{ABBD3416-BCBF-4603-95D9-2F934E04F57E}" destId="{48369BCA-ACCF-47D6-A05D-A882F2B8084C}" srcOrd="2" destOrd="0" presId="urn:microsoft.com/office/officeart/2005/8/layout/vList2"/>
    <dgm:cxn modelId="{776717D8-69DE-4AB9-8BAB-B0CF8FE719B7}" type="presParOf" srcId="{ABBD3416-BCBF-4603-95D9-2F934E04F57E}" destId="{A427E3CD-B287-4614-81F8-7D4ECB86CC66}" srcOrd="3" destOrd="0" presId="urn:microsoft.com/office/officeart/2005/8/layout/vList2"/>
    <dgm:cxn modelId="{4BFF81F4-B3F9-4B09-A0DB-D9E00C464E16}" type="presParOf" srcId="{ABBD3416-BCBF-4603-95D9-2F934E04F57E}" destId="{DF4DA4A7-0F89-4D74-B753-5B254B297F1E}" srcOrd="4" destOrd="0" presId="urn:microsoft.com/office/officeart/2005/8/layout/vList2"/>
    <dgm:cxn modelId="{FE8DDFF4-9D64-4EFB-B03B-C2DE7462B234}" type="presParOf" srcId="{ABBD3416-BCBF-4603-95D9-2F934E04F57E}" destId="{6C2E3892-D50D-4751-BC28-34A5303352E6}" srcOrd="5" destOrd="0" presId="urn:microsoft.com/office/officeart/2005/8/layout/vList2"/>
    <dgm:cxn modelId="{39D17010-6267-4C50-848E-BD86B0FCD40D}" type="presParOf" srcId="{ABBD3416-BCBF-4603-95D9-2F934E04F57E}" destId="{81C5770A-1289-459A-8858-A218ACC71549}" srcOrd="6" destOrd="0" presId="urn:microsoft.com/office/officeart/2005/8/layout/vList2"/>
    <dgm:cxn modelId="{0969EF2E-D7F7-4485-818F-9459501C3D16}" type="presParOf" srcId="{ABBD3416-BCBF-4603-95D9-2F934E04F57E}" destId="{700E0E62-8631-4C4D-B56D-81909502A7FE}" srcOrd="7" destOrd="0" presId="urn:microsoft.com/office/officeart/2005/8/layout/vList2"/>
    <dgm:cxn modelId="{8AB3A1C0-429B-4E00-A43D-6D9BB2DC193D}" type="presParOf" srcId="{ABBD3416-BCBF-4603-95D9-2F934E04F57E}" destId="{2E87D25E-A014-4130-A75C-83FC0DF4C4C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62F81-9492-49EA-9458-9B3F8DBF6FA8}">
      <dsp:nvSpPr>
        <dsp:cNvPr id="0" name=""/>
        <dsp:cNvSpPr/>
      </dsp:nvSpPr>
      <dsp:spPr>
        <a:xfrm>
          <a:off x="0" y="160475"/>
          <a:ext cx="8910818" cy="4077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Employee (</a:t>
          </a:r>
          <a:r>
            <a:rPr lang="en-US" sz="1700" u="sng" kern="1200" dirty="0"/>
            <a:t>SSN</a:t>
          </a:r>
          <a:r>
            <a:rPr lang="en-US" sz="1700" kern="1200" dirty="0"/>
            <a:t>, </a:t>
          </a:r>
          <a:r>
            <a:rPr lang="en-US" sz="1700" kern="1200" dirty="0" err="1"/>
            <a:t>fname</a:t>
          </a:r>
          <a:r>
            <a:rPr lang="en-US" sz="1700" kern="1200" dirty="0"/>
            <a:t>, </a:t>
          </a:r>
          <a:r>
            <a:rPr lang="en-US" sz="1700" kern="1200" dirty="0" err="1"/>
            <a:t>mname</a:t>
          </a:r>
          <a:r>
            <a:rPr lang="en-US" sz="1700" kern="1200" dirty="0"/>
            <a:t>, </a:t>
          </a:r>
          <a:r>
            <a:rPr lang="en-US" sz="1700" kern="1200" dirty="0" err="1"/>
            <a:t>lname</a:t>
          </a:r>
          <a:r>
            <a:rPr lang="en-US" sz="1700" kern="1200" dirty="0"/>
            <a:t>, birthdate, salary, gender, </a:t>
          </a:r>
          <a:r>
            <a:rPr lang="en-US" sz="1700" kern="1200" dirty="0">
              <a:highlight>
                <a:srgbClr val="800000"/>
              </a:highlight>
            </a:rPr>
            <a:t>dept number, supervisor SSN</a:t>
          </a:r>
          <a:r>
            <a:rPr lang="en-US" sz="1700" kern="1200" dirty="0"/>
            <a:t>)</a:t>
          </a:r>
        </a:p>
      </dsp:txBody>
      <dsp:txXfrm>
        <a:off x="19904" y="180379"/>
        <a:ext cx="8871010" cy="367937"/>
      </dsp:txXfrm>
    </dsp:sp>
    <dsp:sp modelId="{48369BCA-ACCF-47D6-A05D-A882F2B8084C}">
      <dsp:nvSpPr>
        <dsp:cNvPr id="0" name=""/>
        <dsp:cNvSpPr/>
      </dsp:nvSpPr>
      <dsp:spPr>
        <a:xfrm>
          <a:off x="0" y="617180"/>
          <a:ext cx="8910818" cy="4077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Department (</a:t>
          </a:r>
          <a:r>
            <a:rPr lang="en-US" sz="1700" u="sng" kern="1200" dirty="0"/>
            <a:t>number</a:t>
          </a:r>
          <a:r>
            <a:rPr lang="en-US" sz="1700" kern="1200" dirty="0"/>
            <a:t>, name, start date, manager SSN)</a:t>
          </a:r>
        </a:p>
      </dsp:txBody>
      <dsp:txXfrm>
        <a:off x="19904" y="637084"/>
        <a:ext cx="8871010" cy="367937"/>
      </dsp:txXfrm>
    </dsp:sp>
    <dsp:sp modelId="{DF4DA4A7-0F89-4D74-B753-5B254B297F1E}">
      <dsp:nvSpPr>
        <dsp:cNvPr id="0" name=""/>
        <dsp:cNvSpPr/>
      </dsp:nvSpPr>
      <dsp:spPr>
        <a:xfrm>
          <a:off x="0" y="1073885"/>
          <a:ext cx="8910818" cy="4077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Depart loc (</a:t>
          </a:r>
          <a:r>
            <a:rPr lang="en-US" sz="1700" u="sng" kern="1200"/>
            <a:t>dept number</a:t>
          </a:r>
          <a:r>
            <a:rPr lang="en-US" sz="1700" kern="1200"/>
            <a:t>, </a:t>
          </a:r>
          <a:r>
            <a:rPr lang="en-US" sz="1700" u="sng" kern="1200"/>
            <a:t>location</a:t>
          </a:r>
          <a:r>
            <a:rPr lang="en-US" sz="1700" kern="1200"/>
            <a:t>)</a:t>
          </a:r>
          <a:endParaRPr lang="en-US" sz="1700" kern="1200" dirty="0"/>
        </a:p>
      </dsp:txBody>
      <dsp:txXfrm>
        <a:off x="19904" y="1093789"/>
        <a:ext cx="8871010" cy="367937"/>
      </dsp:txXfrm>
    </dsp:sp>
    <dsp:sp modelId="{81C5770A-1289-459A-8858-A218ACC71549}">
      <dsp:nvSpPr>
        <dsp:cNvPr id="0" name=""/>
        <dsp:cNvSpPr/>
      </dsp:nvSpPr>
      <dsp:spPr>
        <a:xfrm>
          <a:off x="0" y="1530591"/>
          <a:ext cx="8910818" cy="4077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Project (</a:t>
          </a:r>
          <a:r>
            <a:rPr lang="en-US" sz="1700" u="sng" kern="1200" dirty="0"/>
            <a:t>number</a:t>
          </a:r>
          <a:r>
            <a:rPr lang="en-US" sz="1700" kern="1200" dirty="0"/>
            <a:t>, name, location, </a:t>
          </a:r>
          <a:r>
            <a:rPr lang="en-US" sz="1700" kern="1200" dirty="0">
              <a:highlight>
                <a:srgbClr val="800000"/>
              </a:highlight>
            </a:rPr>
            <a:t>dept number</a:t>
          </a:r>
          <a:r>
            <a:rPr lang="en-US" sz="1700" kern="1200" dirty="0"/>
            <a:t>)</a:t>
          </a:r>
        </a:p>
      </dsp:txBody>
      <dsp:txXfrm>
        <a:off x="19904" y="1550495"/>
        <a:ext cx="8871010" cy="367937"/>
      </dsp:txXfrm>
    </dsp:sp>
    <dsp:sp modelId="{2E87D25E-A014-4130-A75C-83FC0DF4C4C9}">
      <dsp:nvSpPr>
        <dsp:cNvPr id="0" name=""/>
        <dsp:cNvSpPr/>
      </dsp:nvSpPr>
      <dsp:spPr>
        <a:xfrm>
          <a:off x="0" y="1987296"/>
          <a:ext cx="8910818" cy="4077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Dependent (</a:t>
          </a:r>
          <a:r>
            <a:rPr lang="en-US" sz="1700" u="sng" kern="1200" dirty="0"/>
            <a:t>name</a:t>
          </a:r>
          <a:r>
            <a:rPr lang="en-US" sz="1700" kern="1200" dirty="0"/>
            <a:t>, </a:t>
          </a:r>
          <a:r>
            <a:rPr lang="en-US" sz="1700" u="sng" kern="1200" dirty="0"/>
            <a:t>Employee SSN</a:t>
          </a:r>
          <a:r>
            <a:rPr lang="en-US" sz="1700" kern="1200" dirty="0"/>
            <a:t>, birthdate, gender, relationship)</a:t>
          </a:r>
        </a:p>
      </dsp:txBody>
      <dsp:txXfrm>
        <a:off x="19904" y="2007200"/>
        <a:ext cx="8871010" cy="3679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E87B2A-478E-4E77-BDA1-53316CD52E1E}" type="datetimeFigureOut">
              <a:rPr lang="en-US" smtClean="0"/>
              <a:t>4/3/2024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76A26-0882-403C-9D19-C0A35A09E175}" type="slidenum">
              <a:rPr lang="en-US" smtClean="0"/>
              <a:t>‹#›</a:t>
            </a:fld>
            <a:endParaRPr lang="en-US"/>
          </a:p>
        </p:txBody>
      </p:sp>
    </p:spTree>
    <p:extLst>
      <p:ext uri="{BB962C8B-B14F-4D97-AF65-F5344CB8AC3E}">
        <p14:creationId xmlns:p14="http://schemas.microsoft.com/office/powerpoint/2010/main" val="425482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26</a:t>
            </a:fld>
            <a:endParaRPr lang="en-US"/>
          </a:p>
        </p:txBody>
      </p:sp>
    </p:spTree>
    <p:extLst>
      <p:ext uri="{BB962C8B-B14F-4D97-AF65-F5344CB8AC3E}">
        <p14:creationId xmlns:p14="http://schemas.microsoft.com/office/powerpoint/2010/main" val="1149289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27</a:t>
            </a:fld>
            <a:endParaRPr lang="en-US"/>
          </a:p>
        </p:txBody>
      </p:sp>
    </p:spTree>
    <p:extLst>
      <p:ext uri="{BB962C8B-B14F-4D97-AF65-F5344CB8AC3E}">
        <p14:creationId xmlns:p14="http://schemas.microsoft.com/office/powerpoint/2010/main" val="2091750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28</a:t>
            </a:fld>
            <a:endParaRPr lang="en-US"/>
          </a:p>
        </p:txBody>
      </p:sp>
    </p:spTree>
    <p:extLst>
      <p:ext uri="{BB962C8B-B14F-4D97-AF65-F5344CB8AC3E}">
        <p14:creationId xmlns:p14="http://schemas.microsoft.com/office/powerpoint/2010/main" val="3500503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29</a:t>
            </a:fld>
            <a:endParaRPr lang="en-US"/>
          </a:p>
        </p:txBody>
      </p:sp>
    </p:spTree>
    <p:extLst>
      <p:ext uri="{BB962C8B-B14F-4D97-AF65-F5344CB8AC3E}">
        <p14:creationId xmlns:p14="http://schemas.microsoft.com/office/powerpoint/2010/main" val="122778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30</a:t>
            </a:fld>
            <a:endParaRPr lang="en-US"/>
          </a:p>
        </p:txBody>
      </p:sp>
    </p:spTree>
    <p:extLst>
      <p:ext uri="{BB962C8B-B14F-4D97-AF65-F5344CB8AC3E}">
        <p14:creationId xmlns:p14="http://schemas.microsoft.com/office/powerpoint/2010/main" val="2882299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B506EC-E4FF-454E-9502-020BEE1549E9}" type="slidenum">
              <a:rPr lang="en-US" smtClean="0"/>
              <a:t>31</a:t>
            </a:fld>
            <a:endParaRPr lang="en-US"/>
          </a:p>
        </p:txBody>
      </p:sp>
    </p:spTree>
    <p:extLst>
      <p:ext uri="{BB962C8B-B14F-4D97-AF65-F5344CB8AC3E}">
        <p14:creationId xmlns:p14="http://schemas.microsoft.com/office/powerpoint/2010/main" val="3987258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39</a:t>
            </a:fld>
            <a:endParaRPr lang="en-US"/>
          </a:p>
        </p:txBody>
      </p:sp>
    </p:spTree>
    <p:extLst>
      <p:ext uri="{BB962C8B-B14F-4D97-AF65-F5344CB8AC3E}">
        <p14:creationId xmlns:p14="http://schemas.microsoft.com/office/powerpoint/2010/main" val="3599866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3FB120-7622-4D39-8D74-074B5296A0B7}" type="datetime1">
              <a:rPr lang="en-US" smtClean="0"/>
              <a:t>4/3/2024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879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81FAE9-3D1B-4ADB-BE4C-24F74547C823}" type="datetime1">
              <a:rPr lang="en-US" smtClean="0"/>
              <a:t>4/3/2024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65233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03BC20-800A-422D-B08A-11CF1CEFA1EF}" type="datetime1">
              <a:rPr lang="en-US" smtClean="0"/>
              <a:t>4/3/2024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08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5C85EA-6E27-40DA-A5E9-9FF08EAD4B71}" type="datetime1">
              <a:rPr lang="en-US" smtClean="0"/>
              <a:t>4/3/2024</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216406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BE7F02-D6AB-46C4-A606-F7391851D743}" type="datetime1">
              <a:rPr lang="en-US" smtClean="0"/>
              <a:t>4/3/2024</a:t>
            </a:fld>
            <a:endParaRPr lang="en-US"/>
          </a:p>
        </p:txBody>
      </p:sp>
      <p:sp>
        <p:nvSpPr>
          <p:cNvPr id="8" name="Footer Placeholder 7"/>
          <p:cNvSpPr>
            <a:spLocks noGrp="1"/>
          </p:cNvSpPr>
          <p:nvPr>
            <p:ph type="ftr" sz="quarter" idx="11"/>
          </p:nvPr>
        </p:nvSpPr>
        <p:spPr/>
        <p:txBody>
          <a:body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108447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AB256-0849-4532-908D-8EB1C7283AD1}" type="datetime1">
              <a:rPr lang="en-US" smtClean="0"/>
              <a:t>4/3/2024</a:t>
            </a:fld>
            <a:endParaRPr lang="en-US"/>
          </a:p>
        </p:txBody>
      </p:sp>
      <p:sp>
        <p:nvSpPr>
          <p:cNvPr id="4" name="Footer Placeholder 3"/>
          <p:cNvSpPr>
            <a:spLocks noGrp="1"/>
          </p:cNvSpPr>
          <p:nvPr>
            <p:ph type="ftr" sz="quarter" idx="11"/>
          </p:nvPr>
        </p:nvSpPr>
        <p:spPr/>
        <p:txBody>
          <a:bodyPr/>
          <a:lstStyle/>
          <a:p>
            <a:r>
              <a:rPr lang="en-US"/>
              <a:t>Eng. Aisha Al-Sadi | HTU | Al Hussein Technical University</a:t>
            </a:r>
          </a:p>
        </p:txBody>
      </p:sp>
      <p:sp>
        <p:nvSpPr>
          <p:cNvPr id="5" name="Slide Number Placeholder 4"/>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749197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70573F8-E54D-4950-AF21-82D5A80187A0}" type="datetime1">
              <a:rPr lang="en-US" smtClean="0"/>
              <a:t>4/3/2024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1911284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A0C3812-5559-4BEE-8035-059A2DA8A395}" type="datetime1">
              <a:rPr lang="en-US" smtClean="0"/>
              <a:t>4/3/2024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6B03378-CDB7-40C1-827C-F54129224789}" type="slidenum">
              <a:rPr lang="en-US" smtClean="0"/>
              <a:t>‹#›</a:t>
            </a:fld>
            <a:endParaRPr lang="en-US"/>
          </a:p>
        </p:txBody>
      </p:sp>
    </p:spTree>
    <p:extLst>
      <p:ext uri="{BB962C8B-B14F-4D97-AF65-F5344CB8AC3E}">
        <p14:creationId xmlns:p14="http://schemas.microsoft.com/office/powerpoint/2010/main" val="2807441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899756-FAD9-46E8-AD1F-B8A1088AA596}" type="datetime1">
              <a:rPr lang="en-US" smtClean="0"/>
              <a:t>4/3/2024</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2212847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B74817-CA77-48CD-97C6-526E77F30FE9}" type="datetime1">
              <a:rPr lang="en-US" smtClean="0"/>
              <a:t>4/3/2024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403830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9D632C-117A-4D6B-88D7-BF03BA1CFA3B}" type="datetime1">
              <a:rPr lang="en-US" smtClean="0"/>
              <a:t>4/3/2024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974537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84C0BAE-5F59-4546-9BA0-B2DE910EB175}" type="datetime1">
              <a:rPr lang="en-US" smtClean="0"/>
              <a:t>4/3/2024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Eng. Aisha Al-Sadi | HTU | Al Hussein Technical University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6B03378-CDB7-40C1-827C-F5412922478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7898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E52CB7-5EDD-2A1E-B7F7-2088CA5ABCE0}"/>
              </a:ext>
            </a:extLst>
          </p:cNvPr>
          <p:cNvSpPr>
            <a:spLocks noGrp="1"/>
          </p:cNvSpPr>
          <p:nvPr>
            <p:ph type="ctrTitle"/>
          </p:nvPr>
        </p:nvSpPr>
        <p:spPr>
          <a:xfrm>
            <a:off x="1100051" y="758952"/>
            <a:ext cx="10058400" cy="3566160"/>
          </a:xfrm>
        </p:spPr>
        <p:txBody>
          <a:bodyPr>
            <a:normAutofit/>
          </a:bodyPr>
          <a:lstStyle/>
          <a:p>
            <a:r>
              <a:rPr lang="en-US" sz="5400" b="1" dirty="0">
                <a:solidFill>
                  <a:schemeClr val="accent2">
                    <a:lumMod val="75000"/>
                  </a:schemeClr>
                </a:solidFill>
              </a:rPr>
              <a:t>Database Development &amp; Design</a:t>
            </a:r>
            <a:br>
              <a:rPr lang="en-US" sz="5400" b="1" dirty="0">
                <a:solidFill>
                  <a:schemeClr val="accent2">
                    <a:lumMod val="75000"/>
                  </a:schemeClr>
                </a:solidFill>
              </a:rPr>
            </a:br>
            <a:endParaRPr lang="en-US" sz="5400" dirty="0">
              <a:solidFill>
                <a:schemeClr val="accent2">
                  <a:lumMod val="75000"/>
                </a:schemeClr>
              </a:solidFill>
            </a:endParaRPr>
          </a:p>
        </p:txBody>
      </p:sp>
      <p:sp>
        <p:nvSpPr>
          <p:cNvPr id="7" name="Subtitle 6">
            <a:extLst>
              <a:ext uri="{FF2B5EF4-FFF2-40B4-BE49-F238E27FC236}">
                <a16:creationId xmlns:a16="http://schemas.microsoft.com/office/drawing/2014/main" id="{F7C6220E-859F-19D9-963B-E3CFD19DA5BC}"/>
              </a:ext>
            </a:extLst>
          </p:cNvPr>
          <p:cNvSpPr>
            <a:spLocks noGrp="1"/>
          </p:cNvSpPr>
          <p:nvPr>
            <p:ph type="subTitle" idx="1"/>
          </p:nvPr>
        </p:nvSpPr>
        <p:spPr/>
        <p:txBody>
          <a:bodyPr>
            <a:normAutofit/>
          </a:bodyPr>
          <a:lstStyle/>
          <a:p>
            <a:r>
              <a:rPr lang="en-US" b="1" dirty="0">
                <a:solidFill>
                  <a:schemeClr val="accent2">
                    <a:lumMod val="75000"/>
                  </a:schemeClr>
                </a:solidFill>
              </a:rPr>
              <a:t>Logical Design (data model mapping)</a:t>
            </a:r>
          </a:p>
        </p:txBody>
      </p:sp>
      <p:sp>
        <p:nvSpPr>
          <p:cNvPr id="2" name="Footer Placeholder 1">
            <a:extLst>
              <a:ext uri="{FF2B5EF4-FFF2-40B4-BE49-F238E27FC236}">
                <a16:creationId xmlns:a16="http://schemas.microsoft.com/office/drawing/2014/main" id="{E211BE59-A101-E9CF-D6CB-61AAA817C3CC}"/>
              </a:ext>
            </a:extLst>
          </p:cNvPr>
          <p:cNvSpPr>
            <a:spLocks noGrp="1"/>
          </p:cNvSpPr>
          <p:nvPr>
            <p:ph type="ftr" sz="quarter" idx="11"/>
          </p:nvPr>
        </p:nvSpPr>
        <p:spPr/>
        <p:txBody>
          <a:bodyPr/>
          <a:lstStyle/>
          <a:p>
            <a:r>
              <a:rPr lang="en-US"/>
              <a:t>Eng. Aisha Al-Sadi | HTU | Al Hussein Technical University</a:t>
            </a:r>
          </a:p>
        </p:txBody>
      </p:sp>
    </p:spTree>
    <p:extLst>
      <p:ext uri="{BB962C8B-B14F-4D97-AF65-F5344CB8AC3E}">
        <p14:creationId xmlns:p14="http://schemas.microsoft.com/office/powerpoint/2010/main" val="44314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A6DC-DA2A-3D54-BC41-B74C36CA8A00}"/>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F37A70D1-0D21-3728-3D72-76C51F09C884}"/>
              </a:ext>
            </a:extLst>
          </p:cNvPr>
          <p:cNvSpPr>
            <a:spLocks noGrp="1"/>
          </p:cNvSpPr>
          <p:nvPr>
            <p:ph idx="1"/>
          </p:nvPr>
        </p:nvSpPr>
        <p:spPr/>
        <p:txBody>
          <a:bodyPr/>
          <a:lstStyle/>
          <a:p>
            <a:pPr marL="225425" indent="-225425">
              <a:buFont typeface="Wingdings" panose="05000000000000000000" pitchFamily="2" charset="2"/>
              <a:buChar char="§"/>
            </a:pPr>
            <a:r>
              <a:rPr lang="en-US" dirty="0"/>
              <a:t> Strong Entity Vs. Weak Entity</a:t>
            </a:r>
          </a:p>
          <a:p>
            <a:pPr marL="225425" indent="-225425">
              <a:buFont typeface="Wingdings" panose="05000000000000000000" pitchFamily="2" charset="2"/>
              <a:buChar char="§"/>
            </a:pPr>
            <a:r>
              <a:rPr lang="en-US" dirty="0"/>
              <a:t> Logical Model Design </a:t>
            </a:r>
          </a:p>
          <a:p>
            <a:pPr marL="225425" indent="-225425">
              <a:buFont typeface="Wingdings" panose="05000000000000000000" pitchFamily="2" charset="2"/>
              <a:buChar char="§"/>
            </a:pPr>
            <a:r>
              <a:rPr lang="en-US" dirty="0"/>
              <a:t> Mapping: Rules and Steps</a:t>
            </a:r>
          </a:p>
          <a:p>
            <a:pPr marL="225425" indent="-225425">
              <a:buFont typeface="Wingdings" panose="05000000000000000000" pitchFamily="2" charset="2"/>
              <a:buChar char="§"/>
            </a:pPr>
            <a:r>
              <a:rPr lang="en-US" dirty="0"/>
              <a:t> Logical Design Scenarios</a:t>
            </a:r>
            <a:endParaRPr lang="ar-JO" dirty="0"/>
          </a:p>
          <a:p>
            <a:pPr marL="225425" indent="-225425">
              <a:buNone/>
            </a:pPr>
            <a:endParaRPr lang="en-US" dirty="0"/>
          </a:p>
          <a:p>
            <a:pPr marL="225425" indent="-225425">
              <a:buNone/>
            </a:pPr>
            <a:endParaRPr lang="en-US" dirty="0"/>
          </a:p>
        </p:txBody>
      </p:sp>
      <p:sp>
        <p:nvSpPr>
          <p:cNvPr id="4" name="Footer Placeholder 3">
            <a:extLst>
              <a:ext uri="{FF2B5EF4-FFF2-40B4-BE49-F238E27FC236}">
                <a16:creationId xmlns:a16="http://schemas.microsoft.com/office/drawing/2014/main" id="{E485DA0B-79B3-08E3-27F7-434E7BEA39AE}"/>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C3650CBB-0C87-9210-C09E-364991D70127}"/>
              </a:ext>
            </a:extLst>
          </p:cNvPr>
          <p:cNvSpPr>
            <a:spLocks noGrp="1"/>
          </p:cNvSpPr>
          <p:nvPr>
            <p:ph type="sldNum" sz="quarter" idx="12"/>
          </p:nvPr>
        </p:nvSpPr>
        <p:spPr/>
        <p:txBody>
          <a:bodyPr/>
          <a:lstStyle/>
          <a:p>
            <a:fld id="{E6B03378-CDB7-40C1-827C-F54129224789}" type="slidenum">
              <a:rPr lang="en-US" smtClean="0"/>
              <a:t>2</a:t>
            </a:fld>
            <a:endParaRPr lang="en-US"/>
          </a:p>
        </p:txBody>
      </p:sp>
    </p:spTree>
    <p:extLst>
      <p:ext uri="{BB962C8B-B14F-4D97-AF65-F5344CB8AC3E}">
        <p14:creationId xmlns:p14="http://schemas.microsoft.com/office/powerpoint/2010/main" val="4176370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414B-2B2F-C9E2-033E-B8A20685482C}"/>
              </a:ext>
            </a:extLst>
          </p:cNvPr>
          <p:cNvSpPr>
            <a:spLocks noGrp="1"/>
          </p:cNvSpPr>
          <p:nvPr>
            <p:ph type="title"/>
          </p:nvPr>
        </p:nvSpPr>
        <p:spPr/>
        <p:txBody>
          <a:bodyPr/>
          <a:lstStyle/>
          <a:p>
            <a:r>
              <a:rPr lang="en-US" b="1" dirty="0"/>
              <a:t>Strong and weak entities</a:t>
            </a:r>
          </a:p>
        </p:txBody>
      </p:sp>
      <p:sp>
        <p:nvSpPr>
          <p:cNvPr id="3" name="Content Placeholder 2">
            <a:extLst>
              <a:ext uri="{FF2B5EF4-FFF2-40B4-BE49-F238E27FC236}">
                <a16:creationId xmlns:a16="http://schemas.microsoft.com/office/drawing/2014/main" id="{8FAA4859-F4EF-E252-826C-634DDBE78D60}"/>
              </a:ext>
            </a:extLst>
          </p:cNvPr>
          <p:cNvSpPr>
            <a:spLocks noGrp="1"/>
          </p:cNvSpPr>
          <p:nvPr>
            <p:ph idx="1"/>
          </p:nvPr>
        </p:nvSpPr>
        <p:spPr/>
        <p:txBody>
          <a:bodyPr>
            <a:normAutofit/>
          </a:bodyPr>
          <a:lstStyle/>
          <a:p>
            <a:pPr marL="476250" indent="-250825" algn="l">
              <a:buFont typeface="Wingdings" panose="05000000000000000000" pitchFamily="2" charset="2"/>
              <a:buChar char="§"/>
              <a:tabLst>
                <a:tab pos="225425" algn="l"/>
              </a:tabLst>
            </a:pPr>
            <a:r>
              <a:rPr lang="en-US" sz="1800" b="0" i="0" dirty="0">
                <a:solidFill>
                  <a:srgbClr val="1E1E1E"/>
                </a:solidFill>
                <a:effectLst/>
              </a:rPr>
              <a:t>A </a:t>
            </a:r>
            <a:r>
              <a:rPr lang="en-US" sz="1800" b="1" dirty="0">
                <a:solidFill>
                  <a:srgbClr val="1E1E1E"/>
                </a:solidFill>
                <a:effectLst/>
              </a:rPr>
              <a:t>strong entity </a:t>
            </a:r>
            <a:r>
              <a:rPr lang="en-US" sz="1800" b="0" i="0" dirty="0">
                <a:solidFill>
                  <a:srgbClr val="1E1E1E"/>
                </a:solidFill>
                <a:effectLst/>
              </a:rPr>
              <a:t>has a primary key, meaning that it can be uniquely identified by its attributes alone.</a:t>
            </a:r>
          </a:p>
          <a:p>
            <a:pPr marL="476250" indent="-250825" algn="l">
              <a:buFont typeface="Wingdings" panose="05000000000000000000" pitchFamily="2" charset="2"/>
              <a:buChar char="§"/>
              <a:tabLst>
                <a:tab pos="225425" algn="l"/>
              </a:tabLst>
            </a:pPr>
            <a:r>
              <a:rPr lang="en-US" sz="1800" b="0" i="0" dirty="0">
                <a:solidFill>
                  <a:srgbClr val="1E1E1E"/>
                </a:solidFill>
                <a:effectLst/>
              </a:rPr>
              <a:t>A </a:t>
            </a:r>
            <a:r>
              <a:rPr lang="en-US" sz="1800" b="1" dirty="0">
                <a:solidFill>
                  <a:srgbClr val="1E1E1E"/>
                </a:solidFill>
                <a:effectLst/>
              </a:rPr>
              <a:t>weak entity </a:t>
            </a:r>
            <a:r>
              <a:rPr lang="en-US" sz="1800" b="0" i="0" dirty="0">
                <a:solidFill>
                  <a:srgbClr val="1E1E1E"/>
                </a:solidFill>
                <a:effectLst/>
              </a:rPr>
              <a:t>is an entity that can't be uniquely identified by its attributes alone. It is existence-dependent on its parent entity. It must use a foreign key in conjunction with its attributes to create a primary key. </a:t>
            </a:r>
          </a:p>
          <a:p>
            <a:pPr marL="476250" indent="-250825" algn="l">
              <a:buFont typeface="Wingdings" panose="05000000000000000000" pitchFamily="2" charset="2"/>
              <a:buChar char="§"/>
              <a:tabLst>
                <a:tab pos="225425" algn="l"/>
              </a:tabLst>
            </a:pPr>
            <a:r>
              <a:rPr lang="en-US" sz="1800" dirty="0"/>
              <a:t>We call the relationship type that relates a weak entity type to its owner the </a:t>
            </a:r>
            <a:r>
              <a:rPr lang="en-US" sz="1800" b="1" dirty="0"/>
              <a:t>identifying relationship</a:t>
            </a:r>
            <a:endParaRPr lang="ar-JO" sz="1800" b="1" dirty="0"/>
          </a:p>
          <a:p>
            <a:pPr marL="476250" indent="-250825" algn="l">
              <a:buFont typeface="Wingdings" panose="05000000000000000000" pitchFamily="2" charset="2"/>
              <a:buChar char="§"/>
              <a:tabLst>
                <a:tab pos="225425" algn="l"/>
              </a:tabLst>
            </a:pPr>
            <a:r>
              <a:rPr lang="en-US" sz="1800" dirty="0"/>
              <a:t>The identifying entity type is also sometimes called the </a:t>
            </a:r>
            <a:r>
              <a:rPr lang="en-US" sz="1800" b="1" dirty="0"/>
              <a:t>parent entity</a:t>
            </a:r>
            <a:r>
              <a:rPr lang="en-US" sz="1800" dirty="0"/>
              <a:t> type or the dominant entity type. </a:t>
            </a:r>
            <a:endParaRPr lang="ar-JO" sz="1800" dirty="0"/>
          </a:p>
          <a:p>
            <a:pPr marL="476250" indent="-250825" algn="l">
              <a:buFont typeface="Wingdings" panose="05000000000000000000" pitchFamily="2" charset="2"/>
              <a:buChar char="§"/>
              <a:tabLst>
                <a:tab pos="225425" algn="l"/>
              </a:tabLst>
            </a:pPr>
            <a:r>
              <a:rPr lang="en-US" sz="1800" dirty="0"/>
              <a:t>The weak entity type is also sometimes called the </a:t>
            </a:r>
            <a:r>
              <a:rPr lang="en-US" sz="1800" b="1" dirty="0"/>
              <a:t>child entity </a:t>
            </a:r>
            <a:r>
              <a:rPr lang="en-US" sz="1800" dirty="0"/>
              <a:t>type or the subordinate entity type. </a:t>
            </a:r>
            <a:endParaRPr lang="ar-JO" sz="1800" dirty="0"/>
          </a:p>
          <a:p>
            <a:pPr marL="476250" indent="-250825" algn="l">
              <a:buFont typeface="Wingdings" panose="05000000000000000000" pitchFamily="2" charset="2"/>
              <a:buChar char="§"/>
              <a:tabLst>
                <a:tab pos="225425" algn="l"/>
              </a:tabLst>
            </a:pPr>
            <a:r>
              <a:rPr lang="en-US" sz="1800" dirty="0"/>
              <a:t>A weak entity type normally has a </a:t>
            </a:r>
            <a:r>
              <a:rPr lang="en-US" sz="1800" b="1" dirty="0"/>
              <a:t>partial key</a:t>
            </a:r>
            <a:r>
              <a:rPr lang="en-US" sz="1800" dirty="0"/>
              <a:t>, which is the attribute that can uniquely identify weak entities that are related to the same owner entity.</a:t>
            </a:r>
            <a:r>
              <a:rPr lang="ar-JO" sz="1800" dirty="0"/>
              <a:t> </a:t>
            </a:r>
          </a:p>
          <a:p>
            <a:pPr marL="476250" indent="-250825" algn="l">
              <a:buFont typeface="Wingdings" panose="05000000000000000000" pitchFamily="2" charset="2"/>
              <a:buChar char="§"/>
              <a:tabLst>
                <a:tab pos="225425" algn="l"/>
              </a:tabLst>
            </a:pPr>
            <a:r>
              <a:rPr lang="en-US" sz="1800" dirty="0"/>
              <a:t>The partial key is sometimes called the </a:t>
            </a:r>
            <a:r>
              <a:rPr lang="en-US" sz="1800" b="1" dirty="0"/>
              <a:t>discriminator</a:t>
            </a:r>
          </a:p>
        </p:txBody>
      </p:sp>
      <p:sp>
        <p:nvSpPr>
          <p:cNvPr id="4" name="Footer Placeholder 3">
            <a:extLst>
              <a:ext uri="{FF2B5EF4-FFF2-40B4-BE49-F238E27FC236}">
                <a16:creationId xmlns:a16="http://schemas.microsoft.com/office/drawing/2014/main" id="{0311A8D6-97F9-5008-81E3-553E149723D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3E004750-D0ED-5427-1540-D6A345F8915D}"/>
              </a:ext>
            </a:extLst>
          </p:cNvPr>
          <p:cNvSpPr>
            <a:spLocks noGrp="1"/>
          </p:cNvSpPr>
          <p:nvPr>
            <p:ph type="sldNum" sz="quarter" idx="12"/>
          </p:nvPr>
        </p:nvSpPr>
        <p:spPr/>
        <p:txBody>
          <a:bodyPr/>
          <a:lstStyle/>
          <a:p>
            <a:fld id="{E6B03378-CDB7-40C1-827C-F54129224789}" type="slidenum">
              <a:rPr lang="en-US" smtClean="0"/>
              <a:t>3</a:t>
            </a:fld>
            <a:endParaRPr lang="en-US"/>
          </a:p>
        </p:txBody>
      </p:sp>
    </p:spTree>
    <p:extLst>
      <p:ext uri="{BB962C8B-B14F-4D97-AF65-F5344CB8AC3E}">
        <p14:creationId xmlns:p14="http://schemas.microsoft.com/office/powerpoint/2010/main" val="394478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3F030-3314-7645-CF2C-9B75BDB29DEE}"/>
              </a:ext>
            </a:extLst>
          </p:cNvPr>
          <p:cNvSpPr>
            <a:spLocks noGrp="1"/>
          </p:cNvSpPr>
          <p:nvPr>
            <p:ph type="title"/>
          </p:nvPr>
        </p:nvSpPr>
        <p:spPr/>
        <p:txBody>
          <a:bodyPr/>
          <a:lstStyle/>
          <a:p>
            <a:r>
              <a:rPr lang="en-US" b="1" dirty="0"/>
              <a:t>Logical Model</a:t>
            </a:r>
            <a:endParaRPr lang="en-US" dirty="0"/>
          </a:p>
        </p:txBody>
      </p:sp>
      <p:sp>
        <p:nvSpPr>
          <p:cNvPr id="3" name="Content Placeholder 2">
            <a:extLst>
              <a:ext uri="{FF2B5EF4-FFF2-40B4-BE49-F238E27FC236}">
                <a16:creationId xmlns:a16="http://schemas.microsoft.com/office/drawing/2014/main" id="{A7333186-F130-1C4B-0D46-90EA8FFCF057}"/>
              </a:ext>
            </a:extLst>
          </p:cNvPr>
          <p:cNvSpPr>
            <a:spLocks noGrp="1"/>
          </p:cNvSpPr>
          <p:nvPr>
            <p:ph idx="1"/>
          </p:nvPr>
        </p:nvSpPr>
        <p:spPr/>
        <p:txBody>
          <a:bodyPr/>
          <a:lstStyle/>
          <a:p>
            <a:pPr marL="450342" indent="-285750">
              <a:buClr>
                <a:srgbClr val="009CAC"/>
              </a:buClr>
              <a:buFont typeface="Wingdings" panose="05000000000000000000" pitchFamily="2" charset="2"/>
              <a:buChar char="§"/>
            </a:pPr>
            <a:r>
              <a:rPr lang="en-US" dirty="0"/>
              <a:t>A logical data model describes the data in as much detail as possible, without regard to how they will be physical implemented in the database. Logical model include:</a:t>
            </a:r>
          </a:p>
          <a:p>
            <a:pPr marL="450342" indent="-285750">
              <a:buClr>
                <a:srgbClr val="009CAC"/>
              </a:buClr>
              <a:buFont typeface="Wingdings" panose="05000000000000000000" pitchFamily="2" charset="2"/>
              <a:buChar char="§"/>
            </a:pPr>
            <a:endParaRPr lang="en-US" dirty="0"/>
          </a:p>
          <a:p>
            <a:pPr marL="1017270" lvl="1" indent="-285750">
              <a:buClr>
                <a:srgbClr val="009CAC"/>
              </a:buClr>
              <a:buFont typeface="Wingdings" panose="05000000000000000000" pitchFamily="2" charset="2"/>
              <a:buChar char="§"/>
            </a:pPr>
            <a:r>
              <a:rPr lang="en-US" dirty="0"/>
              <a:t>All entities and relationships among them.</a:t>
            </a:r>
          </a:p>
          <a:p>
            <a:pPr marL="1017270" lvl="1" indent="-285750">
              <a:buClr>
                <a:srgbClr val="009CAC"/>
              </a:buClr>
              <a:buFont typeface="Wingdings" panose="05000000000000000000" pitchFamily="2" charset="2"/>
              <a:buChar char="§"/>
            </a:pPr>
            <a:r>
              <a:rPr lang="en-US" dirty="0"/>
              <a:t>All attributes for each entity are specified.</a:t>
            </a:r>
          </a:p>
          <a:p>
            <a:pPr marL="1017270" lvl="1" indent="-285750">
              <a:buClr>
                <a:srgbClr val="009CAC"/>
              </a:buClr>
              <a:buFont typeface="Wingdings" panose="05000000000000000000" pitchFamily="2" charset="2"/>
              <a:buChar char="§"/>
            </a:pPr>
            <a:r>
              <a:rPr lang="en-US" dirty="0"/>
              <a:t>The primary and foreign keys for each entity is specified.</a:t>
            </a:r>
          </a:p>
          <a:p>
            <a:pPr marL="1017270" lvl="1" indent="-285750">
              <a:buClr>
                <a:srgbClr val="009CAC"/>
              </a:buClr>
              <a:buFont typeface="Wingdings" panose="05000000000000000000" pitchFamily="2" charset="2"/>
              <a:buChar char="§"/>
            </a:pPr>
            <a:r>
              <a:rPr lang="en-US" dirty="0"/>
              <a:t>Resolves relationships.</a:t>
            </a:r>
          </a:p>
          <a:p>
            <a:pPr marL="1017270" lvl="1" indent="-285750">
              <a:buClr>
                <a:srgbClr val="009CAC"/>
              </a:buClr>
              <a:buFont typeface="Wingdings" panose="05000000000000000000" pitchFamily="2" charset="2"/>
              <a:buChar char="§"/>
            </a:pPr>
            <a:r>
              <a:rPr lang="en-US" dirty="0"/>
              <a:t>Create normalized business rules.</a:t>
            </a:r>
          </a:p>
        </p:txBody>
      </p:sp>
      <p:sp>
        <p:nvSpPr>
          <p:cNvPr id="4" name="Footer Placeholder 3">
            <a:extLst>
              <a:ext uri="{FF2B5EF4-FFF2-40B4-BE49-F238E27FC236}">
                <a16:creationId xmlns:a16="http://schemas.microsoft.com/office/drawing/2014/main" id="{82FEF442-0284-53B6-FA62-5CE11A95C6C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EB4F9E5-EB0A-D6ED-A892-E3B74FCD7CD1}"/>
              </a:ext>
            </a:extLst>
          </p:cNvPr>
          <p:cNvSpPr>
            <a:spLocks noGrp="1"/>
          </p:cNvSpPr>
          <p:nvPr>
            <p:ph type="sldNum" sz="quarter" idx="12"/>
          </p:nvPr>
        </p:nvSpPr>
        <p:spPr/>
        <p:txBody>
          <a:bodyPr/>
          <a:lstStyle/>
          <a:p>
            <a:fld id="{E6B03378-CDB7-40C1-827C-F54129224789}" type="slidenum">
              <a:rPr lang="en-US" smtClean="0"/>
              <a:t>4</a:t>
            </a:fld>
            <a:endParaRPr lang="en-US"/>
          </a:p>
        </p:txBody>
      </p:sp>
    </p:spTree>
    <p:extLst>
      <p:ext uri="{BB962C8B-B14F-4D97-AF65-F5344CB8AC3E}">
        <p14:creationId xmlns:p14="http://schemas.microsoft.com/office/powerpoint/2010/main" val="3274354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1CB8-E501-0425-C780-2A32A37679C8}"/>
              </a:ext>
            </a:extLst>
          </p:cNvPr>
          <p:cNvSpPr>
            <a:spLocks noGrp="1"/>
          </p:cNvSpPr>
          <p:nvPr>
            <p:ph type="title"/>
          </p:nvPr>
        </p:nvSpPr>
        <p:spPr/>
        <p:txBody>
          <a:bodyPr/>
          <a:lstStyle/>
          <a:p>
            <a:r>
              <a:rPr lang="en-US" b="1" dirty="0"/>
              <a:t>Strong and weak entities</a:t>
            </a:r>
            <a:endParaRPr lang="en-US" dirty="0"/>
          </a:p>
        </p:txBody>
      </p:sp>
      <p:sp>
        <p:nvSpPr>
          <p:cNvPr id="3" name="Content Placeholder 2">
            <a:extLst>
              <a:ext uri="{FF2B5EF4-FFF2-40B4-BE49-F238E27FC236}">
                <a16:creationId xmlns:a16="http://schemas.microsoft.com/office/drawing/2014/main" id="{7DBEC9E9-990D-37FC-3BD6-E65166F5514F}"/>
              </a:ext>
            </a:extLst>
          </p:cNvPr>
          <p:cNvSpPr>
            <a:spLocks noGrp="1"/>
          </p:cNvSpPr>
          <p:nvPr>
            <p:ph idx="1"/>
          </p:nvPr>
        </p:nvSpPr>
        <p:spPr/>
        <p:txBody>
          <a:bodyPr/>
          <a:lstStyle/>
          <a:p>
            <a:pPr algn="l">
              <a:buFont typeface="Arial" panose="020B0604020202020204" pitchFamily="34" charset="0"/>
              <a:buChar char="•"/>
            </a:pPr>
            <a:endParaRPr lang="en-US" b="1" i="0" dirty="0">
              <a:solidFill>
                <a:srgbClr val="343434"/>
              </a:solidFill>
              <a:effectLst/>
              <a:latin typeface="Roboto" panose="02000000000000000000" pitchFamily="2" charset="0"/>
            </a:endParaRPr>
          </a:p>
          <a:p>
            <a:pPr algn="l">
              <a:buFont typeface="Arial" panose="020B0604020202020204" pitchFamily="34" charset="0"/>
              <a:buChar char="•"/>
            </a:pPr>
            <a:endParaRPr lang="en-US" b="1" dirty="0">
              <a:solidFill>
                <a:srgbClr val="343434"/>
              </a:solidFill>
              <a:latin typeface="Roboto" panose="02000000000000000000" pitchFamily="2" charset="0"/>
            </a:endParaRPr>
          </a:p>
          <a:p>
            <a:pPr algn="l">
              <a:buFont typeface="Arial" panose="020B0604020202020204" pitchFamily="34" charset="0"/>
              <a:buChar char="•"/>
            </a:pPr>
            <a:endParaRPr lang="en-US" b="1" i="0" dirty="0">
              <a:solidFill>
                <a:srgbClr val="343434"/>
              </a:solidFill>
              <a:effectLst/>
              <a:latin typeface="Roboto" panose="02000000000000000000" pitchFamily="2" charset="0"/>
            </a:endParaRPr>
          </a:p>
          <a:p>
            <a:pPr marL="288925" indent="-288925" algn="l">
              <a:buFont typeface="Wingdings" panose="05000000000000000000" pitchFamily="2" charset="2"/>
              <a:buChar char="§"/>
            </a:pPr>
            <a:endParaRPr lang="en-US" b="1" dirty="0">
              <a:solidFill>
                <a:srgbClr val="343434"/>
              </a:solidFill>
              <a:latin typeface="Roboto" panose="02000000000000000000" pitchFamily="2" charset="0"/>
            </a:endParaRPr>
          </a:p>
          <a:p>
            <a:pPr marL="288925" indent="-288925" algn="l">
              <a:buFont typeface="Wingdings" panose="05000000000000000000" pitchFamily="2" charset="2"/>
              <a:buChar char="§"/>
            </a:pPr>
            <a:r>
              <a:rPr lang="en-US" sz="1600" b="1" i="0" dirty="0">
                <a:solidFill>
                  <a:srgbClr val="343434"/>
                </a:solidFill>
                <a:effectLst/>
                <a:latin typeface="Roboto" panose="02000000000000000000" pitchFamily="2" charset="0"/>
              </a:rPr>
              <a:t>Employee is a strong entity</a:t>
            </a:r>
            <a:r>
              <a:rPr lang="en-US" sz="1600" b="0" i="0" dirty="0">
                <a:solidFill>
                  <a:srgbClr val="343434"/>
                </a:solidFill>
                <a:effectLst/>
                <a:latin typeface="Roboto" panose="02000000000000000000" pitchFamily="2" charset="0"/>
              </a:rPr>
              <a:t> because it has a </a:t>
            </a:r>
            <a:r>
              <a:rPr lang="en-US" sz="1600" b="1" i="0" dirty="0">
                <a:solidFill>
                  <a:srgbClr val="343434"/>
                </a:solidFill>
                <a:effectLst/>
                <a:latin typeface="Roboto" panose="02000000000000000000" pitchFamily="2" charset="0"/>
              </a:rPr>
              <a:t>primary key</a:t>
            </a:r>
            <a:r>
              <a:rPr lang="en-US" sz="1600" b="0" i="0" dirty="0">
                <a:solidFill>
                  <a:srgbClr val="343434"/>
                </a:solidFill>
                <a:effectLst/>
                <a:latin typeface="Roboto" panose="02000000000000000000" pitchFamily="2" charset="0"/>
              </a:rPr>
              <a:t> attribute (</a:t>
            </a:r>
            <a:r>
              <a:rPr lang="en-US" sz="1600" dirty="0">
                <a:solidFill>
                  <a:srgbClr val="343434"/>
                </a:solidFill>
                <a:latin typeface="Roboto" panose="02000000000000000000" pitchFamily="2" charset="0"/>
              </a:rPr>
              <a:t>SSN)</a:t>
            </a:r>
            <a:r>
              <a:rPr lang="en-US" sz="1600" b="0" i="0" dirty="0">
                <a:solidFill>
                  <a:srgbClr val="343434"/>
                </a:solidFill>
                <a:effectLst/>
                <a:latin typeface="Roboto" panose="02000000000000000000" pitchFamily="2" charset="0"/>
              </a:rPr>
              <a:t> which is capable of uniquely identifying all the employee.</a:t>
            </a:r>
          </a:p>
          <a:p>
            <a:pPr marL="288925" indent="-288925" algn="l">
              <a:buFont typeface="Wingdings" panose="05000000000000000000" pitchFamily="2" charset="2"/>
              <a:buChar char="§"/>
            </a:pPr>
            <a:r>
              <a:rPr lang="en-US" sz="1600" b="0" i="0" dirty="0">
                <a:solidFill>
                  <a:srgbClr val="343434"/>
                </a:solidFill>
                <a:effectLst/>
                <a:latin typeface="Roboto" panose="02000000000000000000" pitchFamily="2" charset="0"/>
              </a:rPr>
              <a:t>Unlike Employee,</a:t>
            </a:r>
            <a:r>
              <a:rPr lang="en-US" sz="1600" b="1" i="0" dirty="0">
                <a:solidFill>
                  <a:srgbClr val="343434"/>
                </a:solidFill>
                <a:effectLst/>
                <a:latin typeface="Roboto" panose="02000000000000000000" pitchFamily="2" charset="0"/>
              </a:rPr>
              <a:t> Dependents is weak entity.</a:t>
            </a:r>
          </a:p>
          <a:p>
            <a:pPr marL="288925" indent="-288925" algn="l">
              <a:buFont typeface="Wingdings" panose="05000000000000000000" pitchFamily="2" charset="2"/>
              <a:buChar char="§"/>
            </a:pPr>
            <a:endParaRPr lang="en-US" sz="1600" b="1" dirty="0">
              <a:solidFill>
                <a:srgbClr val="343434"/>
              </a:solidFill>
              <a:latin typeface="Roboto" panose="02000000000000000000" pitchFamily="2" charset="0"/>
            </a:endParaRPr>
          </a:p>
          <a:p>
            <a:pPr marL="288925" indent="-288925" algn="l">
              <a:buFont typeface="Wingdings" panose="05000000000000000000" pitchFamily="2" charset="2"/>
              <a:buChar char="§"/>
            </a:pPr>
            <a:endParaRPr lang="en-US" sz="1600" b="0" i="0" dirty="0">
              <a:solidFill>
                <a:srgbClr val="343434"/>
              </a:solidFill>
              <a:effectLst/>
              <a:latin typeface="Roboto" panose="02000000000000000000" pitchFamily="2" charset="0"/>
            </a:endParaRPr>
          </a:p>
          <a:p>
            <a:endParaRPr lang="en-US" dirty="0"/>
          </a:p>
        </p:txBody>
      </p:sp>
      <p:pic>
        <p:nvPicPr>
          <p:cNvPr id="4" name="Picture 3">
            <a:extLst>
              <a:ext uri="{FF2B5EF4-FFF2-40B4-BE49-F238E27FC236}">
                <a16:creationId xmlns:a16="http://schemas.microsoft.com/office/drawing/2014/main" id="{7EF23D83-8EB3-54B1-9351-A7C7F21FF9F7}"/>
              </a:ext>
            </a:extLst>
          </p:cNvPr>
          <p:cNvPicPr>
            <a:picLocks noChangeAspect="1"/>
          </p:cNvPicPr>
          <p:nvPr/>
        </p:nvPicPr>
        <p:blipFill>
          <a:blip r:embed="rId2"/>
          <a:stretch>
            <a:fillRect/>
          </a:stretch>
        </p:blipFill>
        <p:spPr>
          <a:xfrm>
            <a:off x="1254929" y="2056774"/>
            <a:ext cx="10086975" cy="1295400"/>
          </a:xfrm>
          <a:prstGeom prst="rect">
            <a:avLst/>
          </a:prstGeom>
        </p:spPr>
      </p:pic>
      <p:sp>
        <p:nvSpPr>
          <p:cNvPr id="5" name="Footer Placeholder 4">
            <a:extLst>
              <a:ext uri="{FF2B5EF4-FFF2-40B4-BE49-F238E27FC236}">
                <a16:creationId xmlns:a16="http://schemas.microsoft.com/office/drawing/2014/main" id="{1182813A-45AE-6541-DB38-5B7479DF8FCD}"/>
              </a:ext>
            </a:extLst>
          </p:cNvPr>
          <p:cNvSpPr>
            <a:spLocks noGrp="1"/>
          </p:cNvSpPr>
          <p:nvPr>
            <p:ph type="ftr" sz="quarter" idx="11"/>
          </p:nvPr>
        </p:nvSpPr>
        <p:spPr/>
        <p:txBody>
          <a:bodyPr/>
          <a:lstStyle/>
          <a:p>
            <a:r>
              <a:rPr lang="en-US"/>
              <a:t>Eng. Aisha Al-Sadi | HTU | Al Hussein Technical University</a:t>
            </a:r>
          </a:p>
        </p:txBody>
      </p:sp>
      <p:sp>
        <p:nvSpPr>
          <p:cNvPr id="6" name="Slide Number Placeholder 5">
            <a:extLst>
              <a:ext uri="{FF2B5EF4-FFF2-40B4-BE49-F238E27FC236}">
                <a16:creationId xmlns:a16="http://schemas.microsoft.com/office/drawing/2014/main" id="{1EA0E157-029E-7192-59B5-89283C19C132}"/>
              </a:ext>
            </a:extLst>
          </p:cNvPr>
          <p:cNvSpPr>
            <a:spLocks noGrp="1"/>
          </p:cNvSpPr>
          <p:nvPr>
            <p:ph type="sldNum" sz="quarter" idx="12"/>
          </p:nvPr>
        </p:nvSpPr>
        <p:spPr/>
        <p:txBody>
          <a:bodyPr/>
          <a:lstStyle/>
          <a:p>
            <a:fld id="{E6B03378-CDB7-40C1-827C-F54129224789}" type="slidenum">
              <a:rPr lang="en-US" smtClean="0"/>
              <a:t>5</a:t>
            </a:fld>
            <a:endParaRPr lang="en-US"/>
          </a:p>
        </p:txBody>
      </p:sp>
    </p:spTree>
    <p:extLst>
      <p:ext uri="{BB962C8B-B14F-4D97-AF65-F5344CB8AC3E}">
        <p14:creationId xmlns:p14="http://schemas.microsoft.com/office/powerpoint/2010/main" val="357107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A460-FBB2-C6A9-5FC9-FC7C5F66F729}"/>
              </a:ext>
            </a:extLst>
          </p:cNvPr>
          <p:cNvSpPr>
            <a:spLocks noGrp="1"/>
          </p:cNvSpPr>
          <p:nvPr>
            <p:ph type="title"/>
          </p:nvPr>
        </p:nvSpPr>
        <p:spPr/>
        <p:txBody>
          <a:bodyPr/>
          <a:lstStyle/>
          <a:p>
            <a:r>
              <a:rPr lang="en-US" b="1" dirty="0"/>
              <a:t>Database Schema </a:t>
            </a:r>
          </a:p>
        </p:txBody>
      </p:sp>
      <p:sp>
        <p:nvSpPr>
          <p:cNvPr id="3" name="Content Placeholder 2">
            <a:extLst>
              <a:ext uri="{FF2B5EF4-FFF2-40B4-BE49-F238E27FC236}">
                <a16:creationId xmlns:a16="http://schemas.microsoft.com/office/drawing/2014/main" id="{29AB0660-848A-E8E0-7B43-4897F071956D}"/>
              </a:ext>
            </a:extLst>
          </p:cNvPr>
          <p:cNvSpPr>
            <a:spLocks noGrp="1"/>
          </p:cNvSpPr>
          <p:nvPr>
            <p:ph idx="1"/>
          </p:nvPr>
        </p:nvSpPr>
        <p:spPr/>
        <p:txBody>
          <a:bodyPr/>
          <a:lstStyle/>
          <a:p>
            <a:pPr marL="285750" indent="-227013" algn="l" fontAlgn="base">
              <a:buFont typeface="Wingdings" panose="05000000000000000000" pitchFamily="2" charset="2"/>
              <a:buChar char="§"/>
            </a:pPr>
            <a:r>
              <a:rPr lang="en-US" dirty="0">
                <a:solidFill>
                  <a:srgbClr val="2E2E30"/>
                </a:solidFill>
                <a:latin typeface="inherit"/>
              </a:rPr>
              <a:t>A </a:t>
            </a:r>
            <a:r>
              <a:rPr lang="en-US" b="1" i="0" dirty="0">
                <a:solidFill>
                  <a:srgbClr val="2E2E30"/>
                </a:solidFill>
                <a:effectLst/>
                <a:latin typeface="inherit"/>
              </a:rPr>
              <a:t>schema</a:t>
            </a:r>
            <a:r>
              <a:rPr lang="en-US" b="0" i="0" dirty="0">
                <a:solidFill>
                  <a:srgbClr val="2E2E30"/>
                </a:solidFill>
                <a:effectLst/>
                <a:latin typeface="inherit"/>
              </a:rPr>
              <a:t> for a database is an outline of how data is organized. It can be a graphic illustration, or another kind of chart used by programmers to understand how each table is laid out, including the columns and the types of data they hold and how tables connect.</a:t>
            </a:r>
          </a:p>
          <a:p>
            <a:pPr marL="285750" indent="-227013" algn="l" fontAlgn="base">
              <a:buFont typeface="Wingdings" panose="05000000000000000000" pitchFamily="2" charset="2"/>
              <a:buChar char="§"/>
            </a:pPr>
            <a:r>
              <a:rPr lang="en-US" b="0" i="0" dirty="0">
                <a:solidFill>
                  <a:srgbClr val="2E2E30"/>
                </a:solidFill>
                <a:effectLst/>
                <a:latin typeface="inherit"/>
              </a:rPr>
              <a:t>A database schema usually specifies which columns are primary keys in tables and which other columns have special constraints such as being required to have unique values in each record.</a:t>
            </a:r>
          </a:p>
          <a:p>
            <a:pPr marL="285750" indent="-227013" algn="l" fontAlgn="base">
              <a:buFont typeface="Wingdings" panose="05000000000000000000" pitchFamily="2" charset="2"/>
              <a:buChar char="§"/>
            </a:pPr>
            <a:r>
              <a:rPr lang="en-US" b="0" i="0" dirty="0">
                <a:solidFill>
                  <a:srgbClr val="2E2E30"/>
                </a:solidFill>
                <a:effectLst/>
                <a:latin typeface="inherit"/>
              </a:rPr>
              <a:t> It also usually specifies which columns in which tables contain references to data in other tables, often by including primary keys from other table records so that rows can be easily joined (</a:t>
            </a:r>
            <a:r>
              <a:rPr lang="en-US" b="0" i="0" dirty="0">
                <a:solidFill>
                  <a:srgbClr val="2E2E30"/>
                </a:solidFill>
                <a:effectLst/>
                <a:latin typeface="ProximaNovaBold"/>
              </a:rPr>
              <a:t>foreign key</a:t>
            </a:r>
            <a:r>
              <a:rPr lang="en-US" b="0" i="0" dirty="0">
                <a:solidFill>
                  <a:srgbClr val="2E2E30"/>
                </a:solidFill>
                <a:effectLst/>
                <a:latin typeface="inherit"/>
              </a:rPr>
              <a:t> columns).</a:t>
            </a:r>
          </a:p>
          <a:p>
            <a:endParaRPr lang="en-US" dirty="0"/>
          </a:p>
        </p:txBody>
      </p:sp>
      <p:sp>
        <p:nvSpPr>
          <p:cNvPr id="4" name="Footer Placeholder 3">
            <a:extLst>
              <a:ext uri="{FF2B5EF4-FFF2-40B4-BE49-F238E27FC236}">
                <a16:creationId xmlns:a16="http://schemas.microsoft.com/office/drawing/2014/main" id="{EDEF31EE-98FD-40E1-8D2D-011CEFEED17E}"/>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34965D8F-9ACC-F30F-1473-8C4FF3F77AA7}"/>
              </a:ext>
            </a:extLst>
          </p:cNvPr>
          <p:cNvSpPr>
            <a:spLocks noGrp="1"/>
          </p:cNvSpPr>
          <p:nvPr>
            <p:ph type="sldNum" sz="quarter" idx="12"/>
          </p:nvPr>
        </p:nvSpPr>
        <p:spPr/>
        <p:txBody>
          <a:bodyPr/>
          <a:lstStyle/>
          <a:p>
            <a:fld id="{E6B03378-CDB7-40C1-827C-F54129224789}" type="slidenum">
              <a:rPr lang="en-US" smtClean="0"/>
              <a:t>6</a:t>
            </a:fld>
            <a:endParaRPr lang="en-US"/>
          </a:p>
        </p:txBody>
      </p:sp>
    </p:spTree>
    <p:extLst>
      <p:ext uri="{BB962C8B-B14F-4D97-AF65-F5344CB8AC3E}">
        <p14:creationId xmlns:p14="http://schemas.microsoft.com/office/powerpoint/2010/main" val="41790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829E218-74FB-4455-98BE-F2C5BA897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a:extLst>
              <a:ext uri="{FF2B5EF4-FFF2-40B4-BE49-F238E27FC236}">
                <a16:creationId xmlns:a16="http://schemas.microsoft.com/office/drawing/2014/main" id="{7E8D75FD-D4F9-4D11-B70D-82EFCB4CF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4" name="Straight Connector 33">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548B4202-DCD5-4F8C-B481-743A989A9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158F09-D089-0235-8F21-52FDA580AAC0}"/>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b="1">
                <a:solidFill>
                  <a:schemeClr val="tx1">
                    <a:lumMod val="85000"/>
                    <a:lumOff val="15000"/>
                  </a:schemeClr>
                </a:solidFill>
              </a:rPr>
              <a:t>Mapping Steps</a:t>
            </a:r>
          </a:p>
        </p:txBody>
      </p:sp>
      <p:pic>
        <p:nvPicPr>
          <p:cNvPr id="5" name="Content Placeholder 4" descr="Magnifying glass and question mark">
            <a:extLst>
              <a:ext uri="{FF2B5EF4-FFF2-40B4-BE49-F238E27FC236}">
                <a16:creationId xmlns:a16="http://schemas.microsoft.com/office/drawing/2014/main" id="{E11F778A-8799-E68F-1ED4-A6C14C60101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5960" r="-1" b="15368"/>
          <a:stretch/>
        </p:blipFill>
        <p:spPr>
          <a:xfrm>
            <a:off x="635457" y="640080"/>
            <a:ext cx="10916463" cy="3602736"/>
          </a:xfrm>
          <a:prstGeom prst="rect">
            <a:avLst/>
          </a:prstGeom>
        </p:spPr>
      </p:pic>
      <p:cxnSp>
        <p:nvCxnSpPr>
          <p:cNvPr id="38" name="Straight Connector 37">
            <a:extLst>
              <a:ext uri="{FF2B5EF4-FFF2-40B4-BE49-F238E27FC236}">
                <a16:creationId xmlns:a16="http://schemas.microsoft.com/office/drawing/2014/main" id="{F7F57F6B-E621-4E40-A34D-2FE12902AA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CFB8C0F-4E01-4C10-A861-0C16EB92D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Rectangle 41">
            <a:extLst>
              <a:ext uri="{FF2B5EF4-FFF2-40B4-BE49-F238E27FC236}">
                <a16:creationId xmlns:a16="http://schemas.microsoft.com/office/drawing/2014/main" id="{8EE702CF-91CE-4661-ACBF-3C8160D1B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Footer Placeholder 2">
            <a:extLst>
              <a:ext uri="{FF2B5EF4-FFF2-40B4-BE49-F238E27FC236}">
                <a16:creationId xmlns:a16="http://schemas.microsoft.com/office/drawing/2014/main" id="{6A9A080A-4CE4-2A7C-BA4F-C609171D67B7}"/>
              </a:ext>
            </a:extLst>
          </p:cNvPr>
          <p:cNvSpPr>
            <a:spLocks noGrp="1"/>
          </p:cNvSpPr>
          <p:nvPr>
            <p:ph type="ftr" sz="quarter" idx="11"/>
          </p:nvPr>
        </p:nvSpPr>
        <p:spPr/>
        <p:txBody>
          <a:bodyPr/>
          <a:lstStyle/>
          <a:p>
            <a:r>
              <a:rPr lang="en-US"/>
              <a:t>Eng. Aisha Al-Sadi | HTU | Al Hussein Technical University</a:t>
            </a:r>
          </a:p>
        </p:txBody>
      </p:sp>
      <p:sp>
        <p:nvSpPr>
          <p:cNvPr id="4" name="Slide Number Placeholder 3">
            <a:extLst>
              <a:ext uri="{FF2B5EF4-FFF2-40B4-BE49-F238E27FC236}">
                <a16:creationId xmlns:a16="http://schemas.microsoft.com/office/drawing/2014/main" id="{79C218D5-C3DD-6544-980E-7FD9D37DA20E}"/>
              </a:ext>
            </a:extLst>
          </p:cNvPr>
          <p:cNvSpPr>
            <a:spLocks noGrp="1"/>
          </p:cNvSpPr>
          <p:nvPr>
            <p:ph type="sldNum" sz="quarter" idx="12"/>
          </p:nvPr>
        </p:nvSpPr>
        <p:spPr/>
        <p:txBody>
          <a:bodyPr/>
          <a:lstStyle/>
          <a:p>
            <a:fld id="{E6B03378-CDB7-40C1-827C-F54129224789}" type="slidenum">
              <a:rPr lang="en-US" smtClean="0"/>
              <a:t>7</a:t>
            </a:fld>
            <a:endParaRPr lang="en-US"/>
          </a:p>
        </p:txBody>
      </p:sp>
    </p:spTree>
    <p:extLst>
      <p:ext uri="{BB962C8B-B14F-4D97-AF65-F5344CB8AC3E}">
        <p14:creationId xmlns:p14="http://schemas.microsoft.com/office/powerpoint/2010/main" val="219001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C7F5B-7516-6A55-8F70-DF472C4B224D}"/>
              </a:ext>
            </a:extLst>
          </p:cNvPr>
          <p:cNvSpPr>
            <a:spLocks noGrp="1"/>
          </p:cNvSpPr>
          <p:nvPr>
            <p:ph type="title"/>
          </p:nvPr>
        </p:nvSpPr>
        <p:spPr/>
        <p:txBody>
          <a:bodyPr/>
          <a:lstStyle/>
          <a:p>
            <a:r>
              <a:rPr lang="en-US" b="1" dirty="0"/>
              <a:t>Mapping</a:t>
            </a:r>
          </a:p>
        </p:txBody>
      </p:sp>
      <p:sp>
        <p:nvSpPr>
          <p:cNvPr id="3" name="Content Placeholder 2">
            <a:extLst>
              <a:ext uri="{FF2B5EF4-FFF2-40B4-BE49-F238E27FC236}">
                <a16:creationId xmlns:a16="http://schemas.microsoft.com/office/drawing/2014/main" id="{C6E58FB6-9466-908C-C8BE-A9B46EF41C0B}"/>
              </a:ext>
            </a:extLst>
          </p:cNvPr>
          <p:cNvSpPr>
            <a:spLocks noGrp="1"/>
          </p:cNvSpPr>
          <p:nvPr>
            <p:ph idx="1"/>
          </p:nvPr>
        </p:nvSpPr>
        <p:spPr/>
        <p:txBody>
          <a:bodyPr>
            <a:normAutofit/>
          </a:bodyPr>
          <a:lstStyle/>
          <a:p>
            <a:pPr marL="285750" indent="-227013">
              <a:buFont typeface="Wingdings" panose="05000000000000000000" pitchFamily="2" charset="2"/>
              <a:buChar char="§"/>
            </a:pPr>
            <a:r>
              <a:rPr lang="en-US" b="1" dirty="0"/>
              <a:t>Mapping</a:t>
            </a:r>
            <a:r>
              <a:rPr lang="en-US" dirty="0"/>
              <a:t>: is the procedures to create a relational schema from an entity–relationship (ER).</a:t>
            </a:r>
          </a:p>
          <a:p>
            <a:pPr marL="285750" indent="-227013">
              <a:buFont typeface="Wingdings" panose="05000000000000000000" pitchFamily="2" charset="2"/>
              <a:buChar char="§"/>
            </a:pPr>
            <a:r>
              <a:rPr lang="en-US" b="1" dirty="0"/>
              <a:t>Rules of Mapping:</a:t>
            </a:r>
          </a:p>
          <a:p>
            <a:pPr marL="694245" lvl="1" indent="-342900">
              <a:buClr>
                <a:srgbClr val="009CAC"/>
              </a:buClr>
              <a:buFont typeface="+mj-lt"/>
              <a:buAutoNum type="arabicPeriod"/>
            </a:pPr>
            <a:r>
              <a:rPr lang="en-US" dirty="0"/>
              <a:t>Every entity is a table.</a:t>
            </a:r>
          </a:p>
          <a:p>
            <a:pPr marL="694245" lvl="1" indent="-342900">
              <a:buClr>
                <a:srgbClr val="009CAC"/>
              </a:buClr>
              <a:buFont typeface="+mj-lt"/>
              <a:buAutoNum type="arabicPeriod"/>
            </a:pPr>
            <a:r>
              <a:rPr lang="en-US" dirty="0"/>
              <a:t>Every attribute is represented as a column.</a:t>
            </a:r>
          </a:p>
          <a:p>
            <a:pPr marL="694245" lvl="1" indent="-342900">
              <a:buClr>
                <a:srgbClr val="009CAC"/>
              </a:buClr>
              <a:buFont typeface="+mj-lt"/>
              <a:buAutoNum type="arabicPeriod"/>
            </a:pPr>
            <a:r>
              <a:rPr lang="en-US" dirty="0"/>
              <a:t>Any derived attribute </a:t>
            </a:r>
            <a:r>
              <a:rPr lang="en-US" b="1" dirty="0"/>
              <a:t>should not be mapped </a:t>
            </a:r>
            <a:r>
              <a:rPr lang="en-US" dirty="0"/>
              <a:t>because we can calculate it from another attribute.</a:t>
            </a:r>
          </a:p>
          <a:p>
            <a:pPr marL="694245" lvl="1" indent="-342900">
              <a:buClr>
                <a:srgbClr val="009CAC"/>
              </a:buClr>
              <a:buFont typeface="+mj-lt"/>
              <a:buAutoNum type="arabicPeriod"/>
            </a:pPr>
            <a:r>
              <a:rPr lang="en-US" dirty="0"/>
              <a:t>Any </a:t>
            </a:r>
            <a:r>
              <a:rPr lang="en-US" b="1" dirty="0"/>
              <a:t>multi-valued</a:t>
            </a:r>
            <a:r>
              <a:rPr lang="en-US" dirty="0"/>
              <a:t> attribute should be extracted to </a:t>
            </a:r>
            <a:r>
              <a:rPr lang="en-US" b="1" dirty="0"/>
              <a:t>new table</a:t>
            </a:r>
            <a:r>
              <a:rPr lang="en-US" dirty="0"/>
              <a:t>. </a:t>
            </a:r>
          </a:p>
          <a:p>
            <a:pPr marL="694245" lvl="1" indent="-342900">
              <a:buClr>
                <a:srgbClr val="009CAC"/>
              </a:buClr>
              <a:buFont typeface="+mj-lt"/>
              <a:buAutoNum type="arabicPeriod"/>
            </a:pPr>
            <a:r>
              <a:rPr lang="en-US" dirty="0"/>
              <a:t>Any </a:t>
            </a:r>
            <a:r>
              <a:rPr lang="en-US" b="1" dirty="0"/>
              <a:t>composite</a:t>
            </a:r>
            <a:r>
              <a:rPr lang="en-US" dirty="0"/>
              <a:t> attribute should be </a:t>
            </a:r>
            <a:r>
              <a:rPr lang="en-US" b="1" dirty="0"/>
              <a:t>separated</a:t>
            </a:r>
            <a:r>
              <a:rPr lang="en-US" dirty="0"/>
              <a:t> so that every attribute has its </a:t>
            </a:r>
            <a:r>
              <a:rPr lang="en-US" b="1" dirty="0"/>
              <a:t>individual column</a:t>
            </a:r>
            <a:r>
              <a:rPr lang="en-US" dirty="0"/>
              <a:t>.</a:t>
            </a:r>
          </a:p>
          <a:p>
            <a:pPr marL="694245" lvl="1" indent="-342900">
              <a:buClr>
                <a:srgbClr val="009CAC"/>
              </a:buClr>
              <a:buFont typeface="+mj-lt"/>
              <a:buAutoNum type="arabicPeriod"/>
            </a:pPr>
            <a:r>
              <a:rPr lang="en-US" dirty="0"/>
              <a:t>In </a:t>
            </a:r>
            <a:r>
              <a:rPr lang="en-US" b="1" dirty="0"/>
              <a:t>1:1</a:t>
            </a:r>
            <a:r>
              <a:rPr lang="en-US" dirty="0"/>
              <a:t> relation and </a:t>
            </a:r>
            <a:r>
              <a:rPr lang="en-US" b="1" dirty="0"/>
              <a:t>1:M</a:t>
            </a:r>
            <a:r>
              <a:rPr lang="en-US" dirty="0"/>
              <a:t> relation, we should make a link between tables by adding reference from the </a:t>
            </a:r>
            <a:r>
              <a:rPr lang="en-US" b="1" dirty="0"/>
              <a:t>PK</a:t>
            </a:r>
            <a:r>
              <a:rPr lang="en-US" dirty="0"/>
              <a:t> to </a:t>
            </a:r>
            <a:r>
              <a:rPr lang="en-US" b="1" dirty="0"/>
              <a:t>FK</a:t>
            </a:r>
            <a:r>
              <a:rPr lang="en-US" dirty="0"/>
              <a:t>.</a:t>
            </a:r>
          </a:p>
          <a:p>
            <a:pPr marL="694245" lvl="1" indent="-342900">
              <a:buClr>
                <a:srgbClr val="009CAC"/>
              </a:buClr>
              <a:buFont typeface="+mj-lt"/>
              <a:buAutoNum type="arabicPeriod"/>
            </a:pPr>
            <a:r>
              <a:rPr lang="en-US" dirty="0"/>
              <a:t>Any many to many (</a:t>
            </a:r>
            <a:r>
              <a:rPr lang="en-US" b="1" dirty="0"/>
              <a:t>M:N</a:t>
            </a:r>
            <a:r>
              <a:rPr lang="en-US" dirty="0"/>
              <a:t>) relation will be represented as </a:t>
            </a:r>
            <a:r>
              <a:rPr lang="en-US" b="1" dirty="0"/>
              <a:t>new table</a:t>
            </a:r>
            <a:r>
              <a:rPr lang="en-US" dirty="0"/>
              <a:t>. And the primary key of this table will be a combination of the primary keys of the two ends of the relation.</a:t>
            </a:r>
          </a:p>
          <a:p>
            <a:pPr marL="285750" indent="-227013">
              <a:buFont typeface="Wingdings" panose="05000000000000000000" pitchFamily="2" charset="2"/>
              <a:buChar char="§"/>
            </a:pPr>
            <a:endParaRPr lang="en-US" dirty="0"/>
          </a:p>
        </p:txBody>
      </p:sp>
      <p:sp>
        <p:nvSpPr>
          <p:cNvPr id="4" name="Footer Placeholder 3">
            <a:extLst>
              <a:ext uri="{FF2B5EF4-FFF2-40B4-BE49-F238E27FC236}">
                <a16:creationId xmlns:a16="http://schemas.microsoft.com/office/drawing/2014/main" id="{6E36EEAC-A874-0388-D702-C37C9CB25E92}"/>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6BC695F-29BA-9AF4-7902-258E190ABDBE}"/>
              </a:ext>
            </a:extLst>
          </p:cNvPr>
          <p:cNvSpPr>
            <a:spLocks noGrp="1"/>
          </p:cNvSpPr>
          <p:nvPr>
            <p:ph type="sldNum" sz="quarter" idx="12"/>
          </p:nvPr>
        </p:nvSpPr>
        <p:spPr/>
        <p:txBody>
          <a:bodyPr/>
          <a:lstStyle/>
          <a:p>
            <a:fld id="{E6B03378-CDB7-40C1-827C-F54129224789}" type="slidenum">
              <a:rPr lang="en-US" smtClean="0"/>
              <a:t>8</a:t>
            </a:fld>
            <a:endParaRPr lang="en-US"/>
          </a:p>
        </p:txBody>
      </p:sp>
    </p:spTree>
    <p:extLst>
      <p:ext uri="{BB962C8B-B14F-4D97-AF65-F5344CB8AC3E}">
        <p14:creationId xmlns:p14="http://schemas.microsoft.com/office/powerpoint/2010/main" val="2349665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A6981-1D51-5706-84FC-01239213494D}"/>
              </a:ext>
            </a:extLst>
          </p:cNvPr>
          <p:cNvSpPr>
            <a:spLocks noGrp="1"/>
          </p:cNvSpPr>
          <p:nvPr>
            <p:ph type="title"/>
          </p:nvPr>
        </p:nvSpPr>
        <p:spPr>
          <a:xfrm>
            <a:off x="1066800" y="243863"/>
            <a:ext cx="10058400" cy="1450757"/>
          </a:xfrm>
        </p:spPr>
        <p:txBody>
          <a:bodyPr/>
          <a:lstStyle/>
          <a:p>
            <a:r>
              <a:rPr lang="en-US" b="1" dirty="0"/>
              <a:t>Company Example</a:t>
            </a:r>
          </a:p>
        </p:txBody>
      </p:sp>
      <p:sp>
        <p:nvSpPr>
          <p:cNvPr id="3" name="Content Placeholder 2">
            <a:extLst>
              <a:ext uri="{FF2B5EF4-FFF2-40B4-BE49-F238E27FC236}">
                <a16:creationId xmlns:a16="http://schemas.microsoft.com/office/drawing/2014/main" id="{EFAB19EB-DD3E-16BA-9F21-517F0C732149}"/>
              </a:ext>
            </a:extLst>
          </p:cNvPr>
          <p:cNvSpPr>
            <a:spLocks noGrp="1"/>
          </p:cNvSpPr>
          <p:nvPr>
            <p:ph idx="1"/>
          </p:nvPr>
        </p:nvSpPr>
        <p:spPr>
          <a:xfrm>
            <a:off x="1097280" y="1855566"/>
            <a:ext cx="10058400" cy="4023360"/>
          </a:xfrm>
        </p:spPr>
        <p:txBody>
          <a:bodyPr>
            <a:normAutofit/>
          </a:bodyPr>
          <a:lstStyle/>
          <a:p>
            <a:pPr marL="0" indent="0" algn="just">
              <a:buNone/>
            </a:pPr>
            <a:r>
              <a:rPr lang="en-US" sz="2000" b="1" u="sng" dirty="0"/>
              <a:t>Scenario</a:t>
            </a:r>
            <a:r>
              <a:rPr lang="en-US" sz="2000" u="sng" dirty="0"/>
              <a:t>: </a:t>
            </a:r>
          </a:p>
          <a:p>
            <a:pPr marL="0" indent="0" algn="just">
              <a:buNone/>
            </a:pPr>
            <a:r>
              <a:rPr lang="en-US" dirty="0"/>
              <a:t>The company is organized into </a:t>
            </a:r>
            <a:r>
              <a:rPr lang="en-US" b="1" dirty="0"/>
              <a:t>departments</a:t>
            </a:r>
            <a:r>
              <a:rPr lang="en-US" dirty="0"/>
              <a:t>. Each department has an </a:t>
            </a:r>
            <a:r>
              <a:rPr lang="en-US" b="1" dirty="0"/>
              <a:t>employee</a:t>
            </a:r>
            <a:r>
              <a:rPr lang="en-US" dirty="0"/>
              <a:t> who manages the department. Each department controls a number of </a:t>
            </a:r>
            <a:r>
              <a:rPr lang="en-US" b="1" dirty="0"/>
              <a:t>projects</a:t>
            </a:r>
            <a:r>
              <a:rPr lang="en-US" dirty="0"/>
              <a:t>. Each employee works for one department but may work on several projects. Each employee may have a number of </a:t>
            </a:r>
            <a:r>
              <a:rPr lang="en-US" b="1" dirty="0"/>
              <a:t>dependents</a:t>
            </a:r>
            <a:r>
              <a:rPr lang="en-US" dirty="0"/>
              <a:t>.</a:t>
            </a:r>
          </a:p>
        </p:txBody>
      </p:sp>
      <p:sp>
        <p:nvSpPr>
          <p:cNvPr id="4" name="Footer Placeholder 3">
            <a:extLst>
              <a:ext uri="{FF2B5EF4-FFF2-40B4-BE49-F238E27FC236}">
                <a16:creationId xmlns:a16="http://schemas.microsoft.com/office/drawing/2014/main" id="{369CFD22-D69E-2293-9210-DD888E5C7D05}"/>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FD26C61-B640-DED1-C258-371A4B02E0F1}"/>
              </a:ext>
            </a:extLst>
          </p:cNvPr>
          <p:cNvSpPr>
            <a:spLocks noGrp="1"/>
          </p:cNvSpPr>
          <p:nvPr>
            <p:ph type="sldNum" sz="quarter" idx="12"/>
          </p:nvPr>
        </p:nvSpPr>
        <p:spPr/>
        <p:txBody>
          <a:bodyPr/>
          <a:lstStyle/>
          <a:p>
            <a:fld id="{FD97C469-14A9-4BE4-BDC2-AF98C32D29B7}" type="slidenum">
              <a:rPr lang="en-US" smtClean="0"/>
              <a:t>9</a:t>
            </a:fld>
            <a:endParaRPr lang="en-US"/>
          </a:p>
        </p:txBody>
      </p:sp>
      <p:pic>
        <p:nvPicPr>
          <p:cNvPr id="6" name="Content Placeholder 7" descr="Diagram&#10;&#10;Description automatically generated">
            <a:extLst>
              <a:ext uri="{FF2B5EF4-FFF2-40B4-BE49-F238E27FC236}">
                <a16:creationId xmlns:a16="http://schemas.microsoft.com/office/drawing/2014/main" id="{52134FD6-619D-8823-FB70-718592708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2773" y="3301614"/>
            <a:ext cx="4897093" cy="3019685"/>
          </a:xfrm>
          <a:prstGeom prst="rect">
            <a:avLst/>
          </a:prstGeom>
        </p:spPr>
      </p:pic>
      <p:sp>
        <p:nvSpPr>
          <p:cNvPr id="8" name="TextBox 7">
            <a:extLst>
              <a:ext uri="{FF2B5EF4-FFF2-40B4-BE49-F238E27FC236}">
                <a16:creationId xmlns:a16="http://schemas.microsoft.com/office/drawing/2014/main" id="{DB2A7535-7A45-808B-409B-5E6CBF838CC4}"/>
              </a:ext>
            </a:extLst>
          </p:cNvPr>
          <p:cNvSpPr txBox="1"/>
          <p:nvPr/>
        </p:nvSpPr>
        <p:spPr>
          <a:xfrm>
            <a:off x="2507226" y="4868425"/>
            <a:ext cx="6096000" cy="369332"/>
          </a:xfrm>
          <a:prstGeom prst="rect">
            <a:avLst/>
          </a:prstGeom>
          <a:noFill/>
        </p:spPr>
        <p:txBody>
          <a:bodyPr wrap="square">
            <a:spAutoFit/>
          </a:bodyPr>
          <a:lstStyle/>
          <a:p>
            <a:r>
              <a:rPr lang="en-US" sz="1800" b="1" dirty="0">
                <a:solidFill>
                  <a:schemeClr val="tx1"/>
                </a:solidFill>
              </a:rPr>
              <a:t>Conceptual Model</a:t>
            </a:r>
            <a:endParaRPr lang="en-US" dirty="0"/>
          </a:p>
        </p:txBody>
      </p:sp>
    </p:spTree>
    <p:extLst>
      <p:ext uri="{BB962C8B-B14F-4D97-AF65-F5344CB8AC3E}">
        <p14:creationId xmlns:p14="http://schemas.microsoft.com/office/powerpoint/2010/main" val="544759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924E-C412-9F64-11C4-D907B7A958FF}"/>
              </a:ext>
            </a:extLst>
          </p:cNvPr>
          <p:cNvSpPr>
            <a:spLocks noGrp="1"/>
          </p:cNvSpPr>
          <p:nvPr>
            <p:ph type="title"/>
          </p:nvPr>
        </p:nvSpPr>
        <p:spPr/>
        <p:txBody>
          <a:bodyPr/>
          <a:lstStyle/>
          <a:p>
            <a:r>
              <a:rPr lang="en-US" b="1" dirty="0"/>
              <a:t>Company Example - Details</a:t>
            </a:r>
            <a:endParaRPr lang="en-US" dirty="0"/>
          </a:p>
        </p:txBody>
      </p:sp>
      <p:sp>
        <p:nvSpPr>
          <p:cNvPr id="3" name="Content Placeholder 2">
            <a:extLst>
              <a:ext uri="{FF2B5EF4-FFF2-40B4-BE49-F238E27FC236}">
                <a16:creationId xmlns:a16="http://schemas.microsoft.com/office/drawing/2014/main" id="{8256FD73-EC93-E3B9-F0C3-D29B7BD5F232}"/>
              </a:ext>
            </a:extLst>
          </p:cNvPr>
          <p:cNvSpPr>
            <a:spLocks noGrp="1"/>
          </p:cNvSpPr>
          <p:nvPr>
            <p:ph idx="1"/>
          </p:nvPr>
        </p:nvSpPr>
        <p:spPr/>
        <p:txBody>
          <a:bodyPr vert="horz" lIns="0" tIns="45720" rIns="0" bIns="45720" rtlCol="0" anchor="t">
            <a:normAutofit/>
          </a:bodyPr>
          <a:lstStyle/>
          <a:p>
            <a:pPr marL="0" indent="0" algn="just">
              <a:buNone/>
            </a:pPr>
            <a:r>
              <a:rPr lang="en-US" sz="2000" b="1" u="sng" dirty="0"/>
              <a:t>Scenario</a:t>
            </a:r>
            <a:r>
              <a:rPr lang="en-US" sz="2000" u="sng" dirty="0"/>
              <a:t>: </a:t>
            </a:r>
          </a:p>
          <a:p>
            <a:pPr marL="0" indent="0" algn="just">
              <a:buNone/>
            </a:pPr>
            <a:r>
              <a:rPr lang="en-US" dirty="0"/>
              <a:t>The company is organized into </a:t>
            </a:r>
            <a:r>
              <a:rPr lang="en-US" b="1" dirty="0"/>
              <a:t>DEPARTMENTs</a:t>
            </a:r>
            <a:r>
              <a:rPr lang="en-US" dirty="0"/>
              <a:t>. Each department has a </a:t>
            </a:r>
            <a:r>
              <a:rPr lang="en-US" b="1" dirty="0">
                <a:solidFill>
                  <a:srgbClr val="FF0000"/>
                </a:solidFill>
              </a:rPr>
              <a:t>name</a:t>
            </a:r>
            <a:r>
              <a:rPr lang="en-US" dirty="0"/>
              <a:t>, </a:t>
            </a:r>
            <a:r>
              <a:rPr lang="en-US" b="1" dirty="0">
                <a:solidFill>
                  <a:srgbClr val="FF0000"/>
                </a:solidFill>
              </a:rPr>
              <a:t>number</a:t>
            </a:r>
            <a:r>
              <a:rPr lang="en-US" dirty="0"/>
              <a:t> and an </a:t>
            </a:r>
            <a:r>
              <a:rPr lang="en-US" b="1" dirty="0"/>
              <a:t>employee</a:t>
            </a:r>
            <a:r>
              <a:rPr lang="en-US" dirty="0"/>
              <a:t> who manages the department. We keep track of the </a:t>
            </a:r>
            <a:r>
              <a:rPr lang="en-US" b="1" dirty="0">
                <a:solidFill>
                  <a:srgbClr val="FF0000"/>
                </a:solidFill>
              </a:rPr>
              <a:t>start date </a:t>
            </a:r>
            <a:r>
              <a:rPr lang="en-US" dirty="0"/>
              <a:t>of the department manager. A department may have several </a:t>
            </a:r>
            <a:r>
              <a:rPr lang="en-US" b="1" dirty="0">
                <a:solidFill>
                  <a:srgbClr val="FF0000"/>
                </a:solidFill>
              </a:rPr>
              <a:t>locations</a:t>
            </a:r>
            <a:r>
              <a:rPr lang="en-US" dirty="0"/>
              <a:t>. Each department controls a number of </a:t>
            </a:r>
            <a:r>
              <a:rPr lang="en-US" b="1" dirty="0"/>
              <a:t>PROJECTs</a:t>
            </a:r>
            <a:r>
              <a:rPr lang="en-US" dirty="0"/>
              <a:t>. Each project has a unique </a:t>
            </a:r>
            <a:r>
              <a:rPr lang="en-US" b="1" dirty="0">
                <a:solidFill>
                  <a:srgbClr val="FF0000"/>
                </a:solidFill>
              </a:rPr>
              <a:t>name</a:t>
            </a:r>
            <a:r>
              <a:rPr lang="en-US" dirty="0"/>
              <a:t>, unique </a:t>
            </a:r>
            <a:r>
              <a:rPr lang="en-US" b="1" dirty="0">
                <a:solidFill>
                  <a:srgbClr val="FF0000"/>
                </a:solidFill>
              </a:rPr>
              <a:t>number</a:t>
            </a:r>
            <a:r>
              <a:rPr lang="en-US" dirty="0"/>
              <a:t> and is located at a single </a:t>
            </a:r>
            <a:r>
              <a:rPr lang="en-US" b="1" dirty="0">
                <a:solidFill>
                  <a:srgbClr val="FF0000"/>
                </a:solidFill>
              </a:rPr>
              <a:t>location</a:t>
            </a:r>
            <a:r>
              <a:rPr lang="en-US" dirty="0"/>
              <a:t>. Each EMPLOYEE has a </a:t>
            </a:r>
            <a:r>
              <a:rPr lang="en-US" b="1" dirty="0">
                <a:solidFill>
                  <a:srgbClr val="FF0000"/>
                </a:solidFill>
              </a:rPr>
              <a:t>social security number</a:t>
            </a:r>
            <a:r>
              <a:rPr lang="en-US" dirty="0"/>
              <a:t>, </a:t>
            </a:r>
            <a:r>
              <a:rPr lang="en-US" b="1" dirty="0">
                <a:solidFill>
                  <a:srgbClr val="FF0000"/>
                </a:solidFill>
              </a:rPr>
              <a:t>salary</a:t>
            </a:r>
            <a:r>
              <a:rPr lang="en-US" dirty="0"/>
              <a:t>, </a:t>
            </a:r>
            <a:r>
              <a:rPr lang="en-US" b="1" dirty="0">
                <a:solidFill>
                  <a:srgbClr val="FF0000"/>
                </a:solidFill>
              </a:rPr>
              <a:t>gender</a:t>
            </a:r>
            <a:r>
              <a:rPr lang="en-US" dirty="0"/>
              <a:t>, and </a:t>
            </a:r>
            <a:r>
              <a:rPr lang="en-US" b="1" dirty="0">
                <a:solidFill>
                  <a:srgbClr val="FF0000"/>
                </a:solidFill>
              </a:rPr>
              <a:t>birthdate</a:t>
            </a:r>
            <a:r>
              <a:rPr lang="en-US" dirty="0"/>
              <a:t>. Each employee works for one department but may work on several projects. We keep track of </a:t>
            </a:r>
            <a:r>
              <a:rPr lang="en-US" b="1" dirty="0">
                <a:solidFill>
                  <a:srgbClr val="FF0000"/>
                </a:solidFill>
              </a:rPr>
              <a:t>the number of hours per week</a:t>
            </a:r>
            <a:r>
              <a:rPr lang="en-US" dirty="0"/>
              <a:t> that an employee currently works on each project. It is required to keep track of the </a:t>
            </a:r>
            <a:r>
              <a:rPr lang="en-US" b="1" dirty="0">
                <a:solidFill>
                  <a:srgbClr val="FF0000"/>
                </a:solidFill>
              </a:rPr>
              <a:t>direct supervisor </a:t>
            </a:r>
            <a:r>
              <a:rPr lang="en-US" dirty="0"/>
              <a:t>of each employee. Each employee may have a number of </a:t>
            </a:r>
            <a:r>
              <a:rPr lang="en-US" b="1" dirty="0"/>
              <a:t>DEPENDENTs</a:t>
            </a:r>
            <a:r>
              <a:rPr lang="en-US" dirty="0"/>
              <a:t>. For each dependent, we keep a record of </a:t>
            </a:r>
            <a:r>
              <a:rPr lang="en-US" b="1" dirty="0">
                <a:solidFill>
                  <a:srgbClr val="FF0000"/>
                </a:solidFill>
              </a:rPr>
              <a:t>name</a:t>
            </a:r>
            <a:r>
              <a:rPr lang="en-US" dirty="0"/>
              <a:t>, </a:t>
            </a:r>
            <a:r>
              <a:rPr lang="en-US" b="1" dirty="0">
                <a:solidFill>
                  <a:srgbClr val="FF0000"/>
                </a:solidFill>
              </a:rPr>
              <a:t>sex</a:t>
            </a:r>
            <a:r>
              <a:rPr lang="en-US" dirty="0"/>
              <a:t>, </a:t>
            </a:r>
            <a:r>
              <a:rPr lang="en-US" b="1" dirty="0">
                <a:solidFill>
                  <a:srgbClr val="FF0000"/>
                </a:solidFill>
              </a:rPr>
              <a:t>birthdate</a:t>
            </a:r>
            <a:r>
              <a:rPr lang="en-US" dirty="0"/>
              <a:t>, and </a:t>
            </a:r>
            <a:r>
              <a:rPr lang="en-US" b="1" dirty="0">
                <a:solidFill>
                  <a:srgbClr val="FF0000"/>
                </a:solidFill>
              </a:rPr>
              <a:t>relationship</a:t>
            </a:r>
            <a:r>
              <a:rPr lang="en-US" dirty="0"/>
              <a:t> to the</a:t>
            </a:r>
            <a:r>
              <a:rPr lang="en-US" b="1" dirty="0"/>
              <a:t> </a:t>
            </a:r>
            <a:r>
              <a:rPr lang="en-US" dirty="0"/>
              <a:t>employee.</a:t>
            </a:r>
          </a:p>
          <a:p>
            <a:pPr algn="just"/>
            <a:endParaRPr lang="en-US" dirty="0"/>
          </a:p>
          <a:p>
            <a:endParaRPr lang="en-US" dirty="0"/>
          </a:p>
        </p:txBody>
      </p:sp>
      <p:sp>
        <p:nvSpPr>
          <p:cNvPr id="4" name="Footer Placeholder 3">
            <a:extLst>
              <a:ext uri="{FF2B5EF4-FFF2-40B4-BE49-F238E27FC236}">
                <a16:creationId xmlns:a16="http://schemas.microsoft.com/office/drawing/2014/main" id="{E95BEA87-90E4-BF73-5A3F-0FD02C18F45D}"/>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BD4C685B-9315-B2C9-2489-89137C7580E2}"/>
              </a:ext>
            </a:extLst>
          </p:cNvPr>
          <p:cNvSpPr>
            <a:spLocks noGrp="1"/>
          </p:cNvSpPr>
          <p:nvPr>
            <p:ph type="sldNum" sz="quarter" idx="12"/>
          </p:nvPr>
        </p:nvSpPr>
        <p:spPr/>
        <p:txBody>
          <a:bodyPr/>
          <a:lstStyle/>
          <a:p>
            <a:fld id="{E6B03378-CDB7-40C1-827C-F54129224789}" type="slidenum">
              <a:rPr lang="en-US" smtClean="0"/>
              <a:t>10</a:t>
            </a:fld>
            <a:endParaRPr lang="en-US"/>
          </a:p>
        </p:txBody>
      </p:sp>
    </p:spTree>
    <p:extLst>
      <p:ext uri="{BB962C8B-B14F-4D97-AF65-F5344CB8AC3E}">
        <p14:creationId xmlns:p14="http://schemas.microsoft.com/office/powerpoint/2010/main" val="3402162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C0FA-53DC-C8AC-C95F-9C159D5DB6F7}"/>
              </a:ext>
            </a:extLst>
          </p:cNvPr>
          <p:cNvSpPr>
            <a:spLocks noGrp="1"/>
          </p:cNvSpPr>
          <p:nvPr>
            <p:ph type="title"/>
          </p:nvPr>
        </p:nvSpPr>
        <p:spPr/>
        <p:txBody>
          <a:bodyPr/>
          <a:lstStyle/>
          <a:p>
            <a:r>
              <a:rPr lang="en-US" b="1" dirty="0"/>
              <a:t>Mapping Steps</a:t>
            </a:r>
          </a:p>
        </p:txBody>
      </p:sp>
      <p:sp>
        <p:nvSpPr>
          <p:cNvPr id="3" name="Content Placeholder 2">
            <a:extLst>
              <a:ext uri="{FF2B5EF4-FFF2-40B4-BE49-F238E27FC236}">
                <a16:creationId xmlns:a16="http://schemas.microsoft.com/office/drawing/2014/main" id="{8B087C4D-05BC-A4DA-8DDB-0B0B1FDD01E7}"/>
              </a:ext>
            </a:extLst>
          </p:cNvPr>
          <p:cNvSpPr>
            <a:spLocks noGrp="1"/>
          </p:cNvSpPr>
          <p:nvPr>
            <p:ph idx="1"/>
          </p:nvPr>
        </p:nvSpPr>
        <p:spPr/>
        <p:txBody>
          <a:bodyPr/>
          <a:lstStyle/>
          <a:p>
            <a:pPr marL="225425" indent="-225425">
              <a:buFont typeface="Wingdings" panose="05000000000000000000" pitchFamily="2" charset="2"/>
              <a:buChar char="§"/>
              <a:tabLst>
                <a:tab pos="0" algn="l"/>
              </a:tabLst>
            </a:pPr>
            <a:r>
              <a:rPr lang="en-US" b="1" dirty="0"/>
              <a:t>Step 1: </a:t>
            </a:r>
            <a:r>
              <a:rPr lang="en-US" dirty="0"/>
              <a:t>Mapping of Regular (Strong) Entity Types</a:t>
            </a:r>
          </a:p>
          <a:p>
            <a:pPr marL="225425" indent="-225425">
              <a:buFont typeface="Wingdings" panose="05000000000000000000" pitchFamily="2" charset="2"/>
              <a:buChar char="§"/>
              <a:tabLst>
                <a:tab pos="0" algn="l"/>
              </a:tabLst>
            </a:pPr>
            <a:r>
              <a:rPr lang="en-US" b="1" dirty="0"/>
              <a:t>Step 2: </a:t>
            </a:r>
            <a:r>
              <a:rPr lang="en-US" dirty="0"/>
              <a:t>Mapping of Weak Entity Types</a:t>
            </a:r>
          </a:p>
          <a:p>
            <a:pPr marL="225425" indent="-225425">
              <a:buFont typeface="Wingdings" panose="05000000000000000000" pitchFamily="2" charset="2"/>
              <a:buChar char="§"/>
              <a:tabLst>
                <a:tab pos="0" algn="l"/>
              </a:tabLst>
            </a:pPr>
            <a:r>
              <a:rPr lang="en-US" b="1" dirty="0"/>
              <a:t>Step 3: </a:t>
            </a:r>
            <a:r>
              <a:rPr lang="en-US" dirty="0"/>
              <a:t>Remove Derived attributes</a:t>
            </a:r>
          </a:p>
          <a:p>
            <a:pPr marL="225425" indent="-225425">
              <a:buFont typeface="Wingdings" panose="05000000000000000000" pitchFamily="2" charset="2"/>
              <a:buChar char="§"/>
              <a:tabLst>
                <a:tab pos="0" algn="l"/>
              </a:tabLst>
            </a:pPr>
            <a:r>
              <a:rPr lang="en-US" b="1" dirty="0"/>
              <a:t>Step 4: </a:t>
            </a:r>
            <a:r>
              <a:rPr lang="en-US" dirty="0"/>
              <a:t>Mapping of Multivalued Attributes.</a:t>
            </a:r>
          </a:p>
          <a:p>
            <a:pPr marL="225425" indent="-225425">
              <a:buFont typeface="Wingdings" panose="05000000000000000000" pitchFamily="2" charset="2"/>
              <a:buChar char="§"/>
              <a:tabLst>
                <a:tab pos="0" algn="l"/>
              </a:tabLst>
            </a:pPr>
            <a:r>
              <a:rPr lang="en-US" b="1" dirty="0"/>
              <a:t>Step 5: </a:t>
            </a:r>
            <a:r>
              <a:rPr lang="en-US" dirty="0"/>
              <a:t>Mapping of Composite Attributes.</a:t>
            </a:r>
          </a:p>
          <a:p>
            <a:pPr marL="225425" indent="-225425">
              <a:buFont typeface="Wingdings" panose="05000000000000000000" pitchFamily="2" charset="2"/>
              <a:buChar char="§"/>
            </a:pPr>
            <a:r>
              <a:rPr lang="en-US" b="1" dirty="0"/>
              <a:t>Step 6: </a:t>
            </a:r>
            <a:r>
              <a:rPr lang="en-US" dirty="0"/>
              <a:t>Mapping of 1:1 Relationship Types.</a:t>
            </a:r>
          </a:p>
          <a:p>
            <a:pPr marL="225425" indent="-225425">
              <a:buFont typeface="Wingdings" panose="05000000000000000000" pitchFamily="2" charset="2"/>
              <a:buChar char="§"/>
            </a:pPr>
            <a:r>
              <a:rPr lang="en-US" b="1" dirty="0"/>
              <a:t>Step 7: </a:t>
            </a:r>
            <a:r>
              <a:rPr lang="en-US" dirty="0"/>
              <a:t>Mapping of 1:N Relationship Types.</a:t>
            </a:r>
          </a:p>
          <a:p>
            <a:pPr marL="225425" indent="-225425">
              <a:buFont typeface="Wingdings" panose="05000000000000000000" pitchFamily="2" charset="2"/>
              <a:buChar char="§"/>
            </a:pPr>
            <a:r>
              <a:rPr lang="en-US" b="1" dirty="0"/>
              <a:t>Step 8: </a:t>
            </a:r>
            <a:r>
              <a:rPr lang="en-US" dirty="0"/>
              <a:t>Mapping of M:N Relationship Types.</a:t>
            </a:r>
          </a:p>
          <a:p>
            <a:pPr marL="225425" indent="-225425">
              <a:buFont typeface="Wingdings" panose="05000000000000000000" pitchFamily="2" charset="2"/>
              <a:buChar char="§"/>
              <a:tabLst>
                <a:tab pos="0" algn="l"/>
              </a:tabLst>
            </a:pPr>
            <a:endParaRPr lang="en-US" dirty="0"/>
          </a:p>
        </p:txBody>
      </p:sp>
      <p:sp>
        <p:nvSpPr>
          <p:cNvPr id="4" name="Footer Placeholder 3">
            <a:extLst>
              <a:ext uri="{FF2B5EF4-FFF2-40B4-BE49-F238E27FC236}">
                <a16:creationId xmlns:a16="http://schemas.microsoft.com/office/drawing/2014/main" id="{F1E9B81A-81A1-4E60-AD24-EF68A17B553F}"/>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AC1A6551-6BD8-4383-C502-C04441AF5D9D}"/>
              </a:ext>
            </a:extLst>
          </p:cNvPr>
          <p:cNvSpPr>
            <a:spLocks noGrp="1"/>
          </p:cNvSpPr>
          <p:nvPr>
            <p:ph type="sldNum" sz="quarter" idx="12"/>
          </p:nvPr>
        </p:nvSpPr>
        <p:spPr/>
        <p:txBody>
          <a:bodyPr/>
          <a:lstStyle/>
          <a:p>
            <a:fld id="{E6B03378-CDB7-40C1-827C-F54129224789}" type="slidenum">
              <a:rPr lang="en-US" smtClean="0"/>
              <a:t>11</a:t>
            </a:fld>
            <a:endParaRPr lang="en-US"/>
          </a:p>
        </p:txBody>
      </p:sp>
    </p:spTree>
    <p:extLst>
      <p:ext uri="{BB962C8B-B14F-4D97-AF65-F5344CB8AC3E}">
        <p14:creationId xmlns:p14="http://schemas.microsoft.com/office/powerpoint/2010/main" val="838054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6F903-0DE6-6DEC-B436-ADCDA4B71F13}"/>
              </a:ext>
            </a:extLst>
          </p:cNvPr>
          <p:cNvSpPr>
            <a:spLocks noGrp="1"/>
          </p:cNvSpPr>
          <p:nvPr>
            <p:ph type="title"/>
          </p:nvPr>
        </p:nvSpPr>
        <p:spPr/>
        <p:txBody>
          <a:bodyPr/>
          <a:lstStyle/>
          <a:p>
            <a:r>
              <a:rPr lang="en-US" b="1" dirty="0"/>
              <a:t>Database Schema –With Strong Entities Only</a:t>
            </a:r>
            <a:endParaRPr lang="en-US" dirty="0"/>
          </a:p>
        </p:txBody>
      </p:sp>
      <p:sp>
        <p:nvSpPr>
          <p:cNvPr id="3" name="Footer Placeholder 2">
            <a:extLst>
              <a:ext uri="{FF2B5EF4-FFF2-40B4-BE49-F238E27FC236}">
                <a16:creationId xmlns:a16="http://schemas.microsoft.com/office/drawing/2014/main" id="{24A3A7EF-721F-C2EB-05FA-87464943F1AD}"/>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668236B-362C-3B14-ACE9-E0DA2F211619}"/>
              </a:ext>
            </a:extLst>
          </p:cNvPr>
          <p:cNvSpPr>
            <a:spLocks noGrp="1"/>
          </p:cNvSpPr>
          <p:nvPr>
            <p:ph type="sldNum" sz="quarter" idx="12"/>
          </p:nvPr>
        </p:nvSpPr>
        <p:spPr/>
        <p:txBody>
          <a:bodyPr/>
          <a:lstStyle/>
          <a:p>
            <a:fld id="{E6B03378-CDB7-40C1-827C-F54129224789}" type="slidenum">
              <a:rPr lang="en-US" smtClean="0"/>
              <a:t>12</a:t>
            </a:fld>
            <a:endParaRPr lang="en-US"/>
          </a:p>
        </p:txBody>
      </p:sp>
      <p:pic>
        <p:nvPicPr>
          <p:cNvPr id="11" name="Picture 10">
            <a:extLst>
              <a:ext uri="{FF2B5EF4-FFF2-40B4-BE49-F238E27FC236}">
                <a16:creationId xmlns:a16="http://schemas.microsoft.com/office/drawing/2014/main" id="{B47FBB0F-B1C8-4314-8058-BC1A71596C61}"/>
              </a:ext>
            </a:extLst>
          </p:cNvPr>
          <p:cNvPicPr>
            <a:picLocks noChangeAspect="1"/>
          </p:cNvPicPr>
          <p:nvPr/>
        </p:nvPicPr>
        <p:blipFill rotWithShape="1">
          <a:blip r:embed="rId2"/>
          <a:srcRect b="31293"/>
          <a:stretch/>
        </p:blipFill>
        <p:spPr>
          <a:xfrm>
            <a:off x="1876425" y="2305050"/>
            <a:ext cx="8439150" cy="1544461"/>
          </a:xfrm>
          <a:prstGeom prst="rect">
            <a:avLst/>
          </a:prstGeom>
        </p:spPr>
      </p:pic>
    </p:spTree>
    <p:extLst>
      <p:ext uri="{BB962C8B-B14F-4D97-AF65-F5344CB8AC3E}">
        <p14:creationId xmlns:p14="http://schemas.microsoft.com/office/powerpoint/2010/main" val="868979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6F903-0DE6-6DEC-B436-ADCDA4B71F13}"/>
              </a:ext>
            </a:extLst>
          </p:cNvPr>
          <p:cNvSpPr>
            <a:spLocks noGrp="1"/>
          </p:cNvSpPr>
          <p:nvPr>
            <p:ph type="title"/>
          </p:nvPr>
        </p:nvSpPr>
        <p:spPr/>
        <p:txBody>
          <a:bodyPr/>
          <a:lstStyle/>
          <a:p>
            <a:r>
              <a:rPr lang="en-US" b="1" dirty="0"/>
              <a:t>Database Schema –With Weak Entities </a:t>
            </a:r>
            <a:endParaRPr lang="en-US" dirty="0"/>
          </a:p>
        </p:txBody>
      </p:sp>
      <p:sp>
        <p:nvSpPr>
          <p:cNvPr id="3" name="Footer Placeholder 2">
            <a:extLst>
              <a:ext uri="{FF2B5EF4-FFF2-40B4-BE49-F238E27FC236}">
                <a16:creationId xmlns:a16="http://schemas.microsoft.com/office/drawing/2014/main" id="{24A3A7EF-721F-C2EB-05FA-87464943F1AD}"/>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668236B-362C-3B14-ACE9-E0DA2F211619}"/>
              </a:ext>
            </a:extLst>
          </p:cNvPr>
          <p:cNvSpPr>
            <a:spLocks noGrp="1"/>
          </p:cNvSpPr>
          <p:nvPr>
            <p:ph type="sldNum" sz="quarter" idx="12"/>
          </p:nvPr>
        </p:nvSpPr>
        <p:spPr/>
        <p:txBody>
          <a:bodyPr/>
          <a:lstStyle/>
          <a:p>
            <a:fld id="{E6B03378-CDB7-40C1-827C-F54129224789}" type="slidenum">
              <a:rPr lang="en-US" smtClean="0"/>
              <a:t>13</a:t>
            </a:fld>
            <a:endParaRPr lang="en-US"/>
          </a:p>
        </p:txBody>
      </p:sp>
      <p:pic>
        <p:nvPicPr>
          <p:cNvPr id="8" name="Picture 7">
            <a:extLst>
              <a:ext uri="{FF2B5EF4-FFF2-40B4-BE49-F238E27FC236}">
                <a16:creationId xmlns:a16="http://schemas.microsoft.com/office/drawing/2014/main" id="{90C73813-FFB6-FA33-19DD-3182A51022F1}"/>
              </a:ext>
            </a:extLst>
          </p:cNvPr>
          <p:cNvPicPr>
            <a:picLocks noChangeAspect="1"/>
          </p:cNvPicPr>
          <p:nvPr/>
        </p:nvPicPr>
        <p:blipFill>
          <a:blip r:embed="rId2"/>
          <a:stretch>
            <a:fillRect/>
          </a:stretch>
        </p:blipFill>
        <p:spPr>
          <a:xfrm>
            <a:off x="1876425" y="2305050"/>
            <a:ext cx="8439150" cy="2247900"/>
          </a:xfrm>
          <a:prstGeom prst="rect">
            <a:avLst/>
          </a:prstGeom>
        </p:spPr>
      </p:pic>
    </p:spTree>
    <p:extLst>
      <p:ext uri="{BB962C8B-B14F-4D97-AF65-F5344CB8AC3E}">
        <p14:creationId xmlns:p14="http://schemas.microsoft.com/office/powerpoint/2010/main" val="1965946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A2286-24B0-0B6A-BBBE-48FEE145A90D}"/>
              </a:ext>
            </a:extLst>
          </p:cNvPr>
          <p:cNvSpPr>
            <a:spLocks noGrp="1"/>
          </p:cNvSpPr>
          <p:nvPr>
            <p:ph type="title"/>
          </p:nvPr>
        </p:nvSpPr>
        <p:spPr/>
        <p:txBody>
          <a:bodyPr>
            <a:normAutofit fontScale="90000"/>
          </a:bodyPr>
          <a:lstStyle/>
          <a:p>
            <a:br>
              <a:rPr lang="en-US" sz="4800" b="1" dirty="0"/>
            </a:br>
            <a:br>
              <a:rPr lang="en-US" sz="4800" b="1" dirty="0"/>
            </a:br>
            <a:r>
              <a:rPr lang="en-US" sz="4800" b="1" dirty="0"/>
              <a:t>Mapping – Multi-value</a:t>
            </a:r>
            <a:endParaRPr lang="en-US" b="1" dirty="0"/>
          </a:p>
        </p:txBody>
      </p:sp>
      <p:sp>
        <p:nvSpPr>
          <p:cNvPr id="6" name="Title 1">
            <a:extLst>
              <a:ext uri="{FF2B5EF4-FFF2-40B4-BE49-F238E27FC236}">
                <a16:creationId xmlns:a16="http://schemas.microsoft.com/office/drawing/2014/main" id="{80246F63-C3B1-8583-3EB0-516208CE06EF}"/>
              </a:ext>
            </a:extLst>
          </p:cNvPr>
          <p:cNvSpPr txBox="1">
            <a:spLocks/>
          </p:cNvSpPr>
          <p:nvPr/>
        </p:nvSpPr>
        <p:spPr>
          <a:xfrm>
            <a:off x="642256" y="642257"/>
            <a:ext cx="3417677" cy="5226837"/>
          </a:xfrm>
          <a:prstGeom prst="rect">
            <a:avLst/>
          </a:prstGeom>
        </p:spPr>
        <p:txBody>
          <a:bodyPr anchor="t">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GB" sz="4400" dirty="0"/>
          </a:p>
        </p:txBody>
      </p:sp>
      <p:sp>
        <p:nvSpPr>
          <p:cNvPr id="8" name="Slide Number Placeholder 4">
            <a:extLst>
              <a:ext uri="{FF2B5EF4-FFF2-40B4-BE49-F238E27FC236}">
                <a16:creationId xmlns:a16="http://schemas.microsoft.com/office/drawing/2014/main" id="{7C823D52-C49F-3715-2739-4E676E560107}"/>
              </a:ext>
            </a:extLst>
          </p:cNvPr>
          <p:cNvSpPr txBox="1">
            <a:spLocks/>
          </p:cNvSpPr>
          <p:nvPr/>
        </p:nvSpPr>
        <p:spPr>
          <a:xfrm>
            <a:off x="9900458" y="6459785"/>
            <a:ext cx="1312025"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endParaRPr lang="en-US" dirty="0"/>
          </a:p>
        </p:txBody>
      </p:sp>
      <p:sp>
        <p:nvSpPr>
          <p:cNvPr id="9" name="TextBox 8">
            <a:extLst>
              <a:ext uri="{FF2B5EF4-FFF2-40B4-BE49-F238E27FC236}">
                <a16:creationId xmlns:a16="http://schemas.microsoft.com/office/drawing/2014/main" id="{1F8277FE-ADEE-9981-AFBD-55930F335541}"/>
              </a:ext>
            </a:extLst>
          </p:cNvPr>
          <p:cNvSpPr txBox="1"/>
          <p:nvPr/>
        </p:nvSpPr>
        <p:spPr>
          <a:xfrm>
            <a:off x="891873" y="1925267"/>
            <a:ext cx="6336119"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Department  - Before Mapping:</a:t>
            </a:r>
            <a:endParaRPr lang="en-GB" b="1" dirty="0">
              <a:latin typeface="+mj-lt"/>
            </a:endParaRPr>
          </a:p>
        </p:txBody>
      </p:sp>
      <p:sp>
        <p:nvSpPr>
          <p:cNvPr id="10" name="TextBox 9">
            <a:extLst>
              <a:ext uri="{FF2B5EF4-FFF2-40B4-BE49-F238E27FC236}">
                <a16:creationId xmlns:a16="http://schemas.microsoft.com/office/drawing/2014/main" id="{F0CF63E9-8A10-94C3-8096-FB1E202809D6}"/>
              </a:ext>
            </a:extLst>
          </p:cNvPr>
          <p:cNvSpPr txBox="1"/>
          <p:nvPr/>
        </p:nvSpPr>
        <p:spPr>
          <a:xfrm>
            <a:off x="891873" y="3827659"/>
            <a:ext cx="4928824"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Department - After Mapping  </a:t>
            </a:r>
            <a:endParaRPr lang="en-GB" b="1" dirty="0">
              <a:latin typeface="+mj-lt"/>
            </a:endParaRPr>
          </a:p>
        </p:txBody>
      </p:sp>
      <p:graphicFrame>
        <p:nvGraphicFramePr>
          <p:cNvPr id="3" name="Table 2">
            <a:extLst>
              <a:ext uri="{FF2B5EF4-FFF2-40B4-BE49-F238E27FC236}">
                <a16:creationId xmlns:a16="http://schemas.microsoft.com/office/drawing/2014/main" id="{BF823304-E1A5-1470-428E-D459B0EBA8C5}"/>
              </a:ext>
            </a:extLst>
          </p:cNvPr>
          <p:cNvGraphicFramePr>
            <a:graphicFrameLocks noGrp="1"/>
          </p:cNvGraphicFramePr>
          <p:nvPr>
            <p:extLst>
              <p:ext uri="{D42A27DB-BD31-4B8C-83A1-F6EECF244321}">
                <p14:modId xmlns:p14="http://schemas.microsoft.com/office/powerpoint/2010/main" val="338334534"/>
              </p:ext>
            </p:extLst>
          </p:nvPr>
        </p:nvGraphicFramePr>
        <p:xfrm>
          <a:off x="4265953" y="1820260"/>
          <a:ext cx="4463294" cy="1808134"/>
        </p:xfrm>
        <a:graphic>
          <a:graphicData uri="http://schemas.openxmlformats.org/drawingml/2006/table">
            <a:tbl>
              <a:tblPr firstRow="1" bandRow="1">
                <a:tableStyleId>{5C22544A-7EE6-4342-B048-85BDC9FD1C3A}</a:tableStyleId>
              </a:tblPr>
              <a:tblGrid>
                <a:gridCol w="993606">
                  <a:extLst>
                    <a:ext uri="{9D8B030D-6E8A-4147-A177-3AD203B41FA5}">
                      <a16:colId xmlns:a16="http://schemas.microsoft.com/office/drawing/2014/main" val="1067527987"/>
                    </a:ext>
                  </a:extLst>
                </a:gridCol>
                <a:gridCol w="1546780">
                  <a:extLst>
                    <a:ext uri="{9D8B030D-6E8A-4147-A177-3AD203B41FA5}">
                      <a16:colId xmlns:a16="http://schemas.microsoft.com/office/drawing/2014/main" val="1178153574"/>
                    </a:ext>
                  </a:extLst>
                </a:gridCol>
                <a:gridCol w="1922908">
                  <a:extLst>
                    <a:ext uri="{9D8B030D-6E8A-4147-A177-3AD203B41FA5}">
                      <a16:colId xmlns:a16="http://schemas.microsoft.com/office/drawing/2014/main" val="4116783151"/>
                    </a:ext>
                  </a:extLst>
                </a:gridCol>
              </a:tblGrid>
              <a:tr h="494354">
                <a:tc>
                  <a:txBody>
                    <a:bodyPr/>
                    <a:lstStyle/>
                    <a:p>
                      <a:pPr marL="91440" algn="l" fontAlgn="b"/>
                      <a:r>
                        <a:rPr lang="en-GB" sz="1800" b="1" i="0" u="sng" strike="noStrike" dirty="0">
                          <a:solidFill>
                            <a:schemeClr val="bg1"/>
                          </a:solidFill>
                          <a:effectLst/>
                          <a:latin typeface="Calibri" panose="020F0502020204030204" pitchFamily="34" charset="0"/>
                        </a:rPr>
                        <a:t>number</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name</a:t>
                      </a:r>
                    </a:p>
                  </a:txBody>
                  <a:tcPr marL="6350" marR="6350" marT="6350" marB="0" anchor="ctr"/>
                </a:tc>
                <a:tc>
                  <a:txBody>
                    <a:bodyPr/>
                    <a:lstStyle/>
                    <a:p>
                      <a:pPr marL="91440" algn="l" fontAlgn="b"/>
                      <a:r>
                        <a:rPr lang="en-GB" sz="1800" b="1" i="0" u="none" strike="noStrike" dirty="0">
                          <a:solidFill>
                            <a:srgbClr val="FFFF00"/>
                          </a:solidFill>
                          <a:effectLst/>
                          <a:latin typeface="Calibri" panose="020F0502020204030204" pitchFamily="34" charset="0"/>
                        </a:rPr>
                        <a:t>locations</a:t>
                      </a:r>
                    </a:p>
                  </a:txBody>
                  <a:tcPr marL="6350" marR="6350" marT="6350" marB="0" anchor="ctr"/>
                </a:tc>
                <a:extLst>
                  <a:ext uri="{0D108BD9-81ED-4DB2-BD59-A6C34878D82A}">
                    <a16:rowId xmlns:a16="http://schemas.microsoft.com/office/drawing/2014/main" val="2616125400"/>
                  </a:ext>
                </a:extLst>
              </a:tr>
              <a:tr h="379395">
                <a:tc>
                  <a:txBody>
                    <a:bodyPr/>
                    <a:lstStyle/>
                    <a:p>
                      <a:pPr algn="l" fontAlgn="b"/>
                      <a:r>
                        <a:rPr lang="en-GB" sz="1800" b="0" i="0" u="none" strike="noStrike" dirty="0">
                          <a:solidFill>
                            <a:srgbClr val="000000"/>
                          </a:solidFill>
                          <a:effectLst/>
                          <a:latin typeface="Calibri" panose="020F0502020204030204" pitchFamily="34" charset="0"/>
                        </a:rPr>
                        <a:t>1</a:t>
                      </a:r>
                    </a:p>
                  </a:txBody>
                  <a:tcPr marL="6350" marR="6350" marT="6350" marB="0" anchor="b"/>
                </a:tc>
                <a:tc>
                  <a:txBody>
                    <a:bodyPr/>
                    <a:lstStyle/>
                    <a:p>
                      <a:pPr algn="l" fontAlgn="b"/>
                      <a:r>
                        <a:rPr lang="en-GB" sz="1800" b="0" i="0" u="none" strike="noStrike" dirty="0" err="1">
                          <a:solidFill>
                            <a:srgbClr val="000000"/>
                          </a:solidFill>
                          <a:effectLst/>
                          <a:latin typeface="Calibri" panose="020F0502020204030204" pitchFamily="34" charset="0"/>
                        </a:rPr>
                        <a:t>HeadQuarters</a:t>
                      </a:r>
                      <a:endParaRPr lang="en-GB"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800" b="0" i="0" u="none" strike="noStrike" dirty="0">
                          <a:solidFill>
                            <a:srgbClr val="000000"/>
                          </a:solidFill>
                          <a:effectLst/>
                          <a:latin typeface="Calibri" panose="020F0502020204030204" pitchFamily="34" charset="0"/>
                        </a:rPr>
                        <a:t>H</a:t>
                      </a:r>
                      <a:r>
                        <a:rPr lang="en-GB" sz="1800" b="0" i="0" u="none" strike="noStrike" dirty="0" err="1">
                          <a:solidFill>
                            <a:srgbClr val="000000"/>
                          </a:solidFill>
                          <a:effectLst/>
                          <a:latin typeface="Calibri" panose="020F0502020204030204" pitchFamily="34" charset="0"/>
                        </a:rPr>
                        <a:t>ouston</a:t>
                      </a:r>
                      <a:endParaRPr lang="en-GB"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12762687"/>
                  </a:ext>
                </a:extLst>
              </a:tr>
              <a:tr h="379395">
                <a:tc>
                  <a:txBody>
                    <a:bodyPr/>
                    <a:lstStyle/>
                    <a:p>
                      <a:pPr algn="l" fontAlgn="b"/>
                      <a:r>
                        <a:rPr lang="en-GB" sz="1800" b="0" i="0" u="none" strike="noStrike">
                          <a:solidFill>
                            <a:srgbClr val="000000"/>
                          </a:solidFill>
                          <a:effectLst/>
                          <a:latin typeface="Calibri" panose="020F0502020204030204" pitchFamily="34" charset="0"/>
                        </a:rPr>
                        <a:t>4</a:t>
                      </a:r>
                    </a:p>
                  </a:txBody>
                  <a:tcPr marL="6350" marR="6350" marT="6350" marB="0" anchor="b"/>
                </a:tc>
                <a:tc>
                  <a:txBody>
                    <a:bodyPr/>
                    <a:lstStyle/>
                    <a:p>
                      <a:pPr algn="l" fontAlgn="b"/>
                      <a:r>
                        <a:rPr lang="en-GB" sz="1800" b="0" i="0" u="none" strike="noStrike" dirty="0">
                          <a:solidFill>
                            <a:srgbClr val="000000"/>
                          </a:solidFill>
                          <a:effectLst/>
                          <a:latin typeface="Calibri" panose="020F0502020204030204" pitchFamily="34" charset="0"/>
                        </a:rPr>
                        <a:t>Administration</a:t>
                      </a:r>
                    </a:p>
                  </a:txBody>
                  <a:tcPr marL="6350" marR="6350" marT="6350" marB="0" anchor="b"/>
                </a:tc>
                <a:tc>
                  <a:txBody>
                    <a:bodyPr/>
                    <a:lstStyle/>
                    <a:p>
                      <a:pPr algn="l" fontAlgn="b"/>
                      <a:r>
                        <a:rPr lang="en-GB" sz="1800" b="0" i="0" u="none" strike="noStrike" dirty="0">
                          <a:solidFill>
                            <a:srgbClr val="000000"/>
                          </a:solidFill>
                          <a:effectLst/>
                          <a:latin typeface="Calibri" panose="020F0502020204030204" pitchFamily="34" charset="0"/>
                        </a:rPr>
                        <a:t>Stafford</a:t>
                      </a:r>
                    </a:p>
                  </a:txBody>
                  <a:tcPr marL="6350" marR="6350" marT="6350" marB="0" anchor="b"/>
                </a:tc>
                <a:extLst>
                  <a:ext uri="{0D108BD9-81ED-4DB2-BD59-A6C34878D82A}">
                    <a16:rowId xmlns:a16="http://schemas.microsoft.com/office/drawing/2014/main" val="1147733561"/>
                  </a:ext>
                </a:extLst>
              </a:tr>
              <a:tr h="379395">
                <a:tc>
                  <a:txBody>
                    <a:bodyPr/>
                    <a:lstStyle/>
                    <a:p>
                      <a:pPr algn="l" fontAlgn="b"/>
                      <a:r>
                        <a:rPr lang="en-GB" sz="1800" b="0" i="0" u="none" strike="noStrike" dirty="0">
                          <a:solidFill>
                            <a:srgbClr val="000000"/>
                          </a:solidFill>
                          <a:effectLst/>
                          <a:latin typeface="Calibri" panose="020F0502020204030204" pitchFamily="34" charset="0"/>
                        </a:rPr>
                        <a:t>5</a:t>
                      </a:r>
                    </a:p>
                  </a:txBody>
                  <a:tcPr marL="6350" marR="6350" marT="6350" marB="0" anchor="b"/>
                </a:tc>
                <a:tc>
                  <a:txBody>
                    <a:bodyPr/>
                    <a:lstStyle/>
                    <a:p>
                      <a:pPr algn="l" fontAlgn="b"/>
                      <a:r>
                        <a:rPr lang="en-GB" sz="1800" b="0" i="0" u="none" strike="noStrike" dirty="0">
                          <a:solidFill>
                            <a:srgbClr val="000000"/>
                          </a:solidFill>
                          <a:effectLst/>
                          <a:latin typeface="Calibri" panose="020F0502020204030204" pitchFamily="34" charset="0"/>
                        </a:rPr>
                        <a:t>Research</a:t>
                      </a:r>
                    </a:p>
                  </a:txBody>
                  <a:tcPr marL="6350" marR="6350" marT="6350" marB="0" anchor="b"/>
                </a:tc>
                <a:tc>
                  <a:txBody>
                    <a:bodyPr/>
                    <a:lstStyle/>
                    <a:p>
                      <a:pPr algn="l" fontAlgn="b"/>
                      <a:r>
                        <a:rPr lang="en-US" sz="1800" b="0" i="0" u="none" strike="noStrike" dirty="0">
                          <a:solidFill>
                            <a:srgbClr val="000000"/>
                          </a:solidFill>
                          <a:effectLst/>
                          <a:latin typeface="Calibri" panose="020F0502020204030204" pitchFamily="34" charset="0"/>
                        </a:rPr>
                        <a:t>{Bellaire, Houston, Sugarland}</a:t>
                      </a:r>
                      <a:endParaRPr lang="en-GB"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68432696"/>
                  </a:ext>
                </a:extLst>
              </a:tr>
            </a:tbl>
          </a:graphicData>
        </a:graphic>
      </p:graphicFrame>
      <p:graphicFrame>
        <p:nvGraphicFramePr>
          <p:cNvPr id="4" name="Table 3">
            <a:extLst>
              <a:ext uri="{FF2B5EF4-FFF2-40B4-BE49-F238E27FC236}">
                <a16:creationId xmlns:a16="http://schemas.microsoft.com/office/drawing/2014/main" id="{BA54C8A0-8843-FB46-9F29-755D42B61930}"/>
              </a:ext>
            </a:extLst>
          </p:cNvPr>
          <p:cNvGraphicFramePr>
            <a:graphicFrameLocks noGrp="1"/>
          </p:cNvGraphicFramePr>
          <p:nvPr>
            <p:extLst>
              <p:ext uri="{D42A27DB-BD31-4B8C-83A1-F6EECF244321}">
                <p14:modId xmlns:p14="http://schemas.microsoft.com/office/powerpoint/2010/main" val="3564815167"/>
              </p:ext>
            </p:extLst>
          </p:nvPr>
        </p:nvGraphicFramePr>
        <p:xfrm>
          <a:off x="1751251" y="4267200"/>
          <a:ext cx="2879150" cy="1921044"/>
        </p:xfrm>
        <a:graphic>
          <a:graphicData uri="http://schemas.openxmlformats.org/drawingml/2006/table">
            <a:tbl>
              <a:tblPr firstRow="1" bandRow="1">
                <a:tableStyleId>{5C22544A-7EE6-4342-B048-85BDC9FD1C3A}</a:tableStyleId>
              </a:tblPr>
              <a:tblGrid>
                <a:gridCol w="1077850">
                  <a:extLst>
                    <a:ext uri="{9D8B030D-6E8A-4147-A177-3AD203B41FA5}">
                      <a16:colId xmlns:a16="http://schemas.microsoft.com/office/drawing/2014/main" val="1067527987"/>
                    </a:ext>
                  </a:extLst>
                </a:gridCol>
                <a:gridCol w="1801300">
                  <a:extLst>
                    <a:ext uri="{9D8B030D-6E8A-4147-A177-3AD203B41FA5}">
                      <a16:colId xmlns:a16="http://schemas.microsoft.com/office/drawing/2014/main" val="1178153574"/>
                    </a:ext>
                  </a:extLst>
                </a:gridCol>
              </a:tblGrid>
              <a:tr h="547612">
                <a:tc>
                  <a:txBody>
                    <a:bodyPr/>
                    <a:lstStyle/>
                    <a:p>
                      <a:pPr marL="91440" algn="l" fontAlgn="b"/>
                      <a:r>
                        <a:rPr lang="en-GB" sz="1800" b="1" i="0" u="sng" strike="noStrike" dirty="0">
                          <a:solidFill>
                            <a:schemeClr val="bg1"/>
                          </a:solidFill>
                          <a:effectLst/>
                          <a:latin typeface="Calibri" panose="020F0502020204030204" pitchFamily="34" charset="0"/>
                        </a:rPr>
                        <a:t>number</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name</a:t>
                      </a:r>
                    </a:p>
                  </a:txBody>
                  <a:tcPr marL="6350" marR="6350" marT="6350" marB="0" anchor="ctr"/>
                </a:tc>
                <a:extLst>
                  <a:ext uri="{0D108BD9-81ED-4DB2-BD59-A6C34878D82A}">
                    <a16:rowId xmlns:a16="http://schemas.microsoft.com/office/drawing/2014/main" val="2616125400"/>
                  </a:ext>
                </a:extLst>
              </a:tr>
              <a:tr h="542134">
                <a:tc>
                  <a:txBody>
                    <a:bodyPr/>
                    <a:lstStyle/>
                    <a:p>
                      <a:pPr algn="l" fontAlgn="b"/>
                      <a:r>
                        <a:rPr lang="en-GB" sz="1800" b="0" i="0" u="none" strike="noStrike" dirty="0">
                          <a:solidFill>
                            <a:srgbClr val="000000"/>
                          </a:solidFill>
                          <a:effectLst/>
                          <a:latin typeface="Calibri" panose="020F0502020204030204" pitchFamily="34" charset="0"/>
                        </a:rPr>
                        <a:t>1</a:t>
                      </a:r>
                    </a:p>
                  </a:txBody>
                  <a:tcPr marL="6350" marR="6350" marT="6350" marB="0" anchor="b"/>
                </a:tc>
                <a:tc>
                  <a:txBody>
                    <a:bodyPr/>
                    <a:lstStyle/>
                    <a:p>
                      <a:pPr algn="l" fontAlgn="b"/>
                      <a:r>
                        <a:rPr lang="en-GB" sz="1800" b="0" i="0" u="none" strike="noStrike" dirty="0" err="1">
                          <a:solidFill>
                            <a:srgbClr val="000000"/>
                          </a:solidFill>
                          <a:effectLst/>
                          <a:latin typeface="Calibri" panose="020F0502020204030204" pitchFamily="34" charset="0"/>
                        </a:rPr>
                        <a:t>HeadQuarters</a:t>
                      </a:r>
                      <a:endParaRPr lang="en-GB"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92065340"/>
                  </a:ext>
                </a:extLst>
              </a:tr>
              <a:tr h="542134">
                <a:tc>
                  <a:txBody>
                    <a:bodyPr/>
                    <a:lstStyle/>
                    <a:p>
                      <a:pPr algn="l" fontAlgn="b"/>
                      <a:r>
                        <a:rPr lang="en-GB" sz="1800" b="0" i="0" u="none" strike="noStrike">
                          <a:solidFill>
                            <a:srgbClr val="000000"/>
                          </a:solidFill>
                          <a:effectLst/>
                          <a:latin typeface="Calibri" panose="020F0502020204030204" pitchFamily="34" charset="0"/>
                        </a:rPr>
                        <a:t>4</a:t>
                      </a:r>
                    </a:p>
                  </a:txBody>
                  <a:tcPr marL="6350" marR="6350" marT="6350" marB="0" anchor="b"/>
                </a:tc>
                <a:tc>
                  <a:txBody>
                    <a:bodyPr/>
                    <a:lstStyle/>
                    <a:p>
                      <a:pPr algn="l" fontAlgn="b"/>
                      <a:r>
                        <a:rPr lang="en-GB" sz="1800" b="0" i="0" u="none" strike="noStrike">
                          <a:solidFill>
                            <a:srgbClr val="000000"/>
                          </a:solidFill>
                          <a:effectLst/>
                          <a:latin typeface="Calibri" panose="020F0502020204030204" pitchFamily="34" charset="0"/>
                        </a:rPr>
                        <a:t>Administration</a:t>
                      </a:r>
                    </a:p>
                  </a:txBody>
                  <a:tcPr marL="6350" marR="6350" marT="6350" marB="0" anchor="b"/>
                </a:tc>
                <a:extLst>
                  <a:ext uri="{0D108BD9-81ED-4DB2-BD59-A6C34878D82A}">
                    <a16:rowId xmlns:a16="http://schemas.microsoft.com/office/drawing/2014/main" val="3528131199"/>
                  </a:ext>
                </a:extLst>
              </a:tr>
              <a:tr h="289164">
                <a:tc>
                  <a:txBody>
                    <a:bodyPr/>
                    <a:lstStyle/>
                    <a:p>
                      <a:pPr algn="l" fontAlgn="b"/>
                      <a:r>
                        <a:rPr lang="en-GB" sz="1800" b="0" i="0" u="none" strike="noStrike">
                          <a:solidFill>
                            <a:srgbClr val="000000"/>
                          </a:solidFill>
                          <a:effectLst/>
                          <a:latin typeface="Calibri" panose="020F0502020204030204" pitchFamily="34" charset="0"/>
                        </a:rPr>
                        <a:t>5</a:t>
                      </a:r>
                    </a:p>
                  </a:txBody>
                  <a:tcPr marL="6350" marR="6350" marT="6350" marB="0" anchor="b"/>
                </a:tc>
                <a:tc>
                  <a:txBody>
                    <a:bodyPr/>
                    <a:lstStyle/>
                    <a:p>
                      <a:pPr algn="l" fontAlgn="b"/>
                      <a:r>
                        <a:rPr lang="en-GB" sz="1800" b="0" i="0" u="none" strike="noStrike" dirty="0">
                          <a:solidFill>
                            <a:srgbClr val="000000"/>
                          </a:solidFill>
                          <a:effectLst/>
                          <a:latin typeface="Calibri" panose="020F0502020204030204" pitchFamily="34" charset="0"/>
                        </a:rPr>
                        <a:t>Research</a:t>
                      </a:r>
                    </a:p>
                  </a:txBody>
                  <a:tcPr marL="6350" marR="6350" marT="6350" marB="0" anchor="b"/>
                </a:tc>
                <a:extLst>
                  <a:ext uri="{0D108BD9-81ED-4DB2-BD59-A6C34878D82A}">
                    <a16:rowId xmlns:a16="http://schemas.microsoft.com/office/drawing/2014/main" val="1168432696"/>
                  </a:ext>
                </a:extLst>
              </a:tr>
            </a:tbl>
          </a:graphicData>
        </a:graphic>
      </p:graphicFrame>
      <p:graphicFrame>
        <p:nvGraphicFramePr>
          <p:cNvPr id="5" name="Table 4">
            <a:extLst>
              <a:ext uri="{FF2B5EF4-FFF2-40B4-BE49-F238E27FC236}">
                <a16:creationId xmlns:a16="http://schemas.microsoft.com/office/drawing/2014/main" id="{64F8DF71-2A28-FA84-0717-A2674252D0E4}"/>
              </a:ext>
            </a:extLst>
          </p:cNvPr>
          <p:cNvGraphicFramePr>
            <a:graphicFrameLocks noGrp="1"/>
          </p:cNvGraphicFramePr>
          <p:nvPr>
            <p:extLst>
              <p:ext uri="{D42A27DB-BD31-4B8C-83A1-F6EECF244321}">
                <p14:modId xmlns:p14="http://schemas.microsoft.com/office/powerpoint/2010/main" val="514690666"/>
              </p:ext>
            </p:extLst>
          </p:nvPr>
        </p:nvGraphicFramePr>
        <p:xfrm>
          <a:off x="6205437" y="4546102"/>
          <a:ext cx="3282692" cy="1684020"/>
        </p:xfrm>
        <a:graphic>
          <a:graphicData uri="http://schemas.openxmlformats.org/drawingml/2006/table">
            <a:tbl>
              <a:tblPr firstRow="1" bandRow="1">
                <a:tableStyleId>{5C22544A-7EE6-4342-B048-85BDC9FD1C3A}</a:tableStyleId>
              </a:tblPr>
              <a:tblGrid>
                <a:gridCol w="1640705">
                  <a:extLst>
                    <a:ext uri="{9D8B030D-6E8A-4147-A177-3AD203B41FA5}">
                      <a16:colId xmlns:a16="http://schemas.microsoft.com/office/drawing/2014/main" val="2979306555"/>
                    </a:ext>
                  </a:extLst>
                </a:gridCol>
                <a:gridCol w="1641987">
                  <a:extLst>
                    <a:ext uri="{9D8B030D-6E8A-4147-A177-3AD203B41FA5}">
                      <a16:colId xmlns:a16="http://schemas.microsoft.com/office/drawing/2014/main" val="605337226"/>
                    </a:ext>
                  </a:extLst>
                </a:gridCol>
              </a:tblGrid>
              <a:tr h="257744">
                <a:tc>
                  <a:txBody>
                    <a:bodyPr/>
                    <a:lstStyle/>
                    <a:p>
                      <a:pPr marL="91440" algn="l" fontAlgn="b"/>
                      <a:r>
                        <a:rPr lang="en-GB" sz="1800" b="1" i="0" u="sng" strike="noStrike" dirty="0" err="1">
                          <a:solidFill>
                            <a:schemeClr val="bg1"/>
                          </a:solidFill>
                          <a:effectLst/>
                          <a:latin typeface="Calibri" panose="020F0502020204030204" pitchFamily="34" charset="0"/>
                        </a:rPr>
                        <a:t>dept_number</a:t>
                      </a:r>
                      <a:endParaRPr lang="en-GB" sz="1800" b="1" i="0" u="sng" strike="noStrike" dirty="0">
                        <a:solidFill>
                          <a:schemeClr val="bg1"/>
                        </a:solidFill>
                        <a:effectLst/>
                        <a:latin typeface="Calibri" panose="020F0502020204030204" pitchFamily="34" charset="0"/>
                      </a:endParaRPr>
                    </a:p>
                  </a:txBody>
                  <a:tcPr marL="6350" marR="6350" marT="6350" marB="0" anchor="ctr"/>
                </a:tc>
                <a:tc>
                  <a:txBody>
                    <a:bodyPr/>
                    <a:lstStyle/>
                    <a:p>
                      <a:pPr marL="91440" algn="l" fontAlgn="b"/>
                      <a:r>
                        <a:rPr lang="en-GB" sz="1800" b="1" i="0" u="sng" strike="noStrike" dirty="0">
                          <a:solidFill>
                            <a:schemeClr val="bg1"/>
                          </a:solidFill>
                          <a:effectLst/>
                          <a:latin typeface="Calibri" panose="020F0502020204030204" pitchFamily="34" charset="0"/>
                        </a:rPr>
                        <a:t>location</a:t>
                      </a:r>
                    </a:p>
                  </a:txBody>
                  <a:tcPr marL="6350" marR="6350" marT="6350" marB="0" anchor="ctr"/>
                </a:tc>
                <a:extLst>
                  <a:ext uri="{0D108BD9-81ED-4DB2-BD59-A6C34878D82A}">
                    <a16:rowId xmlns:a16="http://schemas.microsoft.com/office/drawing/2014/main" val="3893748906"/>
                  </a:ext>
                </a:extLst>
              </a:tr>
              <a:tr h="257744">
                <a:tc>
                  <a:txBody>
                    <a:bodyPr/>
                    <a:lstStyle/>
                    <a:p>
                      <a:pPr marL="91440" algn="l" fontAlgn="b"/>
                      <a:r>
                        <a:rPr lang="en-GB" sz="1800" b="0" i="0" u="none" strike="noStrike" dirty="0">
                          <a:solidFill>
                            <a:srgbClr val="000000"/>
                          </a:solidFill>
                          <a:effectLst/>
                          <a:latin typeface="Calibri" panose="020F0502020204030204" pitchFamily="34" charset="0"/>
                        </a:rPr>
                        <a:t>5</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Bellaire</a:t>
                      </a:r>
                    </a:p>
                  </a:txBody>
                  <a:tcPr marL="6350" marR="6350" marT="6350" marB="0" anchor="b"/>
                </a:tc>
                <a:extLst>
                  <a:ext uri="{0D108BD9-81ED-4DB2-BD59-A6C34878D82A}">
                    <a16:rowId xmlns:a16="http://schemas.microsoft.com/office/drawing/2014/main" val="3638736540"/>
                  </a:ext>
                </a:extLst>
              </a:tr>
              <a:tr h="257744">
                <a:tc>
                  <a:txBody>
                    <a:bodyPr/>
                    <a:lstStyle/>
                    <a:p>
                      <a:pPr marL="91440" algn="l" fontAlgn="b"/>
                      <a:r>
                        <a:rPr lang="en-GB" sz="1800" b="0" i="0" u="none" strike="noStrike" dirty="0">
                          <a:solidFill>
                            <a:srgbClr val="000000"/>
                          </a:solidFill>
                          <a:effectLst/>
                          <a:latin typeface="Calibri" panose="020F0502020204030204" pitchFamily="34" charset="0"/>
                        </a:rPr>
                        <a:t>1</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Houston</a:t>
                      </a:r>
                    </a:p>
                  </a:txBody>
                  <a:tcPr marL="6350" marR="6350" marT="6350" marB="0" anchor="b"/>
                </a:tc>
                <a:extLst>
                  <a:ext uri="{0D108BD9-81ED-4DB2-BD59-A6C34878D82A}">
                    <a16:rowId xmlns:a16="http://schemas.microsoft.com/office/drawing/2014/main" val="1193637386"/>
                  </a:ext>
                </a:extLst>
              </a:tr>
              <a:tr h="257744">
                <a:tc>
                  <a:txBody>
                    <a:bodyPr/>
                    <a:lstStyle/>
                    <a:p>
                      <a:pPr marL="91440" algn="l" fontAlgn="b"/>
                      <a:r>
                        <a:rPr lang="en-GB" sz="1800" b="0" i="0" u="none" strike="noStrike" dirty="0">
                          <a:solidFill>
                            <a:srgbClr val="000000"/>
                          </a:solidFill>
                          <a:effectLst/>
                          <a:latin typeface="Calibri" panose="020F0502020204030204" pitchFamily="34" charset="0"/>
                        </a:rPr>
                        <a:t>5</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Houston</a:t>
                      </a:r>
                    </a:p>
                  </a:txBody>
                  <a:tcPr marL="6350" marR="6350" marT="6350" marB="0" anchor="b"/>
                </a:tc>
                <a:extLst>
                  <a:ext uri="{0D108BD9-81ED-4DB2-BD59-A6C34878D82A}">
                    <a16:rowId xmlns:a16="http://schemas.microsoft.com/office/drawing/2014/main" val="840567613"/>
                  </a:ext>
                </a:extLst>
              </a:tr>
              <a:tr h="257744">
                <a:tc>
                  <a:txBody>
                    <a:bodyPr/>
                    <a:lstStyle/>
                    <a:p>
                      <a:pPr marL="91440" algn="l" fontAlgn="b"/>
                      <a:r>
                        <a:rPr lang="en-GB" sz="1800" b="0" i="0" u="none" strike="noStrike" dirty="0">
                          <a:solidFill>
                            <a:srgbClr val="000000"/>
                          </a:solidFill>
                          <a:effectLst/>
                          <a:latin typeface="Calibri" panose="020F0502020204030204" pitchFamily="34" charset="0"/>
                        </a:rPr>
                        <a:t>4</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Stafford</a:t>
                      </a:r>
                    </a:p>
                  </a:txBody>
                  <a:tcPr marL="6350" marR="6350" marT="6350" marB="0" anchor="b"/>
                </a:tc>
                <a:extLst>
                  <a:ext uri="{0D108BD9-81ED-4DB2-BD59-A6C34878D82A}">
                    <a16:rowId xmlns:a16="http://schemas.microsoft.com/office/drawing/2014/main" val="110663128"/>
                  </a:ext>
                </a:extLst>
              </a:tr>
              <a:tr h="257744">
                <a:tc>
                  <a:txBody>
                    <a:bodyPr/>
                    <a:lstStyle/>
                    <a:p>
                      <a:pPr marL="91440" algn="l" fontAlgn="b"/>
                      <a:r>
                        <a:rPr lang="en-GB" sz="1800" b="0" i="0" u="none" strike="noStrike" dirty="0">
                          <a:solidFill>
                            <a:srgbClr val="000000"/>
                          </a:solidFill>
                          <a:effectLst/>
                          <a:latin typeface="Calibri" panose="020F0502020204030204" pitchFamily="34" charset="0"/>
                        </a:rPr>
                        <a:t>5</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Sugarland</a:t>
                      </a:r>
                    </a:p>
                  </a:txBody>
                  <a:tcPr marL="6350" marR="6350" marT="6350" marB="0" anchor="b"/>
                </a:tc>
                <a:extLst>
                  <a:ext uri="{0D108BD9-81ED-4DB2-BD59-A6C34878D82A}">
                    <a16:rowId xmlns:a16="http://schemas.microsoft.com/office/drawing/2014/main" val="2474944013"/>
                  </a:ext>
                </a:extLst>
              </a:tr>
            </a:tbl>
          </a:graphicData>
        </a:graphic>
      </p:graphicFrame>
      <p:sp>
        <p:nvSpPr>
          <p:cNvPr id="13" name="TextBox 12">
            <a:extLst>
              <a:ext uri="{FF2B5EF4-FFF2-40B4-BE49-F238E27FC236}">
                <a16:creationId xmlns:a16="http://schemas.microsoft.com/office/drawing/2014/main" id="{450B5445-0142-D358-63CD-68B64DB62C5B}"/>
              </a:ext>
            </a:extLst>
          </p:cNvPr>
          <p:cNvSpPr txBox="1"/>
          <p:nvPr/>
        </p:nvSpPr>
        <p:spPr>
          <a:xfrm>
            <a:off x="6062028" y="4025592"/>
            <a:ext cx="4140081"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Department-Location - After Mapping </a:t>
            </a:r>
            <a:endParaRPr lang="en-GB" b="1" dirty="0">
              <a:latin typeface="+mj-lt"/>
            </a:endParaRPr>
          </a:p>
        </p:txBody>
      </p:sp>
      <p:sp>
        <p:nvSpPr>
          <p:cNvPr id="7" name="Footer Placeholder 6">
            <a:extLst>
              <a:ext uri="{FF2B5EF4-FFF2-40B4-BE49-F238E27FC236}">
                <a16:creationId xmlns:a16="http://schemas.microsoft.com/office/drawing/2014/main" id="{512724E6-9819-D2AD-E604-89CE4BBDEDBA}"/>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087F1151-239F-AFB5-F388-B3B1A077B9AA}"/>
              </a:ext>
            </a:extLst>
          </p:cNvPr>
          <p:cNvSpPr>
            <a:spLocks noGrp="1"/>
          </p:cNvSpPr>
          <p:nvPr>
            <p:ph type="sldNum" sz="quarter" idx="12"/>
          </p:nvPr>
        </p:nvSpPr>
        <p:spPr/>
        <p:txBody>
          <a:bodyPr/>
          <a:lstStyle/>
          <a:p>
            <a:fld id="{E6B03378-CDB7-40C1-827C-F54129224789}" type="slidenum">
              <a:rPr lang="en-US" smtClean="0"/>
              <a:t>14</a:t>
            </a:fld>
            <a:endParaRPr lang="en-US"/>
          </a:p>
        </p:txBody>
      </p:sp>
    </p:spTree>
    <p:extLst>
      <p:ext uri="{BB962C8B-B14F-4D97-AF65-F5344CB8AC3E}">
        <p14:creationId xmlns:p14="http://schemas.microsoft.com/office/powerpoint/2010/main" val="2179745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A2286-24B0-0B6A-BBBE-48FEE145A90D}"/>
              </a:ext>
            </a:extLst>
          </p:cNvPr>
          <p:cNvSpPr>
            <a:spLocks noGrp="1"/>
          </p:cNvSpPr>
          <p:nvPr>
            <p:ph type="title"/>
          </p:nvPr>
        </p:nvSpPr>
        <p:spPr/>
        <p:txBody>
          <a:bodyPr>
            <a:normAutofit fontScale="90000"/>
          </a:bodyPr>
          <a:lstStyle/>
          <a:p>
            <a:br>
              <a:rPr lang="en-US" sz="4800" b="1" dirty="0"/>
            </a:br>
            <a:br>
              <a:rPr lang="en-US" sz="4800" b="1" dirty="0"/>
            </a:br>
            <a:r>
              <a:rPr lang="en-US" sz="4800" b="1" dirty="0"/>
              <a:t>Mapping - Composite</a:t>
            </a:r>
            <a:endParaRPr lang="en-US" b="1" dirty="0"/>
          </a:p>
        </p:txBody>
      </p:sp>
      <p:sp>
        <p:nvSpPr>
          <p:cNvPr id="6" name="Title 1">
            <a:extLst>
              <a:ext uri="{FF2B5EF4-FFF2-40B4-BE49-F238E27FC236}">
                <a16:creationId xmlns:a16="http://schemas.microsoft.com/office/drawing/2014/main" id="{80246F63-C3B1-8583-3EB0-516208CE06EF}"/>
              </a:ext>
            </a:extLst>
          </p:cNvPr>
          <p:cNvSpPr txBox="1">
            <a:spLocks/>
          </p:cNvSpPr>
          <p:nvPr/>
        </p:nvSpPr>
        <p:spPr>
          <a:xfrm>
            <a:off x="642256" y="642257"/>
            <a:ext cx="3417677" cy="5226837"/>
          </a:xfrm>
          <a:prstGeom prst="rect">
            <a:avLst/>
          </a:prstGeom>
        </p:spPr>
        <p:txBody>
          <a:bodyPr anchor="t">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GB" sz="4400" dirty="0"/>
          </a:p>
        </p:txBody>
      </p:sp>
      <p:sp>
        <p:nvSpPr>
          <p:cNvPr id="8" name="Slide Number Placeholder 4">
            <a:extLst>
              <a:ext uri="{FF2B5EF4-FFF2-40B4-BE49-F238E27FC236}">
                <a16:creationId xmlns:a16="http://schemas.microsoft.com/office/drawing/2014/main" id="{7C823D52-C49F-3715-2739-4E676E560107}"/>
              </a:ext>
            </a:extLst>
          </p:cNvPr>
          <p:cNvSpPr txBox="1">
            <a:spLocks/>
          </p:cNvSpPr>
          <p:nvPr/>
        </p:nvSpPr>
        <p:spPr>
          <a:xfrm>
            <a:off x="9900458" y="6459785"/>
            <a:ext cx="1312025"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endParaRPr lang="en-US" dirty="0"/>
          </a:p>
        </p:txBody>
      </p:sp>
      <p:sp>
        <p:nvSpPr>
          <p:cNvPr id="9" name="TextBox 8">
            <a:extLst>
              <a:ext uri="{FF2B5EF4-FFF2-40B4-BE49-F238E27FC236}">
                <a16:creationId xmlns:a16="http://schemas.microsoft.com/office/drawing/2014/main" id="{1F8277FE-ADEE-9981-AFBD-55930F335541}"/>
              </a:ext>
            </a:extLst>
          </p:cNvPr>
          <p:cNvSpPr txBox="1"/>
          <p:nvPr/>
        </p:nvSpPr>
        <p:spPr>
          <a:xfrm>
            <a:off x="891873" y="1925267"/>
            <a:ext cx="6336119"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Employee - Before Mapping:</a:t>
            </a:r>
            <a:endParaRPr lang="en-GB" b="1" dirty="0">
              <a:latin typeface="+mj-lt"/>
            </a:endParaRPr>
          </a:p>
        </p:txBody>
      </p:sp>
      <p:sp>
        <p:nvSpPr>
          <p:cNvPr id="10" name="TextBox 9">
            <a:extLst>
              <a:ext uri="{FF2B5EF4-FFF2-40B4-BE49-F238E27FC236}">
                <a16:creationId xmlns:a16="http://schemas.microsoft.com/office/drawing/2014/main" id="{F0CF63E9-8A10-94C3-8096-FB1E202809D6}"/>
              </a:ext>
            </a:extLst>
          </p:cNvPr>
          <p:cNvSpPr txBox="1"/>
          <p:nvPr/>
        </p:nvSpPr>
        <p:spPr>
          <a:xfrm>
            <a:off x="1009859" y="3774772"/>
            <a:ext cx="3906269"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Employee  - After Mapping: </a:t>
            </a:r>
            <a:endParaRPr lang="en-GB" b="1" dirty="0">
              <a:latin typeface="+mj-lt"/>
            </a:endParaRPr>
          </a:p>
        </p:txBody>
      </p:sp>
      <p:graphicFrame>
        <p:nvGraphicFramePr>
          <p:cNvPr id="11" name="Table 4">
            <a:extLst>
              <a:ext uri="{FF2B5EF4-FFF2-40B4-BE49-F238E27FC236}">
                <a16:creationId xmlns:a16="http://schemas.microsoft.com/office/drawing/2014/main" id="{838507F7-9386-5A6A-199B-F46A1904B781}"/>
              </a:ext>
            </a:extLst>
          </p:cNvPr>
          <p:cNvGraphicFramePr>
            <a:graphicFrameLocks noGrp="1"/>
          </p:cNvGraphicFramePr>
          <p:nvPr>
            <p:extLst>
              <p:ext uri="{D42A27DB-BD31-4B8C-83A1-F6EECF244321}">
                <p14:modId xmlns:p14="http://schemas.microsoft.com/office/powerpoint/2010/main" val="2516422750"/>
              </p:ext>
            </p:extLst>
          </p:nvPr>
        </p:nvGraphicFramePr>
        <p:xfrm>
          <a:off x="1643257" y="4506597"/>
          <a:ext cx="7156167" cy="1009300"/>
        </p:xfrm>
        <a:graphic>
          <a:graphicData uri="http://schemas.openxmlformats.org/drawingml/2006/table">
            <a:tbl>
              <a:tblPr firstRow="1" bandRow="1">
                <a:tableStyleId>{5C22544A-7EE6-4342-B048-85BDC9FD1C3A}</a:tableStyleId>
              </a:tblPr>
              <a:tblGrid>
                <a:gridCol w="1271666">
                  <a:extLst>
                    <a:ext uri="{9D8B030D-6E8A-4147-A177-3AD203B41FA5}">
                      <a16:colId xmlns:a16="http://schemas.microsoft.com/office/drawing/2014/main" val="4183315421"/>
                    </a:ext>
                  </a:extLst>
                </a:gridCol>
                <a:gridCol w="958987">
                  <a:extLst>
                    <a:ext uri="{9D8B030D-6E8A-4147-A177-3AD203B41FA5}">
                      <a16:colId xmlns:a16="http://schemas.microsoft.com/office/drawing/2014/main" val="608591511"/>
                    </a:ext>
                  </a:extLst>
                </a:gridCol>
                <a:gridCol w="1058557">
                  <a:extLst>
                    <a:ext uri="{9D8B030D-6E8A-4147-A177-3AD203B41FA5}">
                      <a16:colId xmlns:a16="http://schemas.microsoft.com/office/drawing/2014/main" val="3922096448"/>
                    </a:ext>
                  </a:extLst>
                </a:gridCol>
                <a:gridCol w="924706">
                  <a:extLst>
                    <a:ext uri="{9D8B030D-6E8A-4147-A177-3AD203B41FA5}">
                      <a16:colId xmlns:a16="http://schemas.microsoft.com/office/drawing/2014/main" val="2097661159"/>
                    </a:ext>
                  </a:extLst>
                </a:gridCol>
                <a:gridCol w="1345029">
                  <a:extLst>
                    <a:ext uri="{9D8B030D-6E8A-4147-A177-3AD203B41FA5}">
                      <a16:colId xmlns:a16="http://schemas.microsoft.com/office/drawing/2014/main" val="2344985360"/>
                    </a:ext>
                  </a:extLst>
                </a:gridCol>
                <a:gridCol w="840643">
                  <a:extLst>
                    <a:ext uri="{9D8B030D-6E8A-4147-A177-3AD203B41FA5}">
                      <a16:colId xmlns:a16="http://schemas.microsoft.com/office/drawing/2014/main" val="135798733"/>
                    </a:ext>
                  </a:extLst>
                </a:gridCol>
                <a:gridCol w="756579">
                  <a:extLst>
                    <a:ext uri="{9D8B030D-6E8A-4147-A177-3AD203B41FA5}">
                      <a16:colId xmlns:a16="http://schemas.microsoft.com/office/drawing/2014/main" val="2198903952"/>
                    </a:ext>
                  </a:extLst>
                </a:gridCol>
              </a:tblGrid>
              <a:tr h="504650">
                <a:tc>
                  <a:txBody>
                    <a:bodyPr/>
                    <a:lstStyle/>
                    <a:p>
                      <a:pPr marL="91440" algn="l" fontAlgn="b"/>
                      <a:r>
                        <a:rPr lang="en-GB" sz="1800" b="1" i="0" u="none" strike="noStrike" dirty="0">
                          <a:solidFill>
                            <a:schemeClr val="bg1"/>
                          </a:solidFill>
                          <a:effectLst/>
                          <a:latin typeface="Calibri" panose="020F0502020204030204" pitchFamily="34" charset="0"/>
                        </a:rPr>
                        <a:t>SSN</a:t>
                      </a:r>
                    </a:p>
                  </a:txBody>
                  <a:tcPr marL="6350" marR="6350" marT="6350" marB="0" anchor="ctr"/>
                </a:tc>
                <a:tc>
                  <a:txBody>
                    <a:bodyPr/>
                    <a:lstStyle/>
                    <a:p>
                      <a:pPr marL="91440" algn="l" fontAlgn="b"/>
                      <a:r>
                        <a:rPr lang="en-GB" sz="1800" b="1" i="0" u="none" strike="noStrike" dirty="0" err="1">
                          <a:solidFill>
                            <a:srgbClr val="FFFF00"/>
                          </a:solidFill>
                          <a:effectLst/>
                          <a:latin typeface="Calibri" panose="020F0502020204030204" pitchFamily="34" charset="0"/>
                        </a:rPr>
                        <a:t>fname</a:t>
                      </a:r>
                      <a:endParaRPr lang="en-GB" sz="1800" b="1" i="0" u="none" strike="noStrike" dirty="0">
                        <a:solidFill>
                          <a:srgbClr val="FFFF00"/>
                        </a:solidFill>
                        <a:effectLst/>
                        <a:latin typeface="Calibri" panose="020F0502020204030204" pitchFamily="34" charset="0"/>
                      </a:endParaRPr>
                    </a:p>
                  </a:txBody>
                  <a:tcPr marL="6350" marR="6350" marT="6350" marB="0" anchor="ctr"/>
                </a:tc>
                <a:tc>
                  <a:txBody>
                    <a:bodyPr/>
                    <a:lstStyle/>
                    <a:p>
                      <a:pPr marL="91440" algn="l" fontAlgn="b"/>
                      <a:r>
                        <a:rPr lang="en-GB" sz="1800" b="1" i="0" u="none" strike="noStrike" dirty="0" err="1">
                          <a:solidFill>
                            <a:srgbClr val="FFFF00"/>
                          </a:solidFill>
                          <a:effectLst/>
                          <a:latin typeface="Calibri" panose="020F0502020204030204" pitchFamily="34" charset="0"/>
                        </a:rPr>
                        <a:t>mname</a:t>
                      </a:r>
                      <a:endParaRPr lang="en-GB" sz="1800" b="1" i="0" u="none" strike="noStrike" dirty="0">
                        <a:solidFill>
                          <a:srgbClr val="FFFF00"/>
                        </a:solidFill>
                        <a:effectLst/>
                        <a:latin typeface="Calibri" panose="020F0502020204030204" pitchFamily="34" charset="0"/>
                      </a:endParaRPr>
                    </a:p>
                  </a:txBody>
                  <a:tcPr marL="6350" marR="6350" marT="6350" marB="0" anchor="ctr"/>
                </a:tc>
                <a:tc>
                  <a:txBody>
                    <a:bodyPr/>
                    <a:lstStyle/>
                    <a:p>
                      <a:pPr marL="91440" algn="l" fontAlgn="b"/>
                      <a:r>
                        <a:rPr lang="en-GB" sz="1800" b="1" i="0" u="none" strike="noStrike" dirty="0" err="1">
                          <a:solidFill>
                            <a:srgbClr val="FFFF00"/>
                          </a:solidFill>
                          <a:effectLst/>
                          <a:latin typeface="Calibri" panose="020F0502020204030204" pitchFamily="34" charset="0"/>
                        </a:rPr>
                        <a:t>lname</a:t>
                      </a:r>
                      <a:endParaRPr lang="en-GB" sz="1800" b="1" i="0" u="none" strike="noStrike" dirty="0">
                        <a:solidFill>
                          <a:srgbClr val="FFFF00"/>
                        </a:solidFill>
                        <a:effectLst/>
                        <a:latin typeface="Calibri" panose="020F0502020204030204" pitchFamily="34" charset="0"/>
                      </a:endParaRP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birthdate</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gender</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salary</a:t>
                      </a:r>
                    </a:p>
                  </a:txBody>
                  <a:tcPr marL="6350" marR="6350" marT="6350" marB="0" anchor="ctr"/>
                </a:tc>
                <a:extLst>
                  <a:ext uri="{0D108BD9-81ED-4DB2-BD59-A6C34878D82A}">
                    <a16:rowId xmlns:a16="http://schemas.microsoft.com/office/drawing/2014/main" val="2041103203"/>
                  </a:ext>
                </a:extLst>
              </a:tr>
              <a:tr h="504650">
                <a:tc>
                  <a:txBody>
                    <a:bodyPr/>
                    <a:lstStyle/>
                    <a:p>
                      <a:pPr marL="91440" algn="l" fontAlgn="b"/>
                      <a:r>
                        <a:rPr lang="en-GB" sz="1800" b="0" i="0" u="none" strike="noStrike" dirty="0">
                          <a:solidFill>
                            <a:srgbClr val="000000"/>
                          </a:solidFill>
                          <a:effectLst/>
                          <a:latin typeface="Calibri" panose="020F0502020204030204" pitchFamily="34" charset="0"/>
                        </a:rPr>
                        <a:t>123456789</a:t>
                      </a:r>
                    </a:p>
                  </a:txBody>
                  <a:tcPr marL="6350" marR="6350" marT="6350" marB="0" anchor="b"/>
                </a:tc>
                <a:tc>
                  <a:txBody>
                    <a:bodyPr/>
                    <a:lstStyle/>
                    <a:p>
                      <a:pPr marL="91440" algn="l" fontAlgn="b"/>
                      <a:r>
                        <a:rPr lang="en-GB" sz="1800" b="0" i="0" u="none" strike="noStrike">
                          <a:solidFill>
                            <a:srgbClr val="000000"/>
                          </a:solidFill>
                          <a:effectLst/>
                          <a:latin typeface="Calibri" panose="020F0502020204030204" pitchFamily="34" charset="0"/>
                        </a:rPr>
                        <a:t>John</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B</a:t>
                      </a:r>
                    </a:p>
                  </a:txBody>
                  <a:tcPr marL="6350" marR="6350" marT="6350" marB="0" anchor="b"/>
                </a:tc>
                <a:tc>
                  <a:txBody>
                    <a:bodyPr/>
                    <a:lstStyle/>
                    <a:p>
                      <a:pPr marL="91440" algn="l" fontAlgn="b"/>
                      <a:r>
                        <a:rPr lang="en-GB" sz="1800" b="0" i="0" u="none" strike="noStrike">
                          <a:solidFill>
                            <a:srgbClr val="000000"/>
                          </a:solidFill>
                          <a:effectLst/>
                          <a:latin typeface="Calibri" panose="020F0502020204030204" pitchFamily="34" charset="0"/>
                        </a:rPr>
                        <a:t>Smith</a:t>
                      </a:r>
                    </a:p>
                  </a:txBody>
                  <a:tcPr marL="6350" marR="6350" marT="6350" marB="0" anchor="b"/>
                </a:tc>
                <a:tc>
                  <a:txBody>
                    <a:bodyPr/>
                    <a:lstStyle/>
                    <a:p>
                      <a:pPr marL="91440" algn="l" fontAlgn="b"/>
                      <a:r>
                        <a:rPr lang="en-GB" sz="1800" b="0" i="0" u="none" strike="noStrike">
                          <a:solidFill>
                            <a:srgbClr val="000000"/>
                          </a:solidFill>
                          <a:effectLst/>
                          <a:latin typeface="Calibri" panose="020F0502020204030204" pitchFamily="34" charset="0"/>
                        </a:rPr>
                        <a:t>1/9/1965</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M</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30000</a:t>
                      </a:r>
                    </a:p>
                  </a:txBody>
                  <a:tcPr marL="6350" marR="6350" marT="6350" marB="0" anchor="b"/>
                </a:tc>
                <a:extLst>
                  <a:ext uri="{0D108BD9-81ED-4DB2-BD59-A6C34878D82A}">
                    <a16:rowId xmlns:a16="http://schemas.microsoft.com/office/drawing/2014/main" val="3364685176"/>
                  </a:ext>
                </a:extLst>
              </a:tr>
            </a:tbl>
          </a:graphicData>
        </a:graphic>
      </p:graphicFrame>
      <p:graphicFrame>
        <p:nvGraphicFramePr>
          <p:cNvPr id="12" name="Table 4">
            <a:extLst>
              <a:ext uri="{FF2B5EF4-FFF2-40B4-BE49-F238E27FC236}">
                <a16:creationId xmlns:a16="http://schemas.microsoft.com/office/drawing/2014/main" id="{9BD40C24-1597-15D6-38F1-002A125D7DFB}"/>
              </a:ext>
            </a:extLst>
          </p:cNvPr>
          <p:cNvGraphicFramePr>
            <a:graphicFrameLocks noGrp="1"/>
          </p:cNvGraphicFramePr>
          <p:nvPr>
            <p:extLst>
              <p:ext uri="{D42A27DB-BD31-4B8C-83A1-F6EECF244321}">
                <p14:modId xmlns:p14="http://schemas.microsoft.com/office/powerpoint/2010/main" val="2285617623"/>
              </p:ext>
            </p:extLst>
          </p:nvPr>
        </p:nvGraphicFramePr>
        <p:xfrm>
          <a:off x="1643258" y="2356694"/>
          <a:ext cx="6459715" cy="966564"/>
        </p:xfrm>
        <a:graphic>
          <a:graphicData uri="http://schemas.openxmlformats.org/drawingml/2006/table">
            <a:tbl>
              <a:tblPr firstRow="1" bandRow="1">
                <a:tableStyleId>{5C22544A-7EE6-4342-B048-85BDC9FD1C3A}</a:tableStyleId>
              </a:tblPr>
              <a:tblGrid>
                <a:gridCol w="1309881">
                  <a:extLst>
                    <a:ext uri="{9D8B030D-6E8A-4147-A177-3AD203B41FA5}">
                      <a16:colId xmlns:a16="http://schemas.microsoft.com/office/drawing/2014/main" val="4183315421"/>
                    </a:ext>
                  </a:extLst>
                </a:gridCol>
                <a:gridCol w="2047708">
                  <a:extLst>
                    <a:ext uri="{9D8B030D-6E8A-4147-A177-3AD203B41FA5}">
                      <a16:colId xmlns:a16="http://schemas.microsoft.com/office/drawing/2014/main" val="608591511"/>
                    </a:ext>
                  </a:extLst>
                </a:gridCol>
                <a:gridCol w="1405889">
                  <a:extLst>
                    <a:ext uri="{9D8B030D-6E8A-4147-A177-3AD203B41FA5}">
                      <a16:colId xmlns:a16="http://schemas.microsoft.com/office/drawing/2014/main" val="2344985360"/>
                    </a:ext>
                  </a:extLst>
                </a:gridCol>
                <a:gridCol w="886322">
                  <a:extLst>
                    <a:ext uri="{9D8B030D-6E8A-4147-A177-3AD203B41FA5}">
                      <a16:colId xmlns:a16="http://schemas.microsoft.com/office/drawing/2014/main" val="135798733"/>
                    </a:ext>
                  </a:extLst>
                </a:gridCol>
                <a:gridCol w="809915">
                  <a:extLst>
                    <a:ext uri="{9D8B030D-6E8A-4147-A177-3AD203B41FA5}">
                      <a16:colId xmlns:a16="http://schemas.microsoft.com/office/drawing/2014/main" val="2198903952"/>
                    </a:ext>
                  </a:extLst>
                </a:gridCol>
              </a:tblGrid>
              <a:tr h="483282">
                <a:tc>
                  <a:txBody>
                    <a:bodyPr/>
                    <a:lstStyle/>
                    <a:p>
                      <a:pPr marL="91440" algn="l" fontAlgn="b"/>
                      <a:r>
                        <a:rPr lang="en-GB" sz="1800" b="1" i="0" u="none" strike="noStrike" dirty="0">
                          <a:solidFill>
                            <a:schemeClr val="bg1"/>
                          </a:solidFill>
                          <a:effectLst/>
                          <a:latin typeface="Calibri" panose="020F0502020204030204" pitchFamily="34" charset="0"/>
                        </a:rPr>
                        <a:t>SSN</a:t>
                      </a:r>
                    </a:p>
                  </a:txBody>
                  <a:tcPr marL="6350" marR="6350" marT="6350" marB="0" anchor="ctr"/>
                </a:tc>
                <a:tc>
                  <a:txBody>
                    <a:bodyPr/>
                    <a:lstStyle/>
                    <a:p>
                      <a:pPr marL="91440" algn="l" fontAlgn="b"/>
                      <a:r>
                        <a:rPr lang="en-GB" sz="1800" b="1" i="0" u="none" strike="noStrike" dirty="0">
                          <a:solidFill>
                            <a:srgbClr val="FFFF00"/>
                          </a:solidFill>
                          <a:effectLst/>
                          <a:latin typeface="Calibri" panose="020F0502020204030204" pitchFamily="34" charset="0"/>
                        </a:rPr>
                        <a:t>name</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birthdate</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gender</a:t>
                      </a:r>
                    </a:p>
                  </a:txBody>
                  <a:tcPr marL="6350" marR="6350" marT="6350" marB="0" anchor="ctr"/>
                </a:tc>
                <a:tc>
                  <a:txBody>
                    <a:bodyPr/>
                    <a:lstStyle/>
                    <a:p>
                      <a:pPr marL="91440" algn="l" fontAlgn="b"/>
                      <a:r>
                        <a:rPr lang="en-GB" sz="1800" b="1" i="0" u="none" strike="noStrike" dirty="0">
                          <a:solidFill>
                            <a:schemeClr val="bg1"/>
                          </a:solidFill>
                          <a:effectLst/>
                          <a:latin typeface="Calibri" panose="020F0502020204030204" pitchFamily="34" charset="0"/>
                        </a:rPr>
                        <a:t>salary</a:t>
                      </a:r>
                    </a:p>
                  </a:txBody>
                  <a:tcPr marL="6350" marR="6350" marT="6350" marB="0" anchor="ctr"/>
                </a:tc>
                <a:extLst>
                  <a:ext uri="{0D108BD9-81ED-4DB2-BD59-A6C34878D82A}">
                    <a16:rowId xmlns:a16="http://schemas.microsoft.com/office/drawing/2014/main" val="2041103203"/>
                  </a:ext>
                </a:extLst>
              </a:tr>
              <a:tr h="483282">
                <a:tc>
                  <a:txBody>
                    <a:bodyPr/>
                    <a:lstStyle/>
                    <a:p>
                      <a:pPr marL="91440" algn="l" fontAlgn="b"/>
                      <a:r>
                        <a:rPr lang="en-GB" sz="1800" b="0" i="0" u="none" strike="noStrike" dirty="0">
                          <a:solidFill>
                            <a:srgbClr val="000000"/>
                          </a:solidFill>
                          <a:effectLst/>
                          <a:latin typeface="Calibri" panose="020F0502020204030204" pitchFamily="34" charset="0"/>
                        </a:rPr>
                        <a:t>123456789</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John B Smith</a:t>
                      </a:r>
                    </a:p>
                  </a:txBody>
                  <a:tcPr marL="6350" marR="6350" marT="6350" marB="0" anchor="b"/>
                </a:tc>
                <a:tc>
                  <a:txBody>
                    <a:bodyPr/>
                    <a:lstStyle/>
                    <a:p>
                      <a:pPr marL="91440" algn="l" fontAlgn="b"/>
                      <a:r>
                        <a:rPr lang="en-GB" sz="1800" b="0" i="0" u="none" strike="noStrike">
                          <a:solidFill>
                            <a:srgbClr val="000000"/>
                          </a:solidFill>
                          <a:effectLst/>
                          <a:latin typeface="Calibri" panose="020F0502020204030204" pitchFamily="34" charset="0"/>
                        </a:rPr>
                        <a:t>1/9/1965</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M</a:t>
                      </a:r>
                    </a:p>
                  </a:txBody>
                  <a:tcPr marL="6350" marR="6350" marT="6350" marB="0" anchor="b"/>
                </a:tc>
                <a:tc>
                  <a:txBody>
                    <a:bodyPr/>
                    <a:lstStyle/>
                    <a:p>
                      <a:pPr marL="91440" algn="l" fontAlgn="b"/>
                      <a:r>
                        <a:rPr lang="en-GB" sz="1800" b="0" i="0" u="none" strike="noStrike" dirty="0">
                          <a:solidFill>
                            <a:srgbClr val="000000"/>
                          </a:solidFill>
                          <a:effectLst/>
                          <a:latin typeface="Calibri" panose="020F0502020204030204" pitchFamily="34" charset="0"/>
                        </a:rPr>
                        <a:t>30000</a:t>
                      </a:r>
                    </a:p>
                  </a:txBody>
                  <a:tcPr marL="6350" marR="6350" marT="6350" marB="0" anchor="b"/>
                </a:tc>
                <a:extLst>
                  <a:ext uri="{0D108BD9-81ED-4DB2-BD59-A6C34878D82A}">
                    <a16:rowId xmlns:a16="http://schemas.microsoft.com/office/drawing/2014/main" val="3364685176"/>
                  </a:ext>
                </a:extLst>
              </a:tr>
            </a:tbl>
          </a:graphicData>
        </a:graphic>
      </p:graphicFrame>
      <p:sp>
        <p:nvSpPr>
          <p:cNvPr id="3" name="Footer Placeholder 2">
            <a:extLst>
              <a:ext uri="{FF2B5EF4-FFF2-40B4-BE49-F238E27FC236}">
                <a16:creationId xmlns:a16="http://schemas.microsoft.com/office/drawing/2014/main" id="{5D9E5656-4E9A-FE7B-75B9-C6B92A0CC5F0}"/>
              </a:ext>
            </a:extLst>
          </p:cNvPr>
          <p:cNvSpPr>
            <a:spLocks noGrp="1"/>
          </p:cNvSpPr>
          <p:nvPr>
            <p:ph type="ftr" sz="quarter" idx="11"/>
          </p:nvPr>
        </p:nvSpPr>
        <p:spPr/>
        <p:txBody>
          <a:bodyPr/>
          <a:lstStyle/>
          <a:p>
            <a:r>
              <a:rPr lang="en-US"/>
              <a:t>Eng. Aisha Al-Sadi | HTU | Al Hussein Technical University</a:t>
            </a:r>
          </a:p>
        </p:txBody>
      </p:sp>
      <p:sp>
        <p:nvSpPr>
          <p:cNvPr id="4" name="Slide Number Placeholder 3">
            <a:extLst>
              <a:ext uri="{FF2B5EF4-FFF2-40B4-BE49-F238E27FC236}">
                <a16:creationId xmlns:a16="http://schemas.microsoft.com/office/drawing/2014/main" id="{60725E30-6A97-85A9-E5E4-CA7A906C8E23}"/>
              </a:ext>
            </a:extLst>
          </p:cNvPr>
          <p:cNvSpPr>
            <a:spLocks noGrp="1"/>
          </p:cNvSpPr>
          <p:nvPr>
            <p:ph type="sldNum" sz="quarter" idx="12"/>
          </p:nvPr>
        </p:nvSpPr>
        <p:spPr/>
        <p:txBody>
          <a:bodyPr/>
          <a:lstStyle/>
          <a:p>
            <a:fld id="{E6B03378-CDB7-40C1-827C-F54129224789}" type="slidenum">
              <a:rPr lang="en-US" smtClean="0"/>
              <a:t>15</a:t>
            </a:fld>
            <a:endParaRPr lang="en-US"/>
          </a:p>
        </p:txBody>
      </p:sp>
    </p:spTree>
    <p:extLst>
      <p:ext uri="{BB962C8B-B14F-4D97-AF65-F5344CB8AC3E}">
        <p14:creationId xmlns:p14="http://schemas.microsoft.com/office/powerpoint/2010/main" val="682006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6F903-0DE6-6DEC-B436-ADCDA4B71F13}"/>
              </a:ext>
            </a:extLst>
          </p:cNvPr>
          <p:cNvSpPr>
            <a:spLocks noGrp="1"/>
          </p:cNvSpPr>
          <p:nvPr>
            <p:ph type="title"/>
          </p:nvPr>
        </p:nvSpPr>
        <p:spPr/>
        <p:txBody>
          <a:bodyPr/>
          <a:lstStyle/>
          <a:p>
            <a:r>
              <a:rPr lang="en-US" b="1" dirty="0"/>
              <a:t>Database Schema </a:t>
            </a:r>
            <a:endParaRPr lang="en-US" dirty="0"/>
          </a:p>
        </p:txBody>
      </p:sp>
      <p:sp>
        <p:nvSpPr>
          <p:cNvPr id="3" name="Footer Placeholder 2">
            <a:extLst>
              <a:ext uri="{FF2B5EF4-FFF2-40B4-BE49-F238E27FC236}">
                <a16:creationId xmlns:a16="http://schemas.microsoft.com/office/drawing/2014/main" id="{2ED9A62D-B68A-E4A4-DF69-EB90AB1513C5}"/>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1A4F2DD1-680E-76DF-5490-99ED39DD17C4}"/>
              </a:ext>
            </a:extLst>
          </p:cNvPr>
          <p:cNvSpPr>
            <a:spLocks noGrp="1"/>
          </p:cNvSpPr>
          <p:nvPr>
            <p:ph type="sldNum" sz="quarter" idx="12"/>
          </p:nvPr>
        </p:nvSpPr>
        <p:spPr/>
        <p:txBody>
          <a:bodyPr/>
          <a:lstStyle/>
          <a:p>
            <a:fld id="{E6B03378-CDB7-40C1-827C-F54129224789}" type="slidenum">
              <a:rPr lang="en-US" smtClean="0"/>
              <a:t>16</a:t>
            </a:fld>
            <a:endParaRPr lang="en-US"/>
          </a:p>
        </p:txBody>
      </p:sp>
      <p:pic>
        <p:nvPicPr>
          <p:cNvPr id="7" name="Picture 6">
            <a:extLst>
              <a:ext uri="{FF2B5EF4-FFF2-40B4-BE49-F238E27FC236}">
                <a16:creationId xmlns:a16="http://schemas.microsoft.com/office/drawing/2014/main" id="{FAFC888A-BC66-06EB-2CC0-71BDDBBF4A77}"/>
              </a:ext>
            </a:extLst>
          </p:cNvPr>
          <p:cNvPicPr>
            <a:picLocks noChangeAspect="1"/>
          </p:cNvPicPr>
          <p:nvPr/>
        </p:nvPicPr>
        <p:blipFill>
          <a:blip r:embed="rId2"/>
          <a:stretch>
            <a:fillRect/>
          </a:stretch>
        </p:blipFill>
        <p:spPr>
          <a:xfrm>
            <a:off x="1230630" y="1803236"/>
            <a:ext cx="9925050" cy="3981450"/>
          </a:xfrm>
          <a:prstGeom prst="rect">
            <a:avLst/>
          </a:prstGeom>
        </p:spPr>
      </p:pic>
    </p:spTree>
    <p:extLst>
      <p:ext uri="{BB962C8B-B14F-4D97-AF65-F5344CB8AC3E}">
        <p14:creationId xmlns:p14="http://schemas.microsoft.com/office/powerpoint/2010/main" val="120379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5B47-AB20-15B3-91AB-B7AEC7D800C3}"/>
              </a:ext>
            </a:extLst>
          </p:cNvPr>
          <p:cNvSpPr>
            <a:spLocks noGrp="1"/>
          </p:cNvSpPr>
          <p:nvPr>
            <p:ph type="title"/>
          </p:nvPr>
        </p:nvSpPr>
        <p:spPr/>
        <p:txBody>
          <a:bodyPr/>
          <a:lstStyle/>
          <a:p>
            <a:r>
              <a:rPr lang="en-US" b="1" dirty="0"/>
              <a:t>Mapping – 1:1 Relations</a:t>
            </a:r>
          </a:p>
        </p:txBody>
      </p:sp>
      <p:sp>
        <p:nvSpPr>
          <p:cNvPr id="3" name="Content Placeholder 2">
            <a:extLst>
              <a:ext uri="{FF2B5EF4-FFF2-40B4-BE49-F238E27FC236}">
                <a16:creationId xmlns:a16="http://schemas.microsoft.com/office/drawing/2014/main" id="{B1473FA8-2985-632E-D591-410165A80F09}"/>
              </a:ext>
            </a:extLst>
          </p:cNvPr>
          <p:cNvSpPr>
            <a:spLocks noGrp="1"/>
          </p:cNvSpPr>
          <p:nvPr>
            <p:ph idx="1"/>
          </p:nvPr>
        </p:nvSpPr>
        <p:spPr/>
        <p:txBody>
          <a:bodyPr/>
          <a:lstStyle/>
          <a:p>
            <a:r>
              <a:rPr lang="en-US" dirty="0"/>
              <a:t>Relation between Employee and Department (Mange Relationship)</a:t>
            </a:r>
          </a:p>
          <a:p>
            <a:endParaRPr lang="en-US" dirty="0"/>
          </a:p>
        </p:txBody>
      </p:sp>
      <p:sp>
        <p:nvSpPr>
          <p:cNvPr id="8" name="TextBox 7">
            <a:extLst>
              <a:ext uri="{FF2B5EF4-FFF2-40B4-BE49-F238E27FC236}">
                <a16:creationId xmlns:a16="http://schemas.microsoft.com/office/drawing/2014/main" id="{F4113F1C-853C-D5E2-888F-FF6C35BBB339}"/>
              </a:ext>
            </a:extLst>
          </p:cNvPr>
          <p:cNvSpPr txBox="1"/>
          <p:nvPr/>
        </p:nvSpPr>
        <p:spPr>
          <a:xfrm>
            <a:off x="1097280" y="5257671"/>
            <a:ext cx="4928824"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Department - After Mapping </a:t>
            </a:r>
            <a:endParaRPr lang="en-GB" b="1" dirty="0">
              <a:latin typeface="+mj-lt"/>
            </a:endParaRPr>
          </a:p>
        </p:txBody>
      </p:sp>
      <p:grpSp>
        <p:nvGrpSpPr>
          <p:cNvPr id="9" name="Group 8">
            <a:extLst>
              <a:ext uri="{FF2B5EF4-FFF2-40B4-BE49-F238E27FC236}">
                <a16:creationId xmlns:a16="http://schemas.microsoft.com/office/drawing/2014/main" id="{3FE5FA68-E884-3709-4CED-D4996D44992F}"/>
              </a:ext>
            </a:extLst>
          </p:cNvPr>
          <p:cNvGrpSpPr/>
          <p:nvPr/>
        </p:nvGrpSpPr>
        <p:grpSpPr>
          <a:xfrm>
            <a:off x="1484080" y="5722024"/>
            <a:ext cx="10058399" cy="599625"/>
            <a:chOff x="0" y="997108"/>
            <a:chExt cx="10058399" cy="599625"/>
          </a:xfrm>
        </p:grpSpPr>
        <p:sp>
          <p:nvSpPr>
            <p:cNvPr id="10" name="Rectangle: Rounded Corners 9">
              <a:extLst>
                <a:ext uri="{FF2B5EF4-FFF2-40B4-BE49-F238E27FC236}">
                  <a16:creationId xmlns:a16="http://schemas.microsoft.com/office/drawing/2014/main" id="{0F97FB4D-7FDA-5FC9-1C0E-1EBEEE2587F3}"/>
                </a:ext>
              </a:extLst>
            </p:cNvPr>
            <p:cNvSpPr/>
            <p:nvPr/>
          </p:nvSpPr>
          <p:spPr>
            <a:xfrm>
              <a:off x="0" y="997108"/>
              <a:ext cx="10058399" cy="5996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ectangle: Rounded Corners 4">
              <a:extLst>
                <a:ext uri="{FF2B5EF4-FFF2-40B4-BE49-F238E27FC236}">
                  <a16:creationId xmlns:a16="http://schemas.microsoft.com/office/drawing/2014/main" id="{1DBF2709-C55A-496D-0126-F1A105AFF649}"/>
                </a:ext>
              </a:extLst>
            </p:cNvPr>
            <p:cNvSpPr txBox="1"/>
            <p:nvPr/>
          </p:nvSpPr>
          <p:spPr>
            <a:xfrm>
              <a:off x="29271" y="1026379"/>
              <a:ext cx="9999857" cy="54108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Department (</a:t>
              </a:r>
              <a:r>
                <a:rPr lang="en-US" sz="2500" u="sng" kern="1200" dirty="0"/>
                <a:t>number</a:t>
              </a:r>
              <a:r>
                <a:rPr lang="en-US" sz="2500" kern="1200" dirty="0"/>
                <a:t>, name, </a:t>
              </a:r>
              <a:r>
                <a:rPr lang="en-US" sz="2500" kern="1200" dirty="0">
                  <a:highlight>
                    <a:srgbClr val="800000"/>
                  </a:highlight>
                </a:rPr>
                <a:t>start date, manager SSN</a:t>
              </a:r>
              <a:r>
                <a:rPr lang="en-US" sz="2500" kern="1200" dirty="0"/>
                <a:t>)</a:t>
              </a:r>
            </a:p>
          </p:txBody>
        </p:sp>
      </p:grpSp>
      <p:grpSp>
        <p:nvGrpSpPr>
          <p:cNvPr id="12" name="Group 11">
            <a:extLst>
              <a:ext uri="{FF2B5EF4-FFF2-40B4-BE49-F238E27FC236}">
                <a16:creationId xmlns:a16="http://schemas.microsoft.com/office/drawing/2014/main" id="{7D38B525-F2C4-C3DD-82DE-6AC035A51FA5}"/>
              </a:ext>
            </a:extLst>
          </p:cNvPr>
          <p:cNvGrpSpPr/>
          <p:nvPr/>
        </p:nvGrpSpPr>
        <p:grpSpPr>
          <a:xfrm>
            <a:off x="1454809" y="3000586"/>
            <a:ext cx="10058399" cy="599625"/>
            <a:chOff x="0" y="997108"/>
            <a:chExt cx="10058399" cy="599625"/>
          </a:xfrm>
        </p:grpSpPr>
        <p:sp>
          <p:nvSpPr>
            <p:cNvPr id="13" name="Rectangle: Rounded Corners 12">
              <a:extLst>
                <a:ext uri="{FF2B5EF4-FFF2-40B4-BE49-F238E27FC236}">
                  <a16:creationId xmlns:a16="http://schemas.microsoft.com/office/drawing/2014/main" id="{F75C62E6-5957-AA5B-E138-091E3AC0BEE5}"/>
                </a:ext>
              </a:extLst>
            </p:cNvPr>
            <p:cNvSpPr/>
            <p:nvPr/>
          </p:nvSpPr>
          <p:spPr>
            <a:xfrm>
              <a:off x="0" y="997108"/>
              <a:ext cx="10058399" cy="5996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Rectangle: Rounded Corners 4">
              <a:extLst>
                <a:ext uri="{FF2B5EF4-FFF2-40B4-BE49-F238E27FC236}">
                  <a16:creationId xmlns:a16="http://schemas.microsoft.com/office/drawing/2014/main" id="{C4A9BAFF-066C-B2F3-51C9-CFB8D0839745}"/>
                </a:ext>
              </a:extLst>
            </p:cNvPr>
            <p:cNvSpPr txBox="1"/>
            <p:nvPr/>
          </p:nvSpPr>
          <p:spPr>
            <a:xfrm>
              <a:off x="29271" y="1026379"/>
              <a:ext cx="9999857" cy="54108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Department (</a:t>
              </a:r>
              <a:r>
                <a:rPr lang="en-US" sz="2500" u="sng" kern="1200" dirty="0"/>
                <a:t>number</a:t>
              </a:r>
              <a:r>
                <a:rPr lang="en-US" sz="2500" kern="1200" dirty="0"/>
                <a:t>, name)</a:t>
              </a:r>
            </a:p>
          </p:txBody>
        </p:sp>
      </p:grpSp>
      <p:sp>
        <p:nvSpPr>
          <p:cNvPr id="15" name="TextBox 14">
            <a:extLst>
              <a:ext uri="{FF2B5EF4-FFF2-40B4-BE49-F238E27FC236}">
                <a16:creationId xmlns:a16="http://schemas.microsoft.com/office/drawing/2014/main" id="{B414A1F8-C784-D775-1AEE-BF8E523F72FD}"/>
              </a:ext>
            </a:extLst>
          </p:cNvPr>
          <p:cNvSpPr txBox="1"/>
          <p:nvPr/>
        </p:nvSpPr>
        <p:spPr>
          <a:xfrm>
            <a:off x="1097280" y="2552151"/>
            <a:ext cx="4928824" cy="369332"/>
          </a:xfrm>
          <a:prstGeom prst="rect">
            <a:avLst/>
          </a:prstGeom>
          <a:noFill/>
        </p:spPr>
        <p:txBody>
          <a:bodyPr wrap="square">
            <a:spAutoFit/>
          </a:bodyPr>
          <a:lstStyle/>
          <a:p>
            <a:pPr marL="285750" indent="-285750">
              <a:buFont typeface="Wingdings" panose="05000000000000000000" pitchFamily="2" charset="2"/>
              <a:buChar char="§"/>
            </a:pPr>
            <a:r>
              <a:rPr lang="en-US" altLang="en-US" sz="1800" b="1" kern="0" dirty="0">
                <a:latin typeface="+mj-lt"/>
              </a:rPr>
              <a:t>Department - Before Mapping  </a:t>
            </a:r>
            <a:endParaRPr lang="en-GB" b="1" dirty="0">
              <a:latin typeface="+mj-lt"/>
            </a:endParaRPr>
          </a:p>
        </p:txBody>
      </p:sp>
      <p:sp>
        <p:nvSpPr>
          <p:cNvPr id="17" name="TextBox 16">
            <a:extLst>
              <a:ext uri="{FF2B5EF4-FFF2-40B4-BE49-F238E27FC236}">
                <a16:creationId xmlns:a16="http://schemas.microsoft.com/office/drawing/2014/main" id="{1FEE7D7B-9B21-3E86-E486-9985355B0BBC}"/>
              </a:ext>
            </a:extLst>
          </p:cNvPr>
          <p:cNvSpPr txBox="1"/>
          <p:nvPr/>
        </p:nvSpPr>
        <p:spPr>
          <a:xfrm>
            <a:off x="1470651" y="3844801"/>
            <a:ext cx="10026713" cy="1200329"/>
          </a:xfrm>
          <a:prstGeom prst="rect">
            <a:avLst/>
          </a:prstGeom>
          <a:noFill/>
        </p:spPr>
        <p:txBody>
          <a:bodyPr wrap="square">
            <a:spAutoFit/>
          </a:bodyPr>
          <a:lstStyle/>
          <a:p>
            <a:pPr lvl="0"/>
            <a:r>
              <a:rPr lang="en-US" b="1" dirty="0"/>
              <a:t>Mapping:</a:t>
            </a:r>
          </a:p>
          <a:p>
            <a:pPr marL="285750" lvl="0" indent="-285750">
              <a:buFont typeface="Arial" panose="020B0604020202020204" pitchFamily="34" charset="0"/>
              <a:buChar char="•"/>
            </a:pPr>
            <a:r>
              <a:rPr lang="en-US" b="1" dirty="0"/>
              <a:t> </a:t>
            </a:r>
            <a:r>
              <a:rPr lang="en-US" dirty="0"/>
              <a:t>Include the primary key </a:t>
            </a:r>
            <a:r>
              <a:rPr lang="en-US" b="1" dirty="0"/>
              <a:t>SSN</a:t>
            </a:r>
            <a:r>
              <a:rPr lang="en-US" dirty="0"/>
              <a:t> of the </a:t>
            </a:r>
            <a:r>
              <a:rPr lang="en-US" b="1" dirty="0"/>
              <a:t>Employee</a:t>
            </a:r>
            <a:r>
              <a:rPr lang="en-US" dirty="0"/>
              <a:t> relation as a foreign key attribute of Department (renamed to </a:t>
            </a:r>
            <a:r>
              <a:rPr lang="en-US" b="1" dirty="0"/>
              <a:t>manager SSN</a:t>
            </a:r>
            <a:r>
              <a:rPr lang="en-US" dirty="0"/>
              <a:t>).</a:t>
            </a:r>
          </a:p>
          <a:p>
            <a:pPr marL="285750" lvl="0" indent="-285750">
              <a:buFont typeface="Arial" panose="020B0604020202020204" pitchFamily="34" charset="0"/>
              <a:buChar char="•"/>
            </a:pPr>
            <a:r>
              <a:rPr lang="en-GB" dirty="0"/>
              <a:t>Attribute </a:t>
            </a:r>
            <a:r>
              <a:rPr lang="en-GB" b="1" dirty="0"/>
              <a:t>start date</a:t>
            </a:r>
            <a:r>
              <a:rPr lang="en-GB" dirty="0"/>
              <a:t> in </a:t>
            </a:r>
            <a:r>
              <a:rPr lang="en-GB" b="1" dirty="0"/>
              <a:t>department </a:t>
            </a:r>
            <a:r>
              <a:rPr lang="en-GB" dirty="0"/>
              <a:t>represents the </a:t>
            </a:r>
            <a:r>
              <a:rPr lang="en-GB" b="1" dirty="0"/>
              <a:t>start date</a:t>
            </a:r>
            <a:r>
              <a:rPr lang="en-GB" dirty="0"/>
              <a:t> attribute of the relationship type. </a:t>
            </a:r>
          </a:p>
        </p:txBody>
      </p:sp>
      <p:sp>
        <p:nvSpPr>
          <p:cNvPr id="4" name="Footer Placeholder 3">
            <a:extLst>
              <a:ext uri="{FF2B5EF4-FFF2-40B4-BE49-F238E27FC236}">
                <a16:creationId xmlns:a16="http://schemas.microsoft.com/office/drawing/2014/main" id="{7ED409E6-8A4E-D65F-E68E-93E95F1AF85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40B7F2D5-C268-57CD-3A2A-E27043742153}"/>
              </a:ext>
            </a:extLst>
          </p:cNvPr>
          <p:cNvSpPr>
            <a:spLocks noGrp="1"/>
          </p:cNvSpPr>
          <p:nvPr>
            <p:ph type="sldNum" sz="quarter" idx="12"/>
          </p:nvPr>
        </p:nvSpPr>
        <p:spPr/>
        <p:txBody>
          <a:bodyPr/>
          <a:lstStyle/>
          <a:p>
            <a:fld id="{E6B03378-CDB7-40C1-827C-F54129224789}" type="slidenum">
              <a:rPr lang="en-US" smtClean="0"/>
              <a:t>17</a:t>
            </a:fld>
            <a:endParaRPr lang="en-US"/>
          </a:p>
        </p:txBody>
      </p:sp>
    </p:spTree>
    <p:extLst>
      <p:ext uri="{BB962C8B-B14F-4D97-AF65-F5344CB8AC3E}">
        <p14:creationId xmlns:p14="http://schemas.microsoft.com/office/powerpoint/2010/main" val="797862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5B47-AB20-15B3-91AB-B7AEC7D800C3}"/>
              </a:ext>
            </a:extLst>
          </p:cNvPr>
          <p:cNvSpPr>
            <a:spLocks noGrp="1"/>
          </p:cNvSpPr>
          <p:nvPr>
            <p:ph type="title"/>
          </p:nvPr>
        </p:nvSpPr>
        <p:spPr/>
        <p:txBody>
          <a:bodyPr/>
          <a:lstStyle/>
          <a:p>
            <a:r>
              <a:rPr lang="en-US" b="1" dirty="0"/>
              <a:t>Mapping – 1:M Relations</a:t>
            </a:r>
          </a:p>
        </p:txBody>
      </p:sp>
      <p:sp>
        <p:nvSpPr>
          <p:cNvPr id="3" name="Content Placeholder 2">
            <a:extLst>
              <a:ext uri="{FF2B5EF4-FFF2-40B4-BE49-F238E27FC236}">
                <a16:creationId xmlns:a16="http://schemas.microsoft.com/office/drawing/2014/main" id="{B1473FA8-2985-632E-D591-410165A80F09}"/>
              </a:ext>
            </a:extLst>
          </p:cNvPr>
          <p:cNvSpPr>
            <a:spLocks noGrp="1"/>
          </p:cNvSpPr>
          <p:nvPr>
            <p:ph idx="1"/>
          </p:nvPr>
        </p:nvSpPr>
        <p:spPr/>
        <p:txBody>
          <a:bodyPr/>
          <a:lstStyle/>
          <a:p>
            <a:pPr marL="285750" indent="-285750">
              <a:buFont typeface="Wingdings" panose="05000000000000000000" pitchFamily="2" charset="2"/>
              <a:buChar char="§"/>
            </a:pPr>
            <a:r>
              <a:rPr lang="en-US" sz="1600" b="1" dirty="0"/>
              <a:t>Examples:</a:t>
            </a:r>
          </a:p>
          <a:p>
            <a:pPr marL="578358" lvl="1" indent="-285750">
              <a:buFont typeface="Wingdings" panose="05000000000000000000" pitchFamily="2" charset="2"/>
              <a:buChar char="§"/>
            </a:pPr>
            <a:r>
              <a:rPr lang="en-GB" sz="1600" dirty="0"/>
              <a:t>For </a:t>
            </a:r>
            <a:r>
              <a:rPr lang="en-GB" sz="1600" b="1" dirty="0"/>
              <a:t>works for</a:t>
            </a:r>
            <a:r>
              <a:rPr lang="en-GB" sz="1600" b="0" dirty="0"/>
              <a:t>,</a:t>
            </a:r>
            <a:r>
              <a:rPr lang="en-GB" sz="1600" dirty="0"/>
              <a:t> we include the primary key </a:t>
            </a:r>
            <a:r>
              <a:rPr lang="en-GB" sz="1600" b="1" dirty="0"/>
              <a:t>number</a:t>
            </a:r>
            <a:r>
              <a:rPr lang="en-GB" sz="1600" dirty="0"/>
              <a:t> of the </a:t>
            </a:r>
            <a:r>
              <a:rPr lang="en-GB" sz="1600" b="1" dirty="0"/>
              <a:t>Department</a:t>
            </a:r>
            <a:r>
              <a:rPr lang="en-GB" sz="1600" dirty="0"/>
              <a:t> relation as foreign key in the </a:t>
            </a:r>
            <a:r>
              <a:rPr lang="en-GB" sz="1600" b="1" dirty="0"/>
              <a:t>Employee</a:t>
            </a:r>
            <a:r>
              <a:rPr lang="en-GB" sz="1600" dirty="0"/>
              <a:t> relation and call it </a:t>
            </a:r>
            <a:r>
              <a:rPr lang="en-GB" sz="1600" b="1" dirty="0"/>
              <a:t>dept number</a:t>
            </a:r>
            <a:r>
              <a:rPr lang="en-GB" sz="1600" dirty="0"/>
              <a:t>. </a:t>
            </a:r>
          </a:p>
          <a:p>
            <a:pPr marL="578358" lvl="1" indent="-285750">
              <a:buFont typeface="Wingdings" panose="05000000000000000000" pitchFamily="2" charset="2"/>
              <a:buChar char="§"/>
            </a:pPr>
            <a:r>
              <a:rPr lang="en-GB" sz="1600" dirty="0"/>
              <a:t>For </a:t>
            </a:r>
            <a:r>
              <a:rPr lang="en-GB" sz="1600" b="1" dirty="0"/>
              <a:t>controls</a:t>
            </a:r>
            <a:r>
              <a:rPr lang="en-GB" sz="1600" b="0" dirty="0"/>
              <a:t>,</a:t>
            </a:r>
            <a:r>
              <a:rPr lang="en-GB" sz="1600" dirty="0"/>
              <a:t> we include the primary key </a:t>
            </a:r>
            <a:r>
              <a:rPr lang="en-GB" sz="1600" b="1" dirty="0"/>
              <a:t>number</a:t>
            </a:r>
            <a:r>
              <a:rPr lang="en-GB" sz="1600" dirty="0"/>
              <a:t> of the </a:t>
            </a:r>
            <a:r>
              <a:rPr lang="en-GB" sz="1600" b="1" dirty="0"/>
              <a:t>Department</a:t>
            </a:r>
            <a:r>
              <a:rPr lang="en-GB" sz="1600" dirty="0"/>
              <a:t> relation as foreign key in the </a:t>
            </a:r>
            <a:r>
              <a:rPr lang="en-GB" sz="1600" b="1" dirty="0"/>
              <a:t>Project</a:t>
            </a:r>
            <a:r>
              <a:rPr lang="en-GB" sz="1600" dirty="0"/>
              <a:t> relation and call it </a:t>
            </a:r>
            <a:r>
              <a:rPr lang="en-GB" sz="1600" b="1" dirty="0"/>
              <a:t>dept number</a:t>
            </a:r>
            <a:r>
              <a:rPr lang="en-GB" sz="1600" dirty="0"/>
              <a:t>.</a:t>
            </a:r>
          </a:p>
          <a:p>
            <a:pPr marL="578358" lvl="1" indent="-285750">
              <a:buFont typeface="Wingdings" panose="05000000000000000000" pitchFamily="2" charset="2"/>
              <a:buChar char="§"/>
            </a:pPr>
            <a:r>
              <a:rPr lang="en-GB" sz="1600" dirty="0"/>
              <a:t>For </a:t>
            </a:r>
            <a:r>
              <a:rPr lang="en-GB" sz="1600" b="1" dirty="0"/>
              <a:t>supervises</a:t>
            </a:r>
            <a:r>
              <a:rPr lang="en-GB" sz="1600" b="0" dirty="0"/>
              <a:t>,</a:t>
            </a:r>
            <a:r>
              <a:rPr lang="en-GB" sz="1600" dirty="0"/>
              <a:t> we include the primary key </a:t>
            </a:r>
            <a:r>
              <a:rPr lang="en-GB" sz="1600" b="1" dirty="0"/>
              <a:t>SSN</a:t>
            </a:r>
            <a:r>
              <a:rPr lang="en-GB" sz="1600" dirty="0"/>
              <a:t> of the </a:t>
            </a:r>
            <a:r>
              <a:rPr lang="en-GB" sz="1600" b="1" dirty="0"/>
              <a:t>Employee</a:t>
            </a:r>
            <a:r>
              <a:rPr lang="en-GB" sz="1600" dirty="0"/>
              <a:t> relation as foreign key in the </a:t>
            </a:r>
            <a:r>
              <a:rPr lang="en-GB" sz="1600" b="1" dirty="0"/>
              <a:t>Employee</a:t>
            </a:r>
            <a:r>
              <a:rPr lang="en-GB" sz="1600" dirty="0"/>
              <a:t> relation and call it </a:t>
            </a:r>
            <a:r>
              <a:rPr lang="en-GB" sz="1600" b="1" dirty="0"/>
              <a:t>supervisor </a:t>
            </a:r>
            <a:r>
              <a:rPr lang="en-GB" sz="1600" b="1" dirty="0" err="1"/>
              <a:t>SSn</a:t>
            </a:r>
            <a:r>
              <a:rPr lang="en-GB" sz="1600" dirty="0"/>
              <a:t>.</a:t>
            </a:r>
          </a:p>
          <a:p>
            <a:endParaRPr lang="en-US" dirty="0"/>
          </a:p>
        </p:txBody>
      </p:sp>
      <p:graphicFrame>
        <p:nvGraphicFramePr>
          <p:cNvPr id="5" name="Content Placeholder 2">
            <a:extLst>
              <a:ext uri="{FF2B5EF4-FFF2-40B4-BE49-F238E27FC236}">
                <a16:creationId xmlns:a16="http://schemas.microsoft.com/office/drawing/2014/main" id="{E4EE06CA-E381-9B0C-E5C0-D57490EDFF03}"/>
              </a:ext>
            </a:extLst>
          </p:cNvPr>
          <p:cNvGraphicFramePr>
            <a:graphicFrameLocks/>
          </p:cNvGraphicFramePr>
          <p:nvPr>
            <p:extLst>
              <p:ext uri="{D42A27DB-BD31-4B8C-83A1-F6EECF244321}">
                <p14:modId xmlns:p14="http://schemas.microsoft.com/office/powerpoint/2010/main" val="1434195814"/>
              </p:ext>
            </p:extLst>
          </p:nvPr>
        </p:nvGraphicFramePr>
        <p:xfrm>
          <a:off x="1953827" y="3667432"/>
          <a:ext cx="8910818" cy="2555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58A873BE-A9B8-96EA-F8ED-11E4178B9CBF}"/>
              </a:ext>
            </a:extLst>
          </p:cNvPr>
          <p:cNvSpPr>
            <a:spLocks noGrp="1"/>
          </p:cNvSpPr>
          <p:nvPr>
            <p:ph type="ftr" sz="quarter" idx="11"/>
          </p:nvPr>
        </p:nvSpPr>
        <p:spPr/>
        <p:txBody>
          <a:bodyPr/>
          <a:lstStyle/>
          <a:p>
            <a:r>
              <a:rPr lang="en-US"/>
              <a:t>Eng. Aisha Al-Sadi | HTU | Al Hussein Technical University</a:t>
            </a:r>
          </a:p>
        </p:txBody>
      </p:sp>
      <p:sp>
        <p:nvSpPr>
          <p:cNvPr id="6" name="Slide Number Placeholder 5">
            <a:extLst>
              <a:ext uri="{FF2B5EF4-FFF2-40B4-BE49-F238E27FC236}">
                <a16:creationId xmlns:a16="http://schemas.microsoft.com/office/drawing/2014/main" id="{0FB9C32C-9B37-8B90-7545-1A3BD73940DD}"/>
              </a:ext>
            </a:extLst>
          </p:cNvPr>
          <p:cNvSpPr>
            <a:spLocks noGrp="1"/>
          </p:cNvSpPr>
          <p:nvPr>
            <p:ph type="sldNum" sz="quarter" idx="12"/>
          </p:nvPr>
        </p:nvSpPr>
        <p:spPr/>
        <p:txBody>
          <a:bodyPr/>
          <a:lstStyle/>
          <a:p>
            <a:fld id="{E6B03378-CDB7-40C1-827C-F54129224789}" type="slidenum">
              <a:rPr lang="en-US" smtClean="0"/>
              <a:t>18</a:t>
            </a:fld>
            <a:endParaRPr lang="en-US"/>
          </a:p>
        </p:txBody>
      </p:sp>
    </p:spTree>
    <p:extLst>
      <p:ext uri="{BB962C8B-B14F-4D97-AF65-F5344CB8AC3E}">
        <p14:creationId xmlns:p14="http://schemas.microsoft.com/office/powerpoint/2010/main" val="328489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2F6F-CF96-3DC5-B29A-4522098190E0}"/>
              </a:ext>
            </a:extLst>
          </p:cNvPr>
          <p:cNvSpPr>
            <a:spLocks noGrp="1"/>
          </p:cNvSpPr>
          <p:nvPr>
            <p:ph type="title"/>
          </p:nvPr>
        </p:nvSpPr>
        <p:spPr/>
        <p:txBody>
          <a:bodyPr/>
          <a:lstStyle/>
          <a:p>
            <a:r>
              <a:rPr lang="en-US" b="1" dirty="0"/>
              <a:t>Mapping – M:N Relations</a:t>
            </a:r>
            <a:endParaRPr lang="en-US" dirty="0"/>
          </a:p>
        </p:txBody>
      </p:sp>
      <p:sp>
        <p:nvSpPr>
          <p:cNvPr id="3" name="Content Placeholder 2">
            <a:extLst>
              <a:ext uri="{FF2B5EF4-FFF2-40B4-BE49-F238E27FC236}">
                <a16:creationId xmlns:a16="http://schemas.microsoft.com/office/drawing/2014/main" id="{AC8F0FCB-1391-D950-C41A-D0F351569480}"/>
              </a:ext>
            </a:extLst>
          </p:cNvPr>
          <p:cNvSpPr>
            <a:spLocks noGrp="1"/>
          </p:cNvSpPr>
          <p:nvPr>
            <p:ph idx="1"/>
          </p:nvPr>
        </p:nvSpPr>
        <p:spPr/>
        <p:txBody>
          <a:bodyPr/>
          <a:lstStyle/>
          <a:p>
            <a:pPr marL="344488" indent="-344488">
              <a:buFont typeface="Wingdings" panose="05000000000000000000" pitchFamily="2" charset="2"/>
              <a:buChar char="§"/>
            </a:pPr>
            <a:r>
              <a:rPr lang="en-US" b="1" dirty="0"/>
              <a:t>Example</a:t>
            </a:r>
            <a:r>
              <a:rPr lang="en-US" dirty="0"/>
              <a:t>: </a:t>
            </a:r>
            <a:r>
              <a:rPr lang="en-GB" dirty="0"/>
              <a:t>The M:N relationship type </a:t>
            </a:r>
            <a:r>
              <a:rPr lang="en-GB" b="1" dirty="0"/>
              <a:t>works on</a:t>
            </a:r>
            <a:r>
              <a:rPr lang="en-GB" dirty="0"/>
              <a:t> is mapped by creating a relation </a:t>
            </a:r>
            <a:r>
              <a:rPr lang="en-GB" b="1" dirty="0"/>
              <a:t>Employee Project</a:t>
            </a:r>
            <a:r>
              <a:rPr lang="en-GB" dirty="0"/>
              <a:t>.</a:t>
            </a:r>
          </a:p>
          <a:p>
            <a:pPr marL="344488" lvl="0" indent="-344488">
              <a:buFont typeface="Wingdings" panose="05000000000000000000" pitchFamily="2" charset="2"/>
              <a:buChar char="§"/>
            </a:pPr>
            <a:r>
              <a:rPr lang="en-GB" dirty="0"/>
              <a:t>The primary keys of the </a:t>
            </a:r>
            <a:r>
              <a:rPr lang="en-GB" b="1" dirty="0"/>
              <a:t>Project</a:t>
            </a:r>
            <a:r>
              <a:rPr lang="en-GB" dirty="0"/>
              <a:t> and </a:t>
            </a:r>
            <a:r>
              <a:rPr lang="en-GB" b="1" dirty="0"/>
              <a:t>Employee</a:t>
            </a:r>
            <a:r>
              <a:rPr lang="en-GB" dirty="0"/>
              <a:t> relations are included as foreign keys in </a:t>
            </a:r>
            <a:r>
              <a:rPr lang="en-GB" b="1" dirty="0"/>
              <a:t>Employee Project </a:t>
            </a:r>
            <a:r>
              <a:rPr lang="en-GB" dirty="0"/>
              <a:t>and renamed </a:t>
            </a:r>
            <a:r>
              <a:rPr lang="en-GB" b="1" dirty="0" err="1"/>
              <a:t>proj</a:t>
            </a:r>
            <a:r>
              <a:rPr lang="en-GB" b="1" dirty="0"/>
              <a:t> number</a:t>
            </a:r>
            <a:r>
              <a:rPr lang="en-GB" dirty="0"/>
              <a:t> and </a:t>
            </a:r>
            <a:r>
              <a:rPr lang="en-GB" b="1" dirty="0"/>
              <a:t>emp SSN</a:t>
            </a:r>
            <a:r>
              <a:rPr lang="en-GB" dirty="0"/>
              <a:t>, respectively. </a:t>
            </a:r>
          </a:p>
          <a:p>
            <a:pPr marL="344488" lvl="0" indent="-344488">
              <a:buFont typeface="Wingdings" panose="05000000000000000000" pitchFamily="2" charset="2"/>
              <a:buChar char="§"/>
            </a:pPr>
            <a:r>
              <a:rPr lang="en-GB" dirty="0"/>
              <a:t>Attribute </a:t>
            </a:r>
            <a:r>
              <a:rPr lang="en-GB" b="1" dirty="0"/>
              <a:t>hours</a:t>
            </a:r>
            <a:r>
              <a:rPr lang="en-GB" dirty="0"/>
              <a:t> in </a:t>
            </a:r>
            <a:r>
              <a:rPr lang="en-GB" b="1" dirty="0"/>
              <a:t>Employee Project </a:t>
            </a:r>
            <a:r>
              <a:rPr lang="en-GB" dirty="0"/>
              <a:t>represents the </a:t>
            </a:r>
            <a:r>
              <a:rPr lang="en-GB" b="1" dirty="0"/>
              <a:t>hours</a:t>
            </a:r>
            <a:r>
              <a:rPr lang="en-GB" dirty="0"/>
              <a:t> attribute of the relationship type. The primary key of the </a:t>
            </a:r>
            <a:r>
              <a:rPr lang="en-GB" b="1" dirty="0"/>
              <a:t>Employee Project</a:t>
            </a:r>
            <a:r>
              <a:rPr lang="en-GB" dirty="0"/>
              <a:t> relation is the combination of the foreign key attributes {</a:t>
            </a:r>
            <a:r>
              <a:rPr lang="en-GB" b="1" dirty="0" err="1"/>
              <a:t>proj</a:t>
            </a:r>
            <a:r>
              <a:rPr lang="en-GB" b="1" dirty="0"/>
              <a:t> number</a:t>
            </a:r>
            <a:r>
              <a:rPr lang="en-GB" b="0" dirty="0"/>
              <a:t>,</a:t>
            </a:r>
            <a:r>
              <a:rPr lang="en-GB" dirty="0"/>
              <a:t> </a:t>
            </a:r>
            <a:r>
              <a:rPr lang="en-GB" b="1" dirty="0"/>
              <a:t>emp SSN</a:t>
            </a:r>
            <a:r>
              <a:rPr lang="en-GB" dirty="0"/>
              <a:t>}.</a:t>
            </a:r>
          </a:p>
          <a:p>
            <a:pPr marL="344488" indent="-344488">
              <a:buFont typeface="Wingdings" panose="05000000000000000000" pitchFamily="2" charset="2"/>
              <a:buChar char="§"/>
            </a:pPr>
            <a:endParaRPr lang="en-US" dirty="0"/>
          </a:p>
        </p:txBody>
      </p:sp>
      <p:grpSp>
        <p:nvGrpSpPr>
          <p:cNvPr id="4" name="Group 3">
            <a:extLst>
              <a:ext uri="{FF2B5EF4-FFF2-40B4-BE49-F238E27FC236}">
                <a16:creationId xmlns:a16="http://schemas.microsoft.com/office/drawing/2014/main" id="{48705184-D7F9-AF30-7A5A-5187D7D223A3}"/>
              </a:ext>
            </a:extLst>
          </p:cNvPr>
          <p:cNvGrpSpPr/>
          <p:nvPr/>
        </p:nvGrpSpPr>
        <p:grpSpPr>
          <a:xfrm>
            <a:off x="1332271" y="4992774"/>
            <a:ext cx="10058399" cy="431730"/>
            <a:chOff x="0" y="3004422"/>
            <a:chExt cx="10058399" cy="431730"/>
          </a:xfrm>
        </p:grpSpPr>
        <p:sp>
          <p:nvSpPr>
            <p:cNvPr id="5" name="Rectangle: Rounded Corners 4">
              <a:extLst>
                <a:ext uri="{FF2B5EF4-FFF2-40B4-BE49-F238E27FC236}">
                  <a16:creationId xmlns:a16="http://schemas.microsoft.com/office/drawing/2014/main" id="{0DF6947C-6AB4-692F-E5AC-1400842DF03D}"/>
                </a:ext>
              </a:extLst>
            </p:cNvPr>
            <p:cNvSpPr/>
            <p:nvPr/>
          </p:nvSpPr>
          <p:spPr>
            <a:xfrm>
              <a:off x="0" y="300442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61CBEFFC-F474-3633-EDFD-AA86033D6CBF}"/>
                </a:ext>
              </a:extLst>
            </p:cNvPr>
            <p:cNvSpPr txBox="1"/>
            <p:nvPr/>
          </p:nvSpPr>
          <p:spPr>
            <a:xfrm>
              <a:off x="21075" y="302549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Employee Project (</a:t>
              </a:r>
              <a:r>
                <a:rPr lang="en-US" sz="1800" u="sng" kern="1200" dirty="0">
                  <a:highlight>
                    <a:srgbClr val="800000"/>
                  </a:highlight>
                </a:rPr>
                <a:t>Emp SSN, </a:t>
              </a:r>
              <a:r>
                <a:rPr lang="en-US" sz="1800" u="sng" kern="1200" dirty="0" err="1">
                  <a:highlight>
                    <a:srgbClr val="800000"/>
                  </a:highlight>
                </a:rPr>
                <a:t>Proj</a:t>
              </a:r>
              <a:r>
                <a:rPr lang="en-US" sz="1800" u="sng" kern="1200" dirty="0">
                  <a:highlight>
                    <a:srgbClr val="800000"/>
                  </a:highlight>
                </a:rPr>
                <a:t> number</a:t>
              </a:r>
              <a:r>
                <a:rPr lang="en-US" sz="1800" u="none" kern="1200" dirty="0"/>
                <a:t>, hours</a:t>
              </a:r>
              <a:r>
                <a:rPr lang="en-US" sz="1800" kern="1200" dirty="0"/>
                <a:t>)</a:t>
              </a:r>
            </a:p>
          </p:txBody>
        </p:sp>
      </p:grpSp>
      <p:sp>
        <p:nvSpPr>
          <p:cNvPr id="7" name="Footer Placeholder 6">
            <a:extLst>
              <a:ext uri="{FF2B5EF4-FFF2-40B4-BE49-F238E27FC236}">
                <a16:creationId xmlns:a16="http://schemas.microsoft.com/office/drawing/2014/main" id="{2D4EB2AC-A649-C561-DE1E-154944865E23}"/>
              </a:ext>
            </a:extLst>
          </p:cNvPr>
          <p:cNvSpPr>
            <a:spLocks noGrp="1"/>
          </p:cNvSpPr>
          <p:nvPr>
            <p:ph type="ftr" sz="quarter" idx="11"/>
          </p:nvPr>
        </p:nvSpPr>
        <p:spPr/>
        <p:txBody>
          <a:bodyPr/>
          <a:lstStyle/>
          <a:p>
            <a:r>
              <a:rPr lang="en-US"/>
              <a:t>Eng. Aisha Al-Sadi | HTU | Al Hussein Technical University</a:t>
            </a:r>
          </a:p>
        </p:txBody>
      </p:sp>
      <p:sp>
        <p:nvSpPr>
          <p:cNvPr id="8" name="Slide Number Placeholder 7">
            <a:extLst>
              <a:ext uri="{FF2B5EF4-FFF2-40B4-BE49-F238E27FC236}">
                <a16:creationId xmlns:a16="http://schemas.microsoft.com/office/drawing/2014/main" id="{E4742FCD-504D-39E5-455D-A28DFB29CBE3}"/>
              </a:ext>
            </a:extLst>
          </p:cNvPr>
          <p:cNvSpPr>
            <a:spLocks noGrp="1"/>
          </p:cNvSpPr>
          <p:nvPr>
            <p:ph type="sldNum" sz="quarter" idx="12"/>
          </p:nvPr>
        </p:nvSpPr>
        <p:spPr/>
        <p:txBody>
          <a:bodyPr/>
          <a:lstStyle/>
          <a:p>
            <a:fld id="{E6B03378-CDB7-40C1-827C-F54129224789}" type="slidenum">
              <a:rPr lang="en-US" smtClean="0"/>
              <a:t>19</a:t>
            </a:fld>
            <a:endParaRPr lang="en-US"/>
          </a:p>
        </p:txBody>
      </p:sp>
    </p:spTree>
    <p:extLst>
      <p:ext uri="{BB962C8B-B14F-4D97-AF65-F5344CB8AC3E}">
        <p14:creationId xmlns:p14="http://schemas.microsoft.com/office/powerpoint/2010/main" val="2580574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91F0-A9B9-1DC3-9896-2CD0A7E56BCA}"/>
              </a:ext>
            </a:extLst>
          </p:cNvPr>
          <p:cNvSpPr>
            <a:spLocks noGrp="1"/>
          </p:cNvSpPr>
          <p:nvPr>
            <p:ph type="title"/>
          </p:nvPr>
        </p:nvSpPr>
        <p:spPr/>
        <p:txBody>
          <a:bodyPr/>
          <a:lstStyle/>
          <a:p>
            <a:r>
              <a:rPr lang="en-US" b="1" dirty="0"/>
              <a:t>Finally - Database Schema</a:t>
            </a:r>
          </a:p>
        </p:txBody>
      </p:sp>
      <p:grpSp>
        <p:nvGrpSpPr>
          <p:cNvPr id="4" name="Group 3">
            <a:extLst>
              <a:ext uri="{FF2B5EF4-FFF2-40B4-BE49-F238E27FC236}">
                <a16:creationId xmlns:a16="http://schemas.microsoft.com/office/drawing/2014/main" id="{8D5999F9-3F64-AE81-43A0-0212B59CA999}"/>
              </a:ext>
            </a:extLst>
          </p:cNvPr>
          <p:cNvGrpSpPr/>
          <p:nvPr/>
        </p:nvGrpSpPr>
        <p:grpSpPr>
          <a:xfrm>
            <a:off x="1066800" y="2004210"/>
            <a:ext cx="10058399" cy="431730"/>
            <a:chOff x="0" y="586572"/>
            <a:chExt cx="10058399" cy="431730"/>
          </a:xfrm>
        </p:grpSpPr>
        <p:sp>
          <p:nvSpPr>
            <p:cNvPr id="20" name="Rectangle: Rounded Corners 19">
              <a:extLst>
                <a:ext uri="{FF2B5EF4-FFF2-40B4-BE49-F238E27FC236}">
                  <a16:creationId xmlns:a16="http://schemas.microsoft.com/office/drawing/2014/main" id="{E2EC091C-E7C9-A1E6-FCF8-5F86EF8F669C}"/>
                </a:ext>
              </a:extLst>
            </p:cNvPr>
            <p:cNvSpPr/>
            <p:nvPr/>
          </p:nvSpPr>
          <p:spPr>
            <a:xfrm>
              <a:off x="0" y="58657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ectangle: Rounded Corners 4">
              <a:extLst>
                <a:ext uri="{FF2B5EF4-FFF2-40B4-BE49-F238E27FC236}">
                  <a16:creationId xmlns:a16="http://schemas.microsoft.com/office/drawing/2014/main" id="{6D12EEC2-0872-D307-DBDB-6C05A62348A2}"/>
                </a:ext>
              </a:extLst>
            </p:cNvPr>
            <p:cNvSpPr txBox="1"/>
            <p:nvPr/>
          </p:nvSpPr>
          <p:spPr>
            <a:xfrm>
              <a:off x="21075" y="60764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Employee (</a:t>
              </a:r>
              <a:r>
                <a:rPr lang="en-US" sz="1800" u="sng" kern="1200" dirty="0"/>
                <a:t>SSN</a:t>
              </a:r>
              <a:r>
                <a:rPr lang="en-US" sz="1800" kern="1200" dirty="0"/>
                <a:t>, </a:t>
              </a:r>
              <a:r>
                <a:rPr lang="en-US" sz="1800" kern="1200" dirty="0" err="1"/>
                <a:t>fname</a:t>
              </a:r>
              <a:r>
                <a:rPr lang="en-US" sz="1800" kern="1200" dirty="0"/>
                <a:t>, </a:t>
              </a:r>
              <a:r>
                <a:rPr lang="en-US" sz="1800" kern="1200" dirty="0" err="1"/>
                <a:t>mname</a:t>
              </a:r>
              <a:r>
                <a:rPr lang="en-US" sz="1800" kern="1200" dirty="0"/>
                <a:t>, </a:t>
              </a:r>
              <a:r>
                <a:rPr lang="en-US" sz="1800" kern="1200" dirty="0" err="1"/>
                <a:t>lname</a:t>
              </a:r>
              <a:r>
                <a:rPr lang="en-US" sz="1800" kern="1200" dirty="0"/>
                <a:t>, birthdate, salary, gender, </a:t>
              </a:r>
              <a:r>
                <a:rPr lang="en-US" sz="1800" kern="1200" dirty="0">
                  <a:highlight>
                    <a:srgbClr val="000080"/>
                  </a:highlight>
                </a:rPr>
                <a:t>dept number, supervisor SSN</a:t>
              </a:r>
              <a:r>
                <a:rPr lang="en-US" sz="1800" kern="1200" dirty="0"/>
                <a:t>)</a:t>
              </a:r>
            </a:p>
          </p:txBody>
        </p:sp>
      </p:grpSp>
      <p:grpSp>
        <p:nvGrpSpPr>
          <p:cNvPr id="5" name="Group 4">
            <a:extLst>
              <a:ext uri="{FF2B5EF4-FFF2-40B4-BE49-F238E27FC236}">
                <a16:creationId xmlns:a16="http://schemas.microsoft.com/office/drawing/2014/main" id="{3F5C827D-C313-F019-9B93-7656215F040B}"/>
              </a:ext>
            </a:extLst>
          </p:cNvPr>
          <p:cNvGrpSpPr/>
          <p:nvPr/>
        </p:nvGrpSpPr>
        <p:grpSpPr>
          <a:xfrm>
            <a:off x="1066800" y="2487780"/>
            <a:ext cx="10058399" cy="431730"/>
            <a:chOff x="0" y="1070142"/>
            <a:chExt cx="10058399" cy="431730"/>
          </a:xfrm>
        </p:grpSpPr>
        <p:sp>
          <p:nvSpPr>
            <p:cNvPr id="18" name="Rectangle: Rounded Corners 17">
              <a:extLst>
                <a:ext uri="{FF2B5EF4-FFF2-40B4-BE49-F238E27FC236}">
                  <a16:creationId xmlns:a16="http://schemas.microsoft.com/office/drawing/2014/main" id="{E9D3C62D-C946-2E3F-8696-6995CF0D194F}"/>
                </a:ext>
              </a:extLst>
            </p:cNvPr>
            <p:cNvSpPr/>
            <p:nvPr/>
          </p:nvSpPr>
          <p:spPr>
            <a:xfrm>
              <a:off x="0" y="107014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ectangle: Rounded Corners 6">
              <a:extLst>
                <a:ext uri="{FF2B5EF4-FFF2-40B4-BE49-F238E27FC236}">
                  <a16:creationId xmlns:a16="http://schemas.microsoft.com/office/drawing/2014/main" id="{DCFEF9A5-A246-617D-9194-CD7D5AF3CFAB}"/>
                </a:ext>
              </a:extLst>
            </p:cNvPr>
            <p:cNvSpPr txBox="1"/>
            <p:nvPr/>
          </p:nvSpPr>
          <p:spPr>
            <a:xfrm>
              <a:off x="21075" y="109121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Department (</a:t>
              </a:r>
              <a:r>
                <a:rPr lang="en-US" sz="1800" u="sng" kern="1200" dirty="0"/>
                <a:t>number</a:t>
              </a:r>
              <a:r>
                <a:rPr lang="en-US" sz="1800" kern="1200" dirty="0"/>
                <a:t>, name, start date, </a:t>
              </a:r>
              <a:r>
                <a:rPr lang="en-US" sz="1800" kern="1200" dirty="0">
                  <a:highlight>
                    <a:srgbClr val="000080"/>
                  </a:highlight>
                </a:rPr>
                <a:t>manager SSN</a:t>
              </a:r>
              <a:r>
                <a:rPr lang="en-US" sz="1800" kern="1200" dirty="0"/>
                <a:t>)</a:t>
              </a:r>
            </a:p>
          </p:txBody>
        </p:sp>
      </p:grpSp>
      <p:grpSp>
        <p:nvGrpSpPr>
          <p:cNvPr id="6" name="Group 5">
            <a:extLst>
              <a:ext uri="{FF2B5EF4-FFF2-40B4-BE49-F238E27FC236}">
                <a16:creationId xmlns:a16="http://schemas.microsoft.com/office/drawing/2014/main" id="{91A3F3F2-A406-4105-A1AB-500B327021FE}"/>
              </a:ext>
            </a:extLst>
          </p:cNvPr>
          <p:cNvGrpSpPr/>
          <p:nvPr/>
        </p:nvGrpSpPr>
        <p:grpSpPr>
          <a:xfrm>
            <a:off x="1066800" y="2971350"/>
            <a:ext cx="10058399" cy="431730"/>
            <a:chOff x="0" y="1553712"/>
            <a:chExt cx="10058399" cy="431730"/>
          </a:xfrm>
        </p:grpSpPr>
        <p:sp>
          <p:nvSpPr>
            <p:cNvPr id="16" name="Rectangle: Rounded Corners 15">
              <a:extLst>
                <a:ext uri="{FF2B5EF4-FFF2-40B4-BE49-F238E27FC236}">
                  <a16:creationId xmlns:a16="http://schemas.microsoft.com/office/drawing/2014/main" id="{F99CB629-9A97-1466-AA88-18DEFA9605C7}"/>
                </a:ext>
              </a:extLst>
            </p:cNvPr>
            <p:cNvSpPr/>
            <p:nvPr/>
          </p:nvSpPr>
          <p:spPr>
            <a:xfrm>
              <a:off x="0" y="155371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Rectangle: Rounded Corners 8">
              <a:extLst>
                <a:ext uri="{FF2B5EF4-FFF2-40B4-BE49-F238E27FC236}">
                  <a16:creationId xmlns:a16="http://schemas.microsoft.com/office/drawing/2014/main" id="{EE8E1005-0085-C6E1-AC39-84A221D0EDDF}"/>
                </a:ext>
              </a:extLst>
            </p:cNvPr>
            <p:cNvSpPr txBox="1"/>
            <p:nvPr/>
          </p:nvSpPr>
          <p:spPr>
            <a:xfrm>
              <a:off x="21075" y="157478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Depart loc (</a:t>
              </a:r>
              <a:r>
                <a:rPr lang="en-US" sz="1800" u="sng" kern="1200" dirty="0">
                  <a:highlight>
                    <a:srgbClr val="000080"/>
                  </a:highlight>
                </a:rPr>
                <a:t>dept number</a:t>
              </a:r>
              <a:r>
                <a:rPr lang="en-US" sz="1800" kern="1200" dirty="0"/>
                <a:t>, </a:t>
              </a:r>
              <a:r>
                <a:rPr lang="en-US" sz="1800" u="sng" kern="1200" dirty="0"/>
                <a:t>location</a:t>
              </a:r>
              <a:r>
                <a:rPr lang="en-US" sz="1800" kern="1200" dirty="0"/>
                <a:t>)</a:t>
              </a:r>
            </a:p>
          </p:txBody>
        </p:sp>
      </p:grpSp>
      <p:grpSp>
        <p:nvGrpSpPr>
          <p:cNvPr id="7" name="Group 6">
            <a:extLst>
              <a:ext uri="{FF2B5EF4-FFF2-40B4-BE49-F238E27FC236}">
                <a16:creationId xmlns:a16="http://schemas.microsoft.com/office/drawing/2014/main" id="{D8C6D852-5FF0-B06E-E722-9466CDDAF086}"/>
              </a:ext>
            </a:extLst>
          </p:cNvPr>
          <p:cNvGrpSpPr/>
          <p:nvPr/>
        </p:nvGrpSpPr>
        <p:grpSpPr>
          <a:xfrm>
            <a:off x="1066800" y="3454920"/>
            <a:ext cx="10058399" cy="431730"/>
            <a:chOff x="0" y="2037282"/>
            <a:chExt cx="10058399" cy="431730"/>
          </a:xfrm>
        </p:grpSpPr>
        <p:sp>
          <p:nvSpPr>
            <p:cNvPr id="14" name="Rectangle: Rounded Corners 13">
              <a:extLst>
                <a:ext uri="{FF2B5EF4-FFF2-40B4-BE49-F238E27FC236}">
                  <a16:creationId xmlns:a16="http://schemas.microsoft.com/office/drawing/2014/main" id="{6FD16A69-5C37-EC4F-882A-08F7D350B238}"/>
                </a:ext>
              </a:extLst>
            </p:cNvPr>
            <p:cNvSpPr/>
            <p:nvPr/>
          </p:nvSpPr>
          <p:spPr>
            <a:xfrm>
              <a:off x="0" y="203728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ectangle: Rounded Corners 10">
              <a:extLst>
                <a:ext uri="{FF2B5EF4-FFF2-40B4-BE49-F238E27FC236}">
                  <a16:creationId xmlns:a16="http://schemas.microsoft.com/office/drawing/2014/main" id="{ACADBF67-875F-010D-C47F-8C4D7FC282CD}"/>
                </a:ext>
              </a:extLst>
            </p:cNvPr>
            <p:cNvSpPr txBox="1"/>
            <p:nvPr/>
          </p:nvSpPr>
          <p:spPr>
            <a:xfrm>
              <a:off x="21075" y="205835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Project (</a:t>
              </a:r>
              <a:r>
                <a:rPr lang="en-US" sz="1800" u="sng" kern="1200" dirty="0"/>
                <a:t>number</a:t>
              </a:r>
              <a:r>
                <a:rPr lang="en-US" sz="1800" kern="1200" dirty="0"/>
                <a:t>, name, location, </a:t>
              </a:r>
              <a:r>
                <a:rPr lang="en-US" sz="1800" kern="1200" dirty="0">
                  <a:highlight>
                    <a:srgbClr val="000080"/>
                  </a:highlight>
                </a:rPr>
                <a:t>dept number</a:t>
              </a:r>
              <a:r>
                <a:rPr lang="en-US" sz="1800" kern="1200" dirty="0"/>
                <a:t>)</a:t>
              </a:r>
            </a:p>
          </p:txBody>
        </p:sp>
      </p:grpSp>
      <p:grpSp>
        <p:nvGrpSpPr>
          <p:cNvPr id="8" name="Group 7">
            <a:extLst>
              <a:ext uri="{FF2B5EF4-FFF2-40B4-BE49-F238E27FC236}">
                <a16:creationId xmlns:a16="http://schemas.microsoft.com/office/drawing/2014/main" id="{F0841D85-6C92-3B41-35B9-4FCC2C0E1073}"/>
              </a:ext>
            </a:extLst>
          </p:cNvPr>
          <p:cNvGrpSpPr/>
          <p:nvPr/>
        </p:nvGrpSpPr>
        <p:grpSpPr>
          <a:xfrm>
            <a:off x="1066800" y="3938490"/>
            <a:ext cx="10058399" cy="431730"/>
            <a:chOff x="0" y="2520852"/>
            <a:chExt cx="10058399" cy="431730"/>
          </a:xfrm>
        </p:grpSpPr>
        <p:sp>
          <p:nvSpPr>
            <p:cNvPr id="12" name="Rectangle: Rounded Corners 11">
              <a:extLst>
                <a:ext uri="{FF2B5EF4-FFF2-40B4-BE49-F238E27FC236}">
                  <a16:creationId xmlns:a16="http://schemas.microsoft.com/office/drawing/2014/main" id="{CDEA266A-9004-CE23-65BD-D010D736F6BE}"/>
                </a:ext>
              </a:extLst>
            </p:cNvPr>
            <p:cNvSpPr/>
            <p:nvPr/>
          </p:nvSpPr>
          <p:spPr>
            <a:xfrm>
              <a:off x="0" y="252085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ectangle: Rounded Corners 12">
              <a:extLst>
                <a:ext uri="{FF2B5EF4-FFF2-40B4-BE49-F238E27FC236}">
                  <a16:creationId xmlns:a16="http://schemas.microsoft.com/office/drawing/2014/main" id="{21F77753-A1D6-E5BD-193C-B775EBB20C78}"/>
                </a:ext>
              </a:extLst>
            </p:cNvPr>
            <p:cNvSpPr txBox="1"/>
            <p:nvPr/>
          </p:nvSpPr>
          <p:spPr>
            <a:xfrm>
              <a:off x="21075" y="254192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Dependent (</a:t>
              </a:r>
              <a:r>
                <a:rPr lang="en-US" sz="1800" u="sng" kern="1200" dirty="0"/>
                <a:t>name</a:t>
              </a:r>
              <a:r>
                <a:rPr lang="en-US" sz="1800" kern="1200" dirty="0"/>
                <a:t>, </a:t>
              </a:r>
              <a:r>
                <a:rPr lang="en-US" sz="1800" u="sng" kern="1200" dirty="0">
                  <a:highlight>
                    <a:srgbClr val="000080"/>
                  </a:highlight>
                </a:rPr>
                <a:t>Employee SSN</a:t>
              </a:r>
              <a:r>
                <a:rPr lang="en-US" sz="1800" kern="1200" dirty="0"/>
                <a:t>, birthdate, gender, relationship)</a:t>
              </a:r>
            </a:p>
          </p:txBody>
        </p:sp>
      </p:grpSp>
      <p:grpSp>
        <p:nvGrpSpPr>
          <p:cNvPr id="9" name="Group 8">
            <a:extLst>
              <a:ext uri="{FF2B5EF4-FFF2-40B4-BE49-F238E27FC236}">
                <a16:creationId xmlns:a16="http://schemas.microsoft.com/office/drawing/2014/main" id="{C6AF12B6-9D2E-F126-85DC-EAB311E16E95}"/>
              </a:ext>
            </a:extLst>
          </p:cNvPr>
          <p:cNvGrpSpPr/>
          <p:nvPr/>
        </p:nvGrpSpPr>
        <p:grpSpPr>
          <a:xfrm>
            <a:off x="1066800" y="4422060"/>
            <a:ext cx="10058399" cy="431730"/>
            <a:chOff x="0" y="3004422"/>
            <a:chExt cx="10058399" cy="431730"/>
          </a:xfrm>
        </p:grpSpPr>
        <p:sp>
          <p:nvSpPr>
            <p:cNvPr id="10" name="Rectangle: Rounded Corners 9">
              <a:extLst>
                <a:ext uri="{FF2B5EF4-FFF2-40B4-BE49-F238E27FC236}">
                  <a16:creationId xmlns:a16="http://schemas.microsoft.com/office/drawing/2014/main" id="{6E5EEF1C-ED08-4A3C-37E2-FD290C259CA8}"/>
                </a:ext>
              </a:extLst>
            </p:cNvPr>
            <p:cNvSpPr/>
            <p:nvPr/>
          </p:nvSpPr>
          <p:spPr>
            <a:xfrm>
              <a:off x="0" y="300442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ectangle: Rounded Corners 14">
              <a:extLst>
                <a:ext uri="{FF2B5EF4-FFF2-40B4-BE49-F238E27FC236}">
                  <a16:creationId xmlns:a16="http://schemas.microsoft.com/office/drawing/2014/main" id="{94A676DE-271E-8F9C-2F40-31AE157D20C2}"/>
                </a:ext>
              </a:extLst>
            </p:cNvPr>
            <p:cNvSpPr txBox="1"/>
            <p:nvPr/>
          </p:nvSpPr>
          <p:spPr>
            <a:xfrm>
              <a:off x="21075" y="302549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Employee Project (</a:t>
              </a:r>
              <a:r>
                <a:rPr lang="en-US" sz="1800" u="sng" kern="1200" dirty="0">
                  <a:highlight>
                    <a:srgbClr val="000080"/>
                  </a:highlight>
                </a:rPr>
                <a:t>Emp SSN, </a:t>
              </a:r>
              <a:r>
                <a:rPr lang="en-US" sz="1800" u="sng" kern="1200" dirty="0" err="1">
                  <a:highlight>
                    <a:srgbClr val="000080"/>
                  </a:highlight>
                </a:rPr>
                <a:t>Proj</a:t>
              </a:r>
              <a:r>
                <a:rPr lang="en-US" sz="1800" u="sng" kern="1200" dirty="0">
                  <a:highlight>
                    <a:srgbClr val="000080"/>
                  </a:highlight>
                </a:rPr>
                <a:t> number</a:t>
              </a:r>
              <a:r>
                <a:rPr lang="en-US" sz="1800" u="none" kern="1200" dirty="0"/>
                <a:t>, hours</a:t>
              </a:r>
              <a:r>
                <a:rPr lang="en-US" sz="1800" kern="1200" dirty="0"/>
                <a:t>)</a:t>
              </a:r>
            </a:p>
          </p:txBody>
        </p:sp>
      </p:grpSp>
      <p:sp>
        <p:nvSpPr>
          <p:cNvPr id="23" name="TextBox 22">
            <a:extLst>
              <a:ext uri="{FF2B5EF4-FFF2-40B4-BE49-F238E27FC236}">
                <a16:creationId xmlns:a16="http://schemas.microsoft.com/office/drawing/2014/main" id="{8B664949-5102-E160-70E7-6BF3D326A7F1}"/>
              </a:ext>
            </a:extLst>
          </p:cNvPr>
          <p:cNvSpPr txBox="1"/>
          <p:nvPr/>
        </p:nvSpPr>
        <p:spPr>
          <a:xfrm>
            <a:off x="1097280" y="5281222"/>
            <a:ext cx="8803804" cy="369332"/>
          </a:xfrm>
          <a:prstGeom prst="rect">
            <a:avLst/>
          </a:prstGeom>
          <a:noFill/>
        </p:spPr>
        <p:txBody>
          <a:bodyPr wrap="square">
            <a:spAutoFit/>
          </a:bodyPr>
          <a:lstStyle/>
          <a:p>
            <a:r>
              <a:rPr lang="en-US" u="sng" dirty="0"/>
              <a:t>Note</a:t>
            </a:r>
            <a:r>
              <a:rPr lang="en-US" dirty="0"/>
              <a:t>: Primary keys are underlined, and foreign keys are highlighted in dark blue </a:t>
            </a:r>
            <a:endParaRPr lang="en-GB" dirty="0"/>
          </a:p>
        </p:txBody>
      </p:sp>
      <p:sp>
        <p:nvSpPr>
          <p:cNvPr id="3" name="Footer Placeholder 2">
            <a:extLst>
              <a:ext uri="{FF2B5EF4-FFF2-40B4-BE49-F238E27FC236}">
                <a16:creationId xmlns:a16="http://schemas.microsoft.com/office/drawing/2014/main" id="{625512FC-32A6-1EA6-BDC7-8595A139225D}"/>
              </a:ext>
            </a:extLst>
          </p:cNvPr>
          <p:cNvSpPr>
            <a:spLocks noGrp="1"/>
          </p:cNvSpPr>
          <p:nvPr>
            <p:ph type="ftr" sz="quarter" idx="11"/>
          </p:nvPr>
        </p:nvSpPr>
        <p:spPr/>
        <p:txBody>
          <a:bodyPr/>
          <a:lstStyle/>
          <a:p>
            <a:r>
              <a:rPr lang="en-US"/>
              <a:t>Eng. Aisha Al-Sadi | HTU | Al Hussein Technical University</a:t>
            </a:r>
          </a:p>
        </p:txBody>
      </p:sp>
      <p:sp>
        <p:nvSpPr>
          <p:cNvPr id="22" name="Slide Number Placeholder 21">
            <a:extLst>
              <a:ext uri="{FF2B5EF4-FFF2-40B4-BE49-F238E27FC236}">
                <a16:creationId xmlns:a16="http://schemas.microsoft.com/office/drawing/2014/main" id="{BF75B724-8470-8CD6-35C7-53F3C7249F0B}"/>
              </a:ext>
            </a:extLst>
          </p:cNvPr>
          <p:cNvSpPr>
            <a:spLocks noGrp="1"/>
          </p:cNvSpPr>
          <p:nvPr>
            <p:ph type="sldNum" sz="quarter" idx="12"/>
          </p:nvPr>
        </p:nvSpPr>
        <p:spPr/>
        <p:txBody>
          <a:bodyPr/>
          <a:lstStyle/>
          <a:p>
            <a:fld id="{E6B03378-CDB7-40C1-827C-F54129224789}" type="slidenum">
              <a:rPr lang="en-US" smtClean="0"/>
              <a:t>20</a:t>
            </a:fld>
            <a:endParaRPr lang="en-US"/>
          </a:p>
        </p:txBody>
      </p:sp>
    </p:spTree>
    <p:extLst>
      <p:ext uri="{BB962C8B-B14F-4D97-AF65-F5344CB8AC3E}">
        <p14:creationId xmlns:p14="http://schemas.microsoft.com/office/powerpoint/2010/main" val="3616216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91F0-A9B9-1DC3-9896-2CD0A7E56BCA}"/>
              </a:ext>
            </a:extLst>
          </p:cNvPr>
          <p:cNvSpPr>
            <a:spLocks noGrp="1"/>
          </p:cNvSpPr>
          <p:nvPr>
            <p:ph type="title"/>
          </p:nvPr>
        </p:nvSpPr>
        <p:spPr/>
        <p:txBody>
          <a:bodyPr/>
          <a:lstStyle/>
          <a:p>
            <a:r>
              <a:rPr lang="en-US" b="1" dirty="0"/>
              <a:t>Finally - Database Schema</a:t>
            </a:r>
          </a:p>
        </p:txBody>
      </p:sp>
      <p:grpSp>
        <p:nvGrpSpPr>
          <p:cNvPr id="4" name="Group 3">
            <a:extLst>
              <a:ext uri="{FF2B5EF4-FFF2-40B4-BE49-F238E27FC236}">
                <a16:creationId xmlns:a16="http://schemas.microsoft.com/office/drawing/2014/main" id="{8D5999F9-3F64-AE81-43A0-0212B59CA999}"/>
              </a:ext>
            </a:extLst>
          </p:cNvPr>
          <p:cNvGrpSpPr/>
          <p:nvPr/>
        </p:nvGrpSpPr>
        <p:grpSpPr>
          <a:xfrm>
            <a:off x="1066800" y="2004210"/>
            <a:ext cx="10058399" cy="431730"/>
            <a:chOff x="0" y="586572"/>
            <a:chExt cx="10058399" cy="431730"/>
          </a:xfrm>
        </p:grpSpPr>
        <p:sp>
          <p:nvSpPr>
            <p:cNvPr id="20" name="Rectangle: Rounded Corners 19">
              <a:extLst>
                <a:ext uri="{FF2B5EF4-FFF2-40B4-BE49-F238E27FC236}">
                  <a16:creationId xmlns:a16="http://schemas.microsoft.com/office/drawing/2014/main" id="{E2EC091C-E7C9-A1E6-FCF8-5F86EF8F669C}"/>
                </a:ext>
              </a:extLst>
            </p:cNvPr>
            <p:cNvSpPr/>
            <p:nvPr/>
          </p:nvSpPr>
          <p:spPr>
            <a:xfrm>
              <a:off x="0" y="58657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ectangle: Rounded Corners 4">
              <a:extLst>
                <a:ext uri="{FF2B5EF4-FFF2-40B4-BE49-F238E27FC236}">
                  <a16:creationId xmlns:a16="http://schemas.microsoft.com/office/drawing/2014/main" id="{6D12EEC2-0872-D307-DBDB-6C05A62348A2}"/>
                </a:ext>
              </a:extLst>
            </p:cNvPr>
            <p:cNvSpPr txBox="1"/>
            <p:nvPr/>
          </p:nvSpPr>
          <p:spPr>
            <a:xfrm>
              <a:off x="21075" y="60764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Employee (</a:t>
              </a:r>
              <a:r>
                <a:rPr lang="en-US" sz="1800" u="sng" kern="1200" dirty="0"/>
                <a:t>SSN</a:t>
              </a:r>
              <a:r>
                <a:rPr lang="en-US" sz="1800" kern="1200" dirty="0"/>
                <a:t>, </a:t>
              </a:r>
              <a:r>
                <a:rPr lang="en-US" sz="1800" kern="1200" dirty="0" err="1"/>
                <a:t>fname</a:t>
              </a:r>
              <a:r>
                <a:rPr lang="en-US" sz="1800" kern="1200" dirty="0"/>
                <a:t>, </a:t>
              </a:r>
              <a:r>
                <a:rPr lang="en-US" sz="1800" kern="1200" dirty="0" err="1"/>
                <a:t>mname</a:t>
              </a:r>
              <a:r>
                <a:rPr lang="en-US" sz="1800" kern="1200" dirty="0"/>
                <a:t>, </a:t>
              </a:r>
              <a:r>
                <a:rPr lang="en-US" sz="1800" kern="1200" dirty="0" err="1"/>
                <a:t>lname</a:t>
              </a:r>
              <a:r>
                <a:rPr lang="en-US" sz="1800" kern="1200" dirty="0"/>
                <a:t>, birthdate, salary, gender, </a:t>
              </a:r>
              <a:r>
                <a:rPr lang="en-US" sz="1800" kern="1200" dirty="0">
                  <a:highlight>
                    <a:srgbClr val="000080"/>
                  </a:highlight>
                </a:rPr>
                <a:t>dept number, supervisor SSN</a:t>
              </a:r>
              <a:r>
                <a:rPr lang="en-US" sz="1800" kern="1200" dirty="0"/>
                <a:t>)</a:t>
              </a:r>
            </a:p>
          </p:txBody>
        </p:sp>
      </p:grpSp>
      <p:grpSp>
        <p:nvGrpSpPr>
          <p:cNvPr id="5" name="Group 4">
            <a:extLst>
              <a:ext uri="{FF2B5EF4-FFF2-40B4-BE49-F238E27FC236}">
                <a16:creationId xmlns:a16="http://schemas.microsoft.com/office/drawing/2014/main" id="{3F5C827D-C313-F019-9B93-7656215F040B}"/>
              </a:ext>
            </a:extLst>
          </p:cNvPr>
          <p:cNvGrpSpPr/>
          <p:nvPr/>
        </p:nvGrpSpPr>
        <p:grpSpPr>
          <a:xfrm>
            <a:off x="1066800" y="2487780"/>
            <a:ext cx="10058399" cy="431730"/>
            <a:chOff x="0" y="1070142"/>
            <a:chExt cx="10058399" cy="431730"/>
          </a:xfrm>
        </p:grpSpPr>
        <p:sp>
          <p:nvSpPr>
            <p:cNvPr id="18" name="Rectangle: Rounded Corners 17">
              <a:extLst>
                <a:ext uri="{FF2B5EF4-FFF2-40B4-BE49-F238E27FC236}">
                  <a16:creationId xmlns:a16="http://schemas.microsoft.com/office/drawing/2014/main" id="{E9D3C62D-C946-2E3F-8696-6995CF0D194F}"/>
                </a:ext>
              </a:extLst>
            </p:cNvPr>
            <p:cNvSpPr/>
            <p:nvPr/>
          </p:nvSpPr>
          <p:spPr>
            <a:xfrm>
              <a:off x="0" y="107014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ectangle: Rounded Corners 6">
              <a:extLst>
                <a:ext uri="{FF2B5EF4-FFF2-40B4-BE49-F238E27FC236}">
                  <a16:creationId xmlns:a16="http://schemas.microsoft.com/office/drawing/2014/main" id="{DCFEF9A5-A246-617D-9194-CD7D5AF3CFAB}"/>
                </a:ext>
              </a:extLst>
            </p:cNvPr>
            <p:cNvSpPr txBox="1"/>
            <p:nvPr/>
          </p:nvSpPr>
          <p:spPr>
            <a:xfrm>
              <a:off x="21075" y="109121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Department (</a:t>
              </a:r>
              <a:r>
                <a:rPr lang="en-US" sz="1800" u="sng" kern="1200" dirty="0"/>
                <a:t>number</a:t>
              </a:r>
              <a:r>
                <a:rPr lang="en-US" sz="1800" kern="1200" dirty="0"/>
                <a:t>, name, start date, </a:t>
              </a:r>
              <a:r>
                <a:rPr lang="en-US" sz="1800" kern="1200" dirty="0">
                  <a:highlight>
                    <a:srgbClr val="000080"/>
                  </a:highlight>
                </a:rPr>
                <a:t>manager SSN</a:t>
              </a:r>
              <a:r>
                <a:rPr lang="en-US" sz="1800" kern="1200" dirty="0"/>
                <a:t>)</a:t>
              </a:r>
            </a:p>
          </p:txBody>
        </p:sp>
      </p:grpSp>
      <p:grpSp>
        <p:nvGrpSpPr>
          <p:cNvPr id="6" name="Group 5">
            <a:extLst>
              <a:ext uri="{FF2B5EF4-FFF2-40B4-BE49-F238E27FC236}">
                <a16:creationId xmlns:a16="http://schemas.microsoft.com/office/drawing/2014/main" id="{91A3F3F2-A406-4105-A1AB-500B327021FE}"/>
              </a:ext>
            </a:extLst>
          </p:cNvPr>
          <p:cNvGrpSpPr/>
          <p:nvPr/>
        </p:nvGrpSpPr>
        <p:grpSpPr>
          <a:xfrm>
            <a:off x="1066800" y="2971350"/>
            <a:ext cx="10058399" cy="431730"/>
            <a:chOff x="0" y="1553712"/>
            <a:chExt cx="10058399" cy="431730"/>
          </a:xfrm>
        </p:grpSpPr>
        <p:sp>
          <p:nvSpPr>
            <p:cNvPr id="16" name="Rectangle: Rounded Corners 15">
              <a:extLst>
                <a:ext uri="{FF2B5EF4-FFF2-40B4-BE49-F238E27FC236}">
                  <a16:creationId xmlns:a16="http://schemas.microsoft.com/office/drawing/2014/main" id="{F99CB629-9A97-1466-AA88-18DEFA9605C7}"/>
                </a:ext>
              </a:extLst>
            </p:cNvPr>
            <p:cNvSpPr/>
            <p:nvPr/>
          </p:nvSpPr>
          <p:spPr>
            <a:xfrm>
              <a:off x="0" y="155371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Rectangle: Rounded Corners 8">
              <a:extLst>
                <a:ext uri="{FF2B5EF4-FFF2-40B4-BE49-F238E27FC236}">
                  <a16:creationId xmlns:a16="http://schemas.microsoft.com/office/drawing/2014/main" id="{EE8E1005-0085-C6E1-AC39-84A221D0EDDF}"/>
                </a:ext>
              </a:extLst>
            </p:cNvPr>
            <p:cNvSpPr txBox="1"/>
            <p:nvPr/>
          </p:nvSpPr>
          <p:spPr>
            <a:xfrm>
              <a:off x="21075" y="157478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Depart loc (</a:t>
              </a:r>
              <a:r>
                <a:rPr lang="en-US" sz="1800" u="sng" kern="1200" dirty="0">
                  <a:highlight>
                    <a:srgbClr val="000080"/>
                  </a:highlight>
                </a:rPr>
                <a:t>dept number</a:t>
              </a:r>
              <a:r>
                <a:rPr lang="en-US" sz="1800" kern="1200" dirty="0"/>
                <a:t>, </a:t>
              </a:r>
              <a:r>
                <a:rPr lang="en-US" sz="1800" u="sng" kern="1200" dirty="0"/>
                <a:t>location</a:t>
              </a:r>
              <a:r>
                <a:rPr lang="en-US" sz="1800" kern="1200" dirty="0"/>
                <a:t>)</a:t>
              </a:r>
            </a:p>
          </p:txBody>
        </p:sp>
      </p:grpSp>
      <p:grpSp>
        <p:nvGrpSpPr>
          <p:cNvPr id="7" name="Group 6">
            <a:extLst>
              <a:ext uri="{FF2B5EF4-FFF2-40B4-BE49-F238E27FC236}">
                <a16:creationId xmlns:a16="http://schemas.microsoft.com/office/drawing/2014/main" id="{D8C6D852-5FF0-B06E-E722-9466CDDAF086}"/>
              </a:ext>
            </a:extLst>
          </p:cNvPr>
          <p:cNvGrpSpPr/>
          <p:nvPr/>
        </p:nvGrpSpPr>
        <p:grpSpPr>
          <a:xfrm>
            <a:off x="1066800" y="3454920"/>
            <a:ext cx="10058399" cy="431730"/>
            <a:chOff x="0" y="2037282"/>
            <a:chExt cx="10058399" cy="431730"/>
          </a:xfrm>
        </p:grpSpPr>
        <p:sp>
          <p:nvSpPr>
            <p:cNvPr id="14" name="Rectangle: Rounded Corners 13">
              <a:extLst>
                <a:ext uri="{FF2B5EF4-FFF2-40B4-BE49-F238E27FC236}">
                  <a16:creationId xmlns:a16="http://schemas.microsoft.com/office/drawing/2014/main" id="{6FD16A69-5C37-EC4F-882A-08F7D350B238}"/>
                </a:ext>
              </a:extLst>
            </p:cNvPr>
            <p:cNvSpPr/>
            <p:nvPr/>
          </p:nvSpPr>
          <p:spPr>
            <a:xfrm>
              <a:off x="0" y="203728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ectangle: Rounded Corners 10">
              <a:extLst>
                <a:ext uri="{FF2B5EF4-FFF2-40B4-BE49-F238E27FC236}">
                  <a16:creationId xmlns:a16="http://schemas.microsoft.com/office/drawing/2014/main" id="{ACADBF67-875F-010D-C47F-8C4D7FC282CD}"/>
                </a:ext>
              </a:extLst>
            </p:cNvPr>
            <p:cNvSpPr txBox="1"/>
            <p:nvPr/>
          </p:nvSpPr>
          <p:spPr>
            <a:xfrm>
              <a:off x="21075" y="205835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Project (</a:t>
              </a:r>
              <a:r>
                <a:rPr lang="en-US" sz="1800" u="sng" kern="1200" dirty="0"/>
                <a:t>number</a:t>
              </a:r>
              <a:r>
                <a:rPr lang="en-US" sz="1800" kern="1200" dirty="0"/>
                <a:t>, name, location, </a:t>
              </a:r>
              <a:r>
                <a:rPr lang="en-US" sz="1800" kern="1200" dirty="0">
                  <a:highlight>
                    <a:srgbClr val="000080"/>
                  </a:highlight>
                </a:rPr>
                <a:t>dept number</a:t>
              </a:r>
              <a:r>
                <a:rPr lang="en-US" sz="1800" kern="1200" dirty="0"/>
                <a:t>)</a:t>
              </a:r>
            </a:p>
          </p:txBody>
        </p:sp>
      </p:grpSp>
      <p:grpSp>
        <p:nvGrpSpPr>
          <p:cNvPr id="8" name="Group 7">
            <a:extLst>
              <a:ext uri="{FF2B5EF4-FFF2-40B4-BE49-F238E27FC236}">
                <a16:creationId xmlns:a16="http://schemas.microsoft.com/office/drawing/2014/main" id="{F0841D85-6C92-3B41-35B9-4FCC2C0E1073}"/>
              </a:ext>
            </a:extLst>
          </p:cNvPr>
          <p:cNvGrpSpPr/>
          <p:nvPr/>
        </p:nvGrpSpPr>
        <p:grpSpPr>
          <a:xfrm>
            <a:off x="1066800" y="3938490"/>
            <a:ext cx="10058399" cy="431730"/>
            <a:chOff x="0" y="2520852"/>
            <a:chExt cx="10058399" cy="431730"/>
          </a:xfrm>
        </p:grpSpPr>
        <p:sp>
          <p:nvSpPr>
            <p:cNvPr id="12" name="Rectangle: Rounded Corners 11">
              <a:extLst>
                <a:ext uri="{FF2B5EF4-FFF2-40B4-BE49-F238E27FC236}">
                  <a16:creationId xmlns:a16="http://schemas.microsoft.com/office/drawing/2014/main" id="{CDEA266A-9004-CE23-65BD-D010D736F6BE}"/>
                </a:ext>
              </a:extLst>
            </p:cNvPr>
            <p:cNvSpPr/>
            <p:nvPr/>
          </p:nvSpPr>
          <p:spPr>
            <a:xfrm>
              <a:off x="0" y="252085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ectangle: Rounded Corners 12">
              <a:extLst>
                <a:ext uri="{FF2B5EF4-FFF2-40B4-BE49-F238E27FC236}">
                  <a16:creationId xmlns:a16="http://schemas.microsoft.com/office/drawing/2014/main" id="{21F77753-A1D6-E5BD-193C-B775EBB20C78}"/>
                </a:ext>
              </a:extLst>
            </p:cNvPr>
            <p:cNvSpPr txBox="1"/>
            <p:nvPr/>
          </p:nvSpPr>
          <p:spPr>
            <a:xfrm>
              <a:off x="21075" y="254192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Dependent (</a:t>
              </a:r>
              <a:r>
                <a:rPr lang="en-US" sz="1800" u="sng" kern="1200" dirty="0"/>
                <a:t>name</a:t>
              </a:r>
              <a:r>
                <a:rPr lang="en-US" sz="1800" kern="1200" dirty="0"/>
                <a:t>, </a:t>
              </a:r>
              <a:r>
                <a:rPr lang="en-US" sz="1800" u="sng" kern="1200" dirty="0">
                  <a:highlight>
                    <a:srgbClr val="000080"/>
                  </a:highlight>
                </a:rPr>
                <a:t>Employee SSN</a:t>
              </a:r>
              <a:r>
                <a:rPr lang="en-US" sz="1800" kern="1200" dirty="0"/>
                <a:t>, birthdate, gender, relationship)</a:t>
              </a:r>
            </a:p>
          </p:txBody>
        </p:sp>
      </p:grpSp>
      <p:grpSp>
        <p:nvGrpSpPr>
          <p:cNvPr id="9" name="Group 8">
            <a:extLst>
              <a:ext uri="{FF2B5EF4-FFF2-40B4-BE49-F238E27FC236}">
                <a16:creationId xmlns:a16="http://schemas.microsoft.com/office/drawing/2014/main" id="{C6AF12B6-9D2E-F126-85DC-EAB311E16E95}"/>
              </a:ext>
            </a:extLst>
          </p:cNvPr>
          <p:cNvGrpSpPr/>
          <p:nvPr/>
        </p:nvGrpSpPr>
        <p:grpSpPr>
          <a:xfrm>
            <a:off x="1066800" y="4422060"/>
            <a:ext cx="10058399" cy="431730"/>
            <a:chOff x="0" y="3004422"/>
            <a:chExt cx="10058399" cy="431730"/>
          </a:xfrm>
        </p:grpSpPr>
        <p:sp>
          <p:nvSpPr>
            <p:cNvPr id="10" name="Rectangle: Rounded Corners 9">
              <a:extLst>
                <a:ext uri="{FF2B5EF4-FFF2-40B4-BE49-F238E27FC236}">
                  <a16:creationId xmlns:a16="http://schemas.microsoft.com/office/drawing/2014/main" id="{6E5EEF1C-ED08-4A3C-37E2-FD290C259CA8}"/>
                </a:ext>
              </a:extLst>
            </p:cNvPr>
            <p:cNvSpPr/>
            <p:nvPr/>
          </p:nvSpPr>
          <p:spPr>
            <a:xfrm>
              <a:off x="0" y="3004422"/>
              <a:ext cx="10058399" cy="43173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ectangle: Rounded Corners 14">
              <a:extLst>
                <a:ext uri="{FF2B5EF4-FFF2-40B4-BE49-F238E27FC236}">
                  <a16:creationId xmlns:a16="http://schemas.microsoft.com/office/drawing/2014/main" id="{94A676DE-271E-8F9C-2F40-31AE157D20C2}"/>
                </a:ext>
              </a:extLst>
            </p:cNvPr>
            <p:cNvSpPr txBox="1"/>
            <p:nvPr/>
          </p:nvSpPr>
          <p:spPr>
            <a:xfrm>
              <a:off x="21075" y="3025497"/>
              <a:ext cx="10016249" cy="3895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Employee Project (</a:t>
              </a:r>
              <a:r>
                <a:rPr lang="en-US" sz="1800" u="sng" kern="1200" dirty="0">
                  <a:highlight>
                    <a:srgbClr val="000080"/>
                  </a:highlight>
                </a:rPr>
                <a:t>Emp SSN, </a:t>
              </a:r>
              <a:r>
                <a:rPr lang="en-US" sz="1800" u="sng" kern="1200" dirty="0" err="1">
                  <a:highlight>
                    <a:srgbClr val="000080"/>
                  </a:highlight>
                </a:rPr>
                <a:t>Proj</a:t>
              </a:r>
              <a:r>
                <a:rPr lang="en-US" sz="1800" u="sng" kern="1200" dirty="0">
                  <a:highlight>
                    <a:srgbClr val="000080"/>
                  </a:highlight>
                </a:rPr>
                <a:t> number</a:t>
              </a:r>
              <a:r>
                <a:rPr lang="en-US" sz="1800" u="none" kern="1200" dirty="0"/>
                <a:t>, hours</a:t>
              </a:r>
              <a:r>
                <a:rPr lang="en-US" sz="1800" kern="1200" dirty="0"/>
                <a:t>)</a:t>
              </a:r>
            </a:p>
          </p:txBody>
        </p:sp>
      </p:grpSp>
      <p:sp>
        <p:nvSpPr>
          <p:cNvPr id="23" name="TextBox 22">
            <a:extLst>
              <a:ext uri="{FF2B5EF4-FFF2-40B4-BE49-F238E27FC236}">
                <a16:creationId xmlns:a16="http://schemas.microsoft.com/office/drawing/2014/main" id="{8B664949-5102-E160-70E7-6BF3D326A7F1}"/>
              </a:ext>
            </a:extLst>
          </p:cNvPr>
          <p:cNvSpPr txBox="1"/>
          <p:nvPr/>
        </p:nvSpPr>
        <p:spPr>
          <a:xfrm>
            <a:off x="1097280" y="5281222"/>
            <a:ext cx="8803804" cy="369332"/>
          </a:xfrm>
          <a:prstGeom prst="rect">
            <a:avLst/>
          </a:prstGeom>
          <a:noFill/>
        </p:spPr>
        <p:txBody>
          <a:bodyPr wrap="square">
            <a:spAutoFit/>
          </a:bodyPr>
          <a:lstStyle/>
          <a:p>
            <a:r>
              <a:rPr lang="en-US" u="sng" dirty="0"/>
              <a:t>Note</a:t>
            </a:r>
            <a:r>
              <a:rPr lang="en-US" dirty="0"/>
              <a:t>: Primary keys are underlined, and foreign keys are highlighted in dark blue </a:t>
            </a:r>
            <a:endParaRPr lang="en-GB" dirty="0"/>
          </a:p>
        </p:txBody>
      </p:sp>
      <p:sp>
        <p:nvSpPr>
          <p:cNvPr id="3" name="Footer Placeholder 2">
            <a:extLst>
              <a:ext uri="{FF2B5EF4-FFF2-40B4-BE49-F238E27FC236}">
                <a16:creationId xmlns:a16="http://schemas.microsoft.com/office/drawing/2014/main" id="{23EBB266-C490-2FE9-918A-D6A27438CF3A}"/>
              </a:ext>
            </a:extLst>
          </p:cNvPr>
          <p:cNvSpPr>
            <a:spLocks noGrp="1"/>
          </p:cNvSpPr>
          <p:nvPr>
            <p:ph type="ftr" sz="quarter" idx="11"/>
          </p:nvPr>
        </p:nvSpPr>
        <p:spPr/>
        <p:txBody>
          <a:bodyPr/>
          <a:lstStyle/>
          <a:p>
            <a:r>
              <a:rPr lang="en-US"/>
              <a:t>Eng. Aisha Al-Sadi | HTU | Al Hussein Technical University</a:t>
            </a:r>
          </a:p>
        </p:txBody>
      </p:sp>
      <p:sp>
        <p:nvSpPr>
          <p:cNvPr id="22" name="Slide Number Placeholder 21">
            <a:extLst>
              <a:ext uri="{FF2B5EF4-FFF2-40B4-BE49-F238E27FC236}">
                <a16:creationId xmlns:a16="http://schemas.microsoft.com/office/drawing/2014/main" id="{E7D7AB56-9FF5-EA2E-259C-9ACC687BA6F7}"/>
              </a:ext>
            </a:extLst>
          </p:cNvPr>
          <p:cNvSpPr>
            <a:spLocks noGrp="1"/>
          </p:cNvSpPr>
          <p:nvPr>
            <p:ph type="sldNum" sz="quarter" idx="12"/>
          </p:nvPr>
        </p:nvSpPr>
        <p:spPr/>
        <p:txBody>
          <a:bodyPr/>
          <a:lstStyle/>
          <a:p>
            <a:fld id="{E6B03378-CDB7-40C1-827C-F54129224789}" type="slidenum">
              <a:rPr lang="en-US" smtClean="0"/>
              <a:t>21</a:t>
            </a:fld>
            <a:endParaRPr lang="en-US"/>
          </a:p>
        </p:txBody>
      </p:sp>
    </p:spTree>
    <p:extLst>
      <p:ext uri="{BB962C8B-B14F-4D97-AF65-F5344CB8AC3E}">
        <p14:creationId xmlns:p14="http://schemas.microsoft.com/office/powerpoint/2010/main" val="1181637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A3A8ED-85C7-ABAD-6C57-A1255E6C6A2E}"/>
              </a:ext>
            </a:extLst>
          </p:cNvPr>
          <p:cNvSpPr>
            <a:spLocks noGrp="1"/>
          </p:cNvSpPr>
          <p:nvPr>
            <p:ph type="title"/>
          </p:nvPr>
        </p:nvSpPr>
        <p:spPr>
          <a:xfrm>
            <a:off x="5220928" y="965200"/>
            <a:ext cx="5999002" cy="4927600"/>
          </a:xfrm>
        </p:spPr>
        <p:txBody>
          <a:bodyPr vert="horz" lIns="91440" tIns="45720" rIns="91440" bIns="45720" rtlCol="0" anchor="ctr">
            <a:normAutofit/>
          </a:bodyPr>
          <a:lstStyle/>
          <a:p>
            <a:r>
              <a:rPr lang="en-US" sz="7400" b="1" dirty="0">
                <a:solidFill>
                  <a:schemeClr val="tx2"/>
                </a:solidFill>
              </a:rPr>
              <a:t>Database Scenario – with Crow’s Foot Notations</a:t>
            </a:r>
            <a:endParaRPr lang="en-US" sz="7400" dirty="0">
              <a:solidFill>
                <a:schemeClr val="tx2"/>
              </a:solidFill>
            </a:endParaRPr>
          </a:p>
        </p:txBody>
      </p:sp>
      <p:sp>
        <p:nvSpPr>
          <p:cNvPr id="15" name="Rectangle 14">
            <a:extLst>
              <a:ext uri="{FF2B5EF4-FFF2-40B4-BE49-F238E27FC236}">
                <a16:creationId xmlns:a16="http://schemas.microsoft.com/office/drawing/2014/main" id="{0EEF5601-A8BC-411D-AA64-3E79320BA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33209156-242F-4B26-8D07-CEB2B68A9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EEBA2322-B1AD-E2AD-E02B-7EB06D29F5C6}"/>
              </a:ext>
            </a:extLst>
          </p:cNvPr>
          <p:cNvSpPr>
            <a:spLocks noGrp="1"/>
          </p:cNvSpPr>
          <p:nvPr>
            <p:ph type="sldNum" sz="quarter" idx="12"/>
          </p:nvPr>
        </p:nvSpPr>
        <p:spPr/>
        <p:txBody>
          <a:bodyPr/>
          <a:lstStyle/>
          <a:p>
            <a:fld id="{E6B03378-CDB7-40C1-827C-F54129224789}" type="slidenum">
              <a:rPr lang="en-US" smtClean="0"/>
              <a:t>22</a:t>
            </a:fld>
            <a:endParaRPr lang="en-US"/>
          </a:p>
        </p:txBody>
      </p:sp>
    </p:spTree>
    <p:extLst>
      <p:ext uri="{BB962C8B-B14F-4D97-AF65-F5344CB8AC3E}">
        <p14:creationId xmlns:p14="http://schemas.microsoft.com/office/powerpoint/2010/main" val="3202777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758080"/>
            <a:ext cx="11000096" cy="3785652"/>
          </a:xfrm>
          <a:prstGeom prst="rect">
            <a:avLst/>
          </a:prstGeom>
          <a:noFill/>
        </p:spPr>
        <p:txBody>
          <a:bodyPr wrap="square" rtlCol="0">
            <a:spAutoFit/>
          </a:bodyPr>
          <a:lstStyle/>
          <a:p>
            <a:pPr>
              <a:buClr>
                <a:srgbClr val="009CAC"/>
              </a:buClr>
            </a:pPr>
            <a:r>
              <a:rPr lang="en-US" sz="2400" b="1" u="sng" dirty="0"/>
              <a:t>Scenario</a:t>
            </a:r>
            <a:r>
              <a:rPr lang="en-US" sz="2400" u="sng" dirty="0"/>
              <a:t>:</a:t>
            </a:r>
            <a:br>
              <a:rPr lang="en-US" sz="2400" u="sng" dirty="0"/>
            </a:br>
            <a:endParaRPr lang="en-US" sz="2400" u="sng" dirty="0"/>
          </a:p>
          <a:p>
            <a:pPr algn="just"/>
            <a:r>
              <a:rPr lang="en-US" sz="2400" dirty="0"/>
              <a:t>The bank has many </a:t>
            </a:r>
            <a:r>
              <a:rPr lang="en-US" sz="2400" b="1" dirty="0"/>
              <a:t>branches</a:t>
            </a:r>
            <a:r>
              <a:rPr lang="en-US" sz="2400" dirty="0"/>
              <a:t>. Each branch consists of multiple </a:t>
            </a:r>
            <a:r>
              <a:rPr lang="en-US" sz="2400" b="1" dirty="0"/>
              <a:t>departments</a:t>
            </a:r>
            <a:r>
              <a:rPr lang="en-US" sz="2400" dirty="0"/>
              <a:t>, and each department includes many </a:t>
            </a:r>
            <a:r>
              <a:rPr lang="en-US" sz="2400" b="1" dirty="0"/>
              <a:t>employees</a:t>
            </a:r>
            <a:r>
              <a:rPr lang="en-US" sz="2400" dirty="0"/>
              <a:t>. The employee should work in one department. An employee can make many </a:t>
            </a:r>
            <a:r>
              <a:rPr lang="en-US" sz="2400" b="1" dirty="0"/>
              <a:t>transactions</a:t>
            </a:r>
            <a:r>
              <a:rPr lang="en-US" sz="2400" dirty="0"/>
              <a:t>. Each transaction is performed on one </a:t>
            </a:r>
            <a:r>
              <a:rPr lang="en-US" sz="2400" b="1" dirty="0"/>
              <a:t>account</a:t>
            </a:r>
            <a:r>
              <a:rPr lang="en-US" sz="2400" dirty="0"/>
              <a:t>. Note: the account may have multiple transactions. In addition, the account is owned by one or more </a:t>
            </a:r>
            <a:r>
              <a:rPr lang="en-US" sz="2400" b="1" dirty="0"/>
              <a:t>customers</a:t>
            </a:r>
            <a:r>
              <a:rPr lang="en-US" sz="2400" dirty="0"/>
              <a:t> and customers can have multiple accounts. There are many </a:t>
            </a:r>
            <a:r>
              <a:rPr lang="en-US" sz="2400" b="1" dirty="0"/>
              <a:t>account types </a:t>
            </a:r>
            <a:r>
              <a:rPr lang="en-US" sz="2400" dirty="0"/>
              <a:t>like (saving, checking, and money market accounts). For each account, there is one account type. Customers can visit multiple branches.</a:t>
            </a:r>
          </a:p>
          <a:p>
            <a:endParaRPr lang="en-US" sz="2400"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633321" y="307323"/>
            <a:ext cx="10058400" cy="1450757"/>
          </a:xfrm>
        </p:spPr>
        <p:txBody>
          <a:bodyPr>
            <a:normAutofit/>
          </a:bodyPr>
          <a:lstStyle/>
          <a:p>
            <a:r>
              <a:rPr lang="en-US" b="1" i="0" dirty="0">
                <a:solidFill>
                  <a:schemeClr val="tx1"/>
                </a:solidFill>
              </a:rPr>
              <a:t>Bank Management System Example</a:t>
            </a:r>
            <a:endParaRPr lang="en-US" b="1" dirty="0">
              <a:solidFill>
                <a:schemeClr val="tx1"/>
              </a:solidFill>
            </a:endParaRPr>
          </a:p>
        </p:txBody>
      </p:sp>
      <p:sp>
        <p:nvSpPr>
          <p:cNvPr id="8" name="Footer Placeholder 7">
            <a:extLst>
              <a:ext uri="{FF2B5EF4-FFF2-40B4-BE49-F238E27FC236}">
                <a16:creationId xmlns:a16="http://schemas.microsoft.com/office/drawing/2014/main" id="{27540406-6EC6-95DF-D5C7-2EA828B295BB}"/>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7F68538F-091F-DD70-B94E-D3CDBAA71515}"/>
              </a:ext>
            </a:extLst>
          </p:cNvPr>
          <p:cNvSpPr>
            <a:spLocks noGrp="1"/>
          </p:cNvSpPr>
          <p:nvPr>
            <p:ph type="sldNum" sz="quarter" idx="12"/>
          </p:nvPr>
        </p:nvSpPr>
        <p:spPr/>
        <p:txBody>
          <a:bodyPr/>
          <a:lstStyle/>
          <a:p>
            <a:fld id="{FD97C469-14A9-4BE4-BDC2-AF98C32D29B7}" type="slidenum">
              <a:rPr lang="en-US" smtClean="0"/>
              <a:t>23</a:t>
            </a:fld>
            <a:endParaRPr lang="en-US"/>
          </a:p>
        </p:txBody>
      </p:sp>
    </p:spTree>
    <p:extLst>
      <p:ext uri="{BB962C8B-B14F-4D97-AF65-F5344CB8AC3E}">
        <p14:creationId xmlns:p14="http://schemas.microsoft.com/office/powerpoint/2010/main" val="325322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92C572F0-587F-45A1-BEE7-88DB2574E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382" y="1164456"/>
            <a:ext cx="9999406" cy="5048719"/>
          </a:xfrm>
          <a:prstGeom prst="rect">
            <a:avLst/>
          </a:prstGeom>
        </p:spPr>
      </p:pic>
      <p:sp>
        <p:nvSpPr>
          <p:cNvPr id="2" name="Title 1">
            <a:extLst>
              <a:ext uri="{FF2B5EF4-FFF2-40B4-BE49-F238E27FC236}">
                <a16:creationId xmlns:a16="http://schemas.microsoft.com/office/drawing/2014/main" id="{3461B0BF-AF3B-D170-D64D-32648EE835F2}"/>
              </a:ext>
            </a:extLst>
          </p:cNvPr>
          <p:cNvSpPr>
            <a:spLocks noGrp="1"/>
          </p:cNvSpPr>
          <p:nvPr>
            <p:ph type="title"/>
          </p:nvPr>
        </p:nvSpPr>
        <p:spPr>
          <a:xfrm>
            <a:off x="498070" y="192467"/>
            <a:ext cx="10058400" cy="1450757"/>
          </a:xfrm>
        </p:spPr>
        <p:txBody>
          <a:bodyPr/>
          <a:lstStyle/>
          <a:p>
            <a:r>
              <a:rPr lang="en-US" sz="4800" b="1" dirty="0">
                <a:solidFill>
                  <a:schemeClr val="tx1"/>
                </a:solidFill>
              </a:rPr>
              <a:t>Conceptual Model</a:t>
            </a:r>
            <a:br>
              <a:rPr lang="en-US" sz="4800" b="1" i="0" dirty="0">
                <a:solidFill>
                  <a:schemeClr val="tx1"/>
                </a:solidFill>
              </a:rPr>
            </a:br>
            <a:endParaRPr lang="en-US" b="1" dirty="0">
              <a:solidFill>
                <a:schemeClr val="tx1"/>
              </a:solidFill>
            </a:endParaRPr>
          </a:p>
        </p:txBody>
      </p:sp>
      <p:sp>
        <p:nvSpPr>
          <p:cNvPr id="8" name="Footer Placeholder 7">
            <a:extLst>
              <a:ext uri="{FF2B5EF4-FFF2-40B4-BE49-F238E27FC236}">
                <a16:creationId xmlns:a16="http://schemas.microsoft.com/office/drawing/2014/main" id="{F4C5BF50-F8C6-667B-060C-401D1A65DDD7}"/>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22B677E6-FE2E-FEBB-1C39-E924750A67DF}"/>
              </a:ext>
            </a:extLst>
          </p:cNvPr>
          <p:cNvSpPr>
            <a:spLocks noGrp="1"/>
          </p:cNvSpPr>
          <p:nvPr>
            <p:ph type="sldNum" sz="quarter" idx="12"/>
          </p:nvPr>
        </p:nvSpPr>
        <p:spPr/>
        <p:txBody>
          <a:bodyPr/>
          <a:lstStyle/>
          <a:p>
            <a:fld id="{FD97C469-14A9-4BE4-BDC2-AF98C32D29B7}" type="slidenum">
              <a:rPr lang="en-US" smtClean="0"/>
              <a:t>24</a:t>
            </a:fld>
            <a:endParaRPr lang="en-US"/>
          </a:p>
        </p:txBody>
      </p:sp>
    </p:spTree>
    <p:extLst>
      <p:ext uri="{BB962C8B-B14F-4D97-AF65-F5344CB8AC3E}">
        <p14:creationId xmlns:p14="http://schemas.microsoft.com/office/powerpoint/2010/main" val="1759068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758080"/>
            <a:ext cx="11000096" cy="3693319"/>
          </a:xfrm>
          <a:prstGeom prst="rect">
            <a:avLst/>
          </a:prstGeom>
          <a:noFill/>
        </p:spPr>
        <p:txBody>
          <a:bodyPr wrap="square" rtlCol="0">
            <a:spAutoFit/>
          </a:bodyPr>
          <a:lstStyle/>
          <a:p>
            <a:pPr>
              <a:buClr>
                <a:srgbClr val="009CAC"/>
              </a:buClr>
            </a:pPr>
            <a:r>
              <a:rPr lang="en-US" b="1" u="sng" dirty="0"/>
              <a:t>Scenario</a:t>
            </a:r>
            <a:r>
              <a:rPr lang="en-US" u="sng" dirty="0"/>
              <a:t>:</a:t>
            </a:r>
            <a:br>
              <a:rPr lang="en-US" u="sng" dirty="0"/>
            </a:br>
            <a:endParaRPr lang="en-US" u="sng" dirty="0"/>
          </a:p>
          <a:p>
            <a:pPr algn="just"/>
            <a:r>
              <a:rPr lang="en-US" dirty="0"/>
              <a:t>The bank has many </a:t>
            </a:r>
            <a:r>
              <a:rPr lang="en-US" b="1" dirty="0"/>
              <a:t>branches</a:t>
            </a:r>
            <a:r>
              <a:rPr lang="en-US" dirty="0"/>
              <a:t>. Each branch has a </a:t>
            </a:r>
            <a:r>
              <a:rPr lang="en-US" dirty="0">
                <a:solidFill>
                  <a:srgbClr val="FF0000"/>
                </a:solidFill>
              </a:rPr>
              <a:t>number, name, phone, and Address</a:t>
            </a:r>
            <a:r>
              <a:rPr lang="en-US" dirty="0"/>
              <a:t>. Each branch consists of multiple </a:t>
            </a:r>
            <a:r>
              <a:rPr lang="en-US" b="1" dirty="0"/>
              <a:t>departments. </a:t>
            </a:r>
            <a:r>
              <a:rPr lang="en-US" dirty="0"/>
              <a:t>Each department has a </a:t>
            </a:r>
            <a:r>
              <a:rPr lang="en-US" dirty="0">
                <a:solidFill>
                  <a:srgbClr val="FF0000"/>
                </a:solidFill>
              </a:rPr>
              <a:t>name and phone</a:t>
            </a:r>
            <a:r>
              <a:rPr lang="en-US" dirty="0"/>
              <a:t> and includes many </a:t>
            </a:r>
            <a:r>
              <a:rPr lang="en-US" b="1" dirty="0"/>
              <a:t>employees</a:t>
            </a:r>
            <a:r>
              <a:rPr lang="en-US" dirty="0"/>
              <a:t>. Each employee has </a:t>
            </a:r>
            <a:r>
              <a:rPr lang="en-US" dirty="0">
                <a:solidFill>
                  <a:srgbClr val="FF0000"/>
                </a:solidFill>
              </a:rPr>
              <a:t>an id, name, password, email, salary, level, and address</a:t>
            </a:r>
            <a:r>
              <a:rPr lang="en-US" dirty="0"/>
              <a:t>. The employee should work in one department. An employee can make many </a:t>
            </a:r>
            <a:r>
              <a:rPr lang="en-US" b="1" dirty="0"/>
              <a:t>transactions</a:t>
            </a:r>
            <a:r>
              <a:rPr lang="en-US" dirty="0"/>
              <a:t>. Each transaction has an </a:t>
            </a:r>
            <a:r>
              <a:rPr lang="en-US" dirty="0">
                <a:solidFill>
                  <a:srgbClr val="FF0000"/>
                </a:solidFill>
              </a:rPr>
              <a:t>id, type, date, time, and channe</a:t>
            </a:r>
            <a:r>
              <a:rPr lang="en-US" dirty="0"/>
              <a:t>l. Each transaction is performed on one </a:t>
            </a:r>
            <a:r>
              <a:rPr lang="en-US" b="1" dirty="0"/>
              <a:t>account</a:t>
            </a:r>
            <a:r>
              <a:rPr lang="en-US" dirty="0"/>
              <a:t>. Each account has </a:t>
            </a:r>
            <a:r>
              <a:rPr lang="en-US" dirty="0">
                <a:solidFill>
                  <a:srgbClr val="FF0000"/>
                </a:solidFill>
              </a:rPr>
              <a:t>a type, number, status, and balance</a:t>
            </a:r>
            <a:r>
              <a:rPr lang="en-US" dirty="0"/>
              <a:t>. Note: the account may have multiple transactions. In addition, the account is owned by one or more </a:t>
            </a:r>
            <a:r>
              <a:rPr lang="en-US" b="1" dirty="0"/>
              <a:t>customers</a:t>
            </a:r>
            <a:r>
              <a:rPr lang="en-US" dirty="0"/>
              <a:t> and customers can have multiple accounts. Each customer has an </a:t>
            </a:r>
            <a:r>
              <a:rPr lang="en-US" dirty="0">
                <a:solidFill>
                  <a:srgbClr val="FF0000"/>
                </a:solidFill>
              </a:rPr>
              <a:t>id, name, SSN, date of birth, email, and can have multiple addresses and multiple phones</a:t>
            </a:r>
            <a:r>
              <a:rPr lang="en-US" dirty="0"/>
              <a:t>. There are many </a:t>
            </a:r>
            <a:r>
              <a:rPr lang="en-US" b="1" dirty="0"/>
              <a:t>account types </a:t>
            </a:r>
            <a:r>
              <a:rPr lang="en-US" dirty="0"/>
              <a:t>like (saving, checking, and money market accounts). Each account type has an </a:t>
            </a:r>
            <a:r>
              <a:rPr lang="en-US" dirty="0">
                <a:solidFill>
                  <a:srgbClr val="FF0000"/>
                </a:solidFill>
              </a:rPr>
              <a:t>id, name and description</a:t>
            </a:r>
            <a:r>
              <a:rPr lang="en-US" dirty="0"/>
              <a:t>. For each account, there is one account type. Customers can visit multiple branches. Each visit is recorded with </a:t>
            </a:r>
            <a:r>
              <a:rPr lang="en-US" dirty="0">
                <a:solidFill>
                  <a:srgbClr val="FF0000"/>
                </a:solidFill>
              </a:rPr>
              <a:t>date and time.</a:t>
            </a:r>
          </a:p>
          <a:p>
            <a:endParaRPr lang="en-US"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633321" y="307323"/>
            <a:ext cx="10058400" cy="1450757"/>
          </a:xfrm>
        </p:spPr>
        <p:txBody>
          <a:bodyPr>
            <a:normAutofit/>
          </a:bodyPr>
          <a:lstStyle/>
          <a:p>
            <a:r>
              <a:rPr lang="en-US" b="1" i="0" dirty="0">
                <a:solidFill>
                  <a:schemeClr val="tx1"/>
                </a:solidFill>
              </a:rPr>
              <a:t>Bank Management System Example</a:t>
            </a:r>
            <a:endParaRPr lang="en-US" b="1" dirty="0">
              <a:solidFill>
                <a:schemeClr val="tx1"/>
              </a:solidFill>
            </a:endParaRPr>
          </a:p>
        </p:txBody>
      </p:sp>
      <p:sp>
        <p:nvSpPr>
          <p:cNvPr id="8" name="Footer Placeholder 7">
            <a:extLst>
              <a:ext uri="{FF2B5EF4-FFF2-40B4-BE49-F238E27FC236}">
                <a16:creationId xmlns:a16="http://schemas.microsoft.com/office/drawing/2014/main" id="{27540406-6EC6-95DF-D5C7-2EA828B295BB}"/>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7F68538F-091F-DD70-B94E-D3CDBAA71515}"/>
              </a:ext>
            </a:extLst>
          </p:cNvPr>
          <p:cNvSpPr>
            <a:spLocks noGrp="1"/>
          </p:cNvSpPr>
          <p:nvPr>
            <p:ph type="sldNum" sz="quarter" idx="12"/>
          </p:nvPr>
        </p:nvSpPr>
        <p:spPr/>
        <p:txBody>
          <a:bodyPr/>
          <a:lstStyle/>
          <a:p>
            <a:fld id="{FD97C469-14A9-4BE4-BDC2-AF98C32D29B7}" type="slidenum">
              <a:rPr lang="en-US" smtClean="0"/>
              <a:t>25</a:t>
            </a:fld>
            <a:endParaRPr lang="en-US"/>
          </a:p>
        </p:txBody>
      </p:sp>
    </p:spTree>
    <p:extLst>
      <p:ext uri="{BB962C8B-B14F-4D97-AF65-F5344CB8AC3E}">
        <p14:creationId xmlns:p14="http://schemas.microsoft.com/office/powerpoint/2010/main" val="2373663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265471" y="1729656"/>
            <a:ext cx="11926529" cy="316824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address)</a:t>
            </a:r>
          </a:p>
          <a:p>
            <a:pPr marL="1200150" lvl="2" indent="-285750">
              <a:lnSpc>
                <a:spcPct val="107000"/>
              </a:lnSpc>
              <a:spcAft>
                <a:spcPts val="800"/>
              </a:spcAft>
              <a:buFont typeface="Wingdings" panose="05000000000000000000" pitchFamily="2" charset="2"/>
              <a:buChar char="§"/>
            </a:pPr>
            <a:r>
              <a:rPr lang="en-US" b="1" dirty="0">
                <a:solidFill>
                  <a:schemeClr val="accent2"/>
                </a:solidFill>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password, email, salary, level,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SSN, date of birth, email, phones, addresses)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17582" y="48166"/>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Basic Step (Strong and Weak Entities)</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26</a:t>
            </a:fld>
            <a:endParaRPr lang="en-US"/>
          </a:p>
        </p:txBody>
      </p:sp>
      <p:sp>
        <p:nvSpPr>
          <p:cNvPr id="3" name="Flowchart: Sequential Access Storage 2">
            <a:extLst>
              <a:ext uri="{FF2B5EF4-FFF2-40B4-BE49-F238E27FC236}">
                <a16:creationId xmlns:a16="http://schemas.microsoft.com/office/drawing/2014/main" id="{E3C72AA1-7F5F-90EE-CDB8-BAB99FC52896}"/>
              </a:ext>
            </a:extLst>
          </p:cNvPr>
          <p:cNvSpPr/>
          <p:nvPr/>
        </p:nvSpPr>
        <p:spPr>
          <a:xfrm>
            <a:off x="7888825" y="2284635"/>
            <a:ext cx="3645842" cy="3017828"/>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a:t>
            </a:r>
          </a:p>
          <a:p>
            <a:pPr algn="ctr"/>
            <a:r>
              <a:rPr lang="en-US" dirty="0"/>
              <a:t>Every entity is a table.</a:t>
            </a:r>
          </a:p>
          <a:p>
            <a:pPr algn="ctr"/>
            <a:r>
              <a:rPr lang="en-US" dirty="0"/>
              <a:t>Every attribute is represented as a column, and determine PKs.</a:t>
            </a:r>
          </a:p>
        </p:txBody>
      </p:sp>
    </p:spTree>
    <p:extLst>
      <p:ext uri="{BB962C8B-B14F-4D97-AF65-F5344CB8AC3E}">
        <p14:creationId xmlns:p14="http://schemas.microsoft.com/office/powerpoint/2010/main" val="64349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308001" y="1739488"/>
            <a:ext cx="11926529" cy="316824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password, email, salary, level,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SSN, date of birth, email, phones, addresses)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17582" y="48166"/>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Derived Attributes Step</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27</a:t>
            </a:fld>
            <a:endParaRPr lang="en-US"/>
          </a:p>
        </p:txBody>
      </p:sp>
      <p:sp>
        <p:nvSpPr>
          <p:cNvPr id="3" name="Flowchart: Sequential Access Storage 2">
            <a:extLst>
              <a:ext uri="{FF2B5EF4-FFF2-40B4-BE49-F238E27FC236}">
                <a16:creationId xmlns:a16="http://schemas.microsoft.com/office/drawing/2014/main" id="{E3C72AA1-7F5F-90EE-CDB8-BAB99FC52896}"/>
              </a:ext>
            </a:extLst>
          </p:cNvPr>
          <p:cNvSpPr/>
          <p:nvPr/>
        </p:nvSpPr>
        <p:spPr>
          <a:xfrm>
            <a:off x="7888825" y="2284635"/>
            <a:ext cx="3645842" cy="3017828"/>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 </a:t>
            </a:r>
          </a:p>
          <a:p>
            <a:pPr algn="ctr"/>
            <a:r>
              <a:rPr lang="en-US" dirty="0"/>
              <a:t>Any derived attribute should not be mapped because we can calculate it from another attribute.</a:t>
            </a:r>
          </a:p>
        </p:txBody>
      </p:sp>
      <p:sp>
        <p:nvSpPr>
          <p:cNvPr id="5" name="TextBox 4">
            <a:extLst>
              <a:ext uri="{FF2B5EF4-FFF2-40B4-BE49-F238E27FC236}">
                <a16:creationId xmlns:a16="http://schemas.microsoft.com/office/drawing/2014/main" id="{DDD4D4A3-CB4F-C334-1596-FF45567DB18E}"/>
              </a:ext>
            </a:extLst>
          </p:cNvPr>
          <p:cNvSpPr txBox="1"/>
          <p:nvPr/>
        </p:nvSpPr>
        <p:spPr>
          <a:xfrm>
            <a:off x="4490484" y="5128629"/>
            <a:ext cx="3898605" cy="369332"/>
          </a:xfrm>
          <a:prstGeom prst="rect">
            <a:avLst/>
          </a:prstGeom>
          <a:solidFill>
            <a:schemeClr val="accent1">
              <a:lumMod val="20000"/>
              <a:lumOff val="80000"/>
            </a:schemeClr>
          </a:solidFill>
        </p:spPr>
        <p:txBody>
          <a:bodyPr wrap="square" rtlCol="0">
            <a:spAutoFit/>
          </a:bodyPr>
          <a:lstStyle/>
          <a:p>
            <a:r>
              <a:rPr lang="en-US" b="1" dirty="0"/>
              <a:t>No Derived attributes </a:t>
            </a:r>
            <a:r>
              <a:rPr lang="en-US" b="1" dirty="0">
                <a:sym typeface="Wingdings" panose="05000000000000000000" pitchFamily="2" charset="2"/>
              </a:rPr>
              <a:t> so no change!</a:t>
            </a:r>
            <a:endParaRPr lang="en-US" b="1" dirty="0"/>
          </a:p>
        </p:txBody>
      </p:sp>
    </p:spTree>
    <p:extLst>
      <p:ext uri="{BB962C8B-B14F-4D97-AF65-F5344CB8AC3E}">
        <p14:creationId xmlns:p14="http://schemas.microsoft.com/office/powerpoint/2010/main" val="1037242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265471" y="1729656"/>
            <a:ext cx="11926529" cy="316824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 </a:t>
            </a: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phones</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addresses</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17582" y="48166"/>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Multi-valued Attributes Step</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28</a:t>
            </a:fld>
            <a:endParaRPr lang="en-US"/>
          </a:p>
        </p:txBody>
      </p:sp>
      <p:sp>
        <p:nvSpPr>
          <p:cNvPr id="6" name="Flowchart: Sequential Access Storage 5">
            <a:extLst>
              <a:ext uri="{FF2B5EF4-FFF2-40B4-BE49-F238E27FC236}">
                <a16:creationId xmlns:a16="http://schemas.microsoft.com/office/drawing/2014/main" id="{0030F804-60D6-EEAD-2B6C-61C013A34BDA}"/>
              </a:ext>
            </a:extLst>
          </p:cNvPr>
          <p:cNvSpPr/>
          <p:nvPr/>
        </p:nvSpPr>
        <p:spPr>
          <a:xfrm>
            <a:off x="7343357" y="4061558"/>
            <a:ext cx="3869126" cy="2134142"/>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 Any </a:t>
            </a:r>
            <a:r>
              <a:rPr lang="en-US" b="1" dirty="0"/>
              <a:t>multi-valued</a:t>
            </a:r>
            <a:r>
              <a:rPr lang="en-US" dirty="0"/>
              <a:t> attribute should be extracted to </a:t>
            </a:r>
            <a:r>
              <a:rPr lang="en-US" b="1" dirty="0"/>
              <a:t>new table</a:t>
            </a:r>
            <a:endParaRPr lang="en-US" dirty="0"/>
          </a:p>
        </p:txBody>
      </p:sp>
    </p:spTree>
    <p:extLst>
      <p:ext uri="{BB962C8B-B14F-4D97-AF65-F5344CB8AC3E}">
        <p14:creationId xmlns:p14="http://schemas.microsoft.com/office/powerpoint/2010/main" val="3450991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265471" y="1729656"/>
            <a:ext cx="11926529" cy="396615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address)</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solidFill>
                  <a:srgbClr val="FF0000"/>
                </a:solidFill>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a:latin typeface="Calibri" panose="020F0502020204030204" pitchFamily="34" charset="0"/>
                <a:ea typeface="Calibri" panose="020F0502020204030204" pitchFamily="34" charset="0"/>
                <a:cs typeface="Arial" panose="020B0604020202020204" pitchFamily="34" charset="0"/>
              </a:rPr>
              <a:t>, address</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Customer_phones</a:t>
            </a: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effectLst/>
                <a:latin typeface="Calibri" panose="020F0502020204030204" pitchFamily="34" charset="0"/>
                <a:ea typeface="Calibri" panose="020F0502020204030204" pitchFamily="34" charset="0"/>
                <a:cs typeface="Arial" panose="020B0604020202020204" pitchFamily="34" charset="0"/>
              </a:rPr>
              <a:t>c</a:t>
            </a:r>
            <a:r>
              <a:rPr lang="en-US" u="sng" dirty="0" err="1">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17582" y="48166"/>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Multi-valued Attributes Step</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29</a:t>
            </a:fld>
            <a:endParaRPr lang="en-US"/>
          </a:p>
        </p:txBody>
      </p:sp>
    </p:spTree>
    <p:extLst>
      <p:ext uri="{BB962C8B-B14F-4D97-AF65-F5344CB8AC3E}">
        <p14:creationId xmlns:p14="http://schemas.microsoft.com/office/powerpoint/2010/main" val="12206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339899" y="1719023"/>
            <a:ext cx="11926529" cy="396615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address</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address</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a:latin typeface="Calibri" panose="020F0502020204030204" pitchFamily="34" charset="0"/>
                <a:ea typeface="Calibri" panose="020F0502020204030204" pitchFamily="34" charset="0"/>
                <a:cs typeface="Arial" panose="020B0604020202020204" pitchFamily="34" charset="0"/>
              </a:rPr>
              <a:t>, </a:t>
            </a:r>
            <a:r>
              <a:rPr lang="en-US" u="sng" dirty="0">
                <a:solidFill>
                  <a:srgbClr val="FF0000"/>
                </a:solidFill>
                <a:latin typeface="Calibri" panose="020F0502020204030204" pitchFamily="34" charset="0"/>
                <a:ea typeface="Calibri" panose="020F0502020204030204" pitchFamily="34" charset="0"/>
                <a:cs typeface="Arial" panose="020B0604020202020204" pitchFamily="34" charset="0"/>
              </a:rPr>
              <a:t>address</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effectLst/>
                <a:latin typeface="Calibri" panose="020F0502020204030204" pitchFamily="34" charset="0"/>
                <a:ea typeface="Calibri" panose="020F0502020204030204" pitchFamily="34" charset="0"/>
                <a:cs typeface="Arial" panose="020B0604020202020204" pitchFamily="34" charset="0"/>
              </a:rPr>
              <a:t>Customer_phones</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effectLst/>
                <a:latin typeface="Calibri" panose="020F0502020204030204" pitchFamily="34" charset="0"/>
                <a:ea typeface="Calibri" panose="020F0502020204030204" pitchFamily="34" charset="0"/>
                <a:cs typeface="Arial" panose="020B0604020202020204" pitchFamily="34" charset="0"/>
              </a:rPr>
              <a:t>c</a:t>
            </a:r>
            <a:r>
              <a:rPr lang="en-US" u="sng" dirty="0" err="1">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17582" y="48166"/>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Composite attributes Step</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30</a:t>
            </a:fld>
            <a:endParaRPr lang="en-US"/>
          </a:p>
        </p:txBody>
      </p:sp>
      <p:sp>
        <p:nvSpPr>
          <p:cNvPr id="3" name="Flowchart: Sequential Access Storage 2">
            <a:extLst>
              <a:ext uri="{FF2B5EF4-FFF2-40B4-BE49-F238E27FC236}">
                <a16:creationId xmlns:a16="http://schemas.microsoft.com/office/drawing/2014/main" id="{9A521FD0-E2FC-4CD1-19FA-064DF372D6F8}"/>
              </a:ext>
            </a:extLst>
          </p:cNvPr>
          <p:cNvSpPr/>
          <p:nvPr/>
        </p:nvSpPr>
        <p:spPr>
          <a:xfrm>
            <a:off x="7888825" y="2274002"/>
            <a:ext cx="3645842" cy="3017828"/>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a:t>
            </a:r>
          </a:p>
          <a:p>
            <a:pPr algn="ctr"/>
            <a:r>
              <a:rPr lang="en-US" dirty="0"/>
              <a:t>Any composite attribute should be separated so that every attribute has its individual column.</a:t>
            </a:r>
          </a:p>
        </p:txBody>
      </p:sp>
    </p:spTree>
    <p:extLst>
      <p:ext uri="{BB962C8B-B14F-4D97-AF65-F5344CB8AC3E}">
        <p14:creationId xmlns:p14="http://schemas.microsoft.com/office/powerpoint/2010/main" val="3185365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9C347B4-511D-4128-8F40-0182151D2365}"/>
              </a:ext>
            </a:extLst>
          </p:cNvPr>
          <p:cNvSpPr txBox="1"/>
          <p:nvPr/>
        </p:nvSpPr>
        <p:spPr>
          <a:xfrm>
            <a:off x="265471" y="1739488"/>
            <a:ext cx="11926529" cy="3966150"/>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country, city, street name, building 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000000"/>
                </a:solidFill>
                <a:effectLst/>
                <a:latin typeface="Calibri" panose="020F0502020204030204" pitchFamily="34" charset="0"/>
                <a:ea typeface="Calibri" panose="020F0502020204030204" pitchFamily="34" charset="0"/>
                <a:cs typeface="Arial" panose="020B0604020202020204" pitchFamily="34" charset="0"/>
              </a:rPr>
              <a:t>name</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fname</a:t>
            </a:r>
            <a:r>
              <a:rPr lang="en-US" dirty="0">
                <a:solidFill>
                  <a:srgbClr val="FF0000"/>
                </a:solidFill>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country, city, street name, building 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fname</a:t>
            </a:r>
            <a:r>
              <a:rPr lang="en-US" dirty="0">
                <a:solidFill>
                  <a:srgbClr val="FF0000"/>
                </a:solidFill>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a:solidFill>
                  <a:srgbClr val="FF0000"/>
                </a:solidFill>
                <a:effectLst/>
                <a:latin typeface="Calibri" panose="020F0502020204030204" pitchFamily="34" charset="0"/>
                <a:ea typeface="Calibri" panose="020F0502020204030204" pitchFamily="34" charset="0"/>
                <a:cs typeface="Arial" panose="020B0604020202020204" pitchFamily="34" charset="0"/>
              </a:rPr>
              <a:t>country, city, street name, building numbe</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effectLst/>
                <a:latin typeface="Calibri" panose="020F0502020204030204" pitchFamily="34" charset="0"/>
                <a:ea typeface="Calibri" panose="020F0502020204030204" pitchFamily="34" charset="0"/>
                <a:cs typeface="Arial" panose="020B0604020202020204" pitchFamily="34" charset="0"/>
              </a:rPr>
              <a:t>Customer_phones</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effectLst/>
                <a:latin typeface="Calibri" panose="020F0502020204030204" pitchFamily="34" charset="0"/>
                <a:ea typeface="Calibri" panose="020F0502020204030204" pitchFamily="34" charset="0"/>
                <a:cs typeface="Arial" panose="020B0604020202020204" pitchFamily="34" charset="0"/>
              </a:rPr>
              <a:t>c</a:t>
            </a:r>
            <a:r>
              <a:rPr lang="en-US" u="sng" dirty="0" err="1">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type</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itle 1">
            <a:extLst>
              <a:ext uri="{FF2B5EF4-FFF2-40B4-BE49-F238E27FC236}">
                <a16:creationId xmlns:a16="http://schemas.microsoft.com/office/drawing/2014/main" id="{1876A675-F217-EA25-BBC8-4B81243B898F}"/>
              </a:ext>
            </a:extLst>
          </p:cNvPr>
          <p:cNvSpPr>
            <a:spLocks noGrp="1"/>
          </p:cNvSpPr>
          <p:nvPr>
            <p:ph type="title"/>
          </p:nvPr>
        </p:nvSpPr>
        <p:spPr>
          <a:xfrm>
            <a:off x="883206" y="159980"/>
            <a:ext cx="10058400" cy="1450757"/>
          </a:xfrm>
        </p:spPr>
        <p:txBody>
          <a:bodyPr/>
          <a:lstStyle/>
          <a:p>
            <a:pPr marL="0" lvl="0" indent="0" algn="l" defTabSz="1244600" rtl="0">
              <a:lnSpc>
                <a:spcPct val="90000"/>
              </a:lnSpc>
              <a:spcBef>
                <a:spcPct val="0"/>
              </a:spcBef>
              <a:spcAft>
                <a:spcPct val="35000"/>
              </a:spcAft>
              <a:buNone/>
            </a:pPr>
            <a:r>
              <a:rPr lang="en-US" sz="4800" b="1" kern="1200" dirty="0">
                <a:solidFill>
                  <a:schemeClr val="tx1"/>
                </a:solidFill>
              </a:rPr>
              <a:t>Composite Attributes Step CONT …</a:t>
            </a:r>
            <a:endParaRPr lang="en-US" sz="4800" b="1" i="0" kern="1200" dirty="0">
              <a:solidFill>
                <a:schemeClr val="tx1"/>
              </a:solidFill>
            </a:endParaRPr>
          </a:p>
        </p:txBody>
      </p:sp>
      <p:sp>
        <p:nvSpPr>
          <p:cNvPr id="10" name="Footer Placeholder 9">
            <a:extLst>
              <a:ext uri="{FF2B5EF4-FFF2-40B4-BE49-F238E27FC236}">
                <a16:creationId xmlns:a16="http://schemas.microsoft.com/office/drawing/2014/main" id="{98CF7A2C-4067-F8CB-F9F1-857D77D7E720}"/>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921701AA-4250-DA74-EFFC-323F4C2B387F}"/>
              </a:ext>
            </a:extLst>
          </p:cNvPr>
          <p:cNvSpPr>
            <a:spLocks noGrp="1"/>
          </p:cNvSpPr>
          <p:nvPr>
            <p:ph type="sldNum" sz="quarter" idx="12"/>
          </p:nvPr>
        </p:nvSpPr>
        <p:spPr/>
        <p:txBody>
          <a:bodyPr/>
          <a:lstStyle/>
          <a:p>
            <a:fld id="{FD97C469-14A9-4BE4-BDC2-AF98C32D29B7}" type="slidenum">
              <a:rPr lang="en-US" smtClean="0"/>
              <a:t>31</a:t>
            </a:fld>
            <a:endParaRPr lang="en-US"/>
          </a:p>
        </p:txBody>
      </p:sp>
    </p:spTree>
    <p:extLst>
      <p:ext uri="{BB962C8B-B14F-4D97-AF65-F5344CB8AC3E}">
        <p14:creationId xmlns:p14="http://schemas.microsoft.com/office/powerpoint/2010/main" val="2261126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19C0-7072-FDCB-5FE9-60546DFE3FC7}"/>
              </a:ext>
            </a:extLst>
          </p:cNvPr>
          <p:cNvSpPr>
            <a:spLocks noGrp="1"/>
          </p:cNvSpPr>
          <p:nvPr>
            <p:ph type="title"/>
          </p:nvPr>
        </p:nvSpPr>
        <p:spPr/>
        <p:txBody>
          <a:bodyPr/>
          <a:lstStyle/>
          <a:p>
            <a:r>
              <a:rPr lang="en-US" b="1" dirty="0"/>
              <a:t>Relations (1:1) and (1:M)</a:t>
            </a:r>
          </a:p>
        </p:txBody>
      </p:sp>
      <p:sp>
        <p:nvSpPr>
          <p:cNvPr id="3" name="Content Placeholder 2">
            <a:extLst>
              <a:ext uri="{FF2B5EF4-FFF2-40B4-BE49-F238E27FC236}">
                <a16:creationId xmlns:a16="http://schemas.microsoft.com/office/drawing/2014/main" id="{AF063B36-2333-BAC2-127E-2696D1A8F4A1}"/>
              </a:ext>
            </a:extLst>
          </p:cNvPr>
          <p:cNvSpPr>
            <a:spLocks noGrp="1"/>
          </p:cNvSpPr>
          <p:nvPr>
            <p:ph idx="1"/>
          </p:nvPr>
        </p:nvSpPr>
        <p:spPr/>
        <p:txBody>
          <a:bodyPr/>
          <a:lstStyle/>
          <a:p>
            <a:pPr marL="339725" indent="-339725">
              <a:buFont typeface="Wingdings" panose="05000000000000000000" pitchFamily="2" charset="2"/>
              <a:buChar char="§"/>
            </a:pPr>
            <a:r>
              <a:rPr lang="en-US" dirty="0"/>
              <a:t> Branch : Department  </a:t>
            </a:r>
            <a:r>
              <a:rPr lang="en-US" dirty="0">
                <a:sym typeface="Wingdings" panose="05000000000000000000" pitchFamily="2" charset="2"/>
              </a:rPr>
              <a:t> 1:M (consists of )</a:t>
            </a:r>
          </a:p>
          <a:p>
            <a:pPr marL="339725" indent="-339725">
              <a:buFont typeface="Wingdings" panose="05000000000000000000" pitchFamily="2" charset="2"/>
              <a:buChar char="§"/>
            </a:pPr>
            <a:r>
              <a:rPr lang="en-US" dirty="0"/>
              <a:t> Department : Employee  </a:t>
            </a:r>
            <a:r>
              <a:rPr lang="en-US" dirty="0">
                <a:sym typeface="Wingdings" panose="05000000000000000000" pitchFamily="2" charset="2"/>
              </a:rPr>
              <a:t> 1:M (includes)</a:t>
            </a:r>
          </a:p>
          <a:p>
            <a:pPr marL="339725" indent="-339725">
              <a:buFont typeface="Wingdings" panose="05000000000000000000" pitchFamily="2" charset="2"/>
              <a:buChar char="§"/>
            </a:pPr>
            <a:r>
              <a:rPr lang="en-US" dirty="0"/>
              <a:t> Employee : Transaction  </a:t>
            </a:r>
            <a:r>
              <a:rPr lang="en-US" dirty="0">
                <a:sym typeface="Wingdings" panose="05000000000000000000" pitchFamily="2" charset="2"/>
              </a:rPr>
              <a:t> 1:M (make)</a:t>
            </a:r>
          </a:p>
          <a:p>
            <a:pPr marL="339725" indent="-339725">
              <a:buFont typeface="Wingdings" panose="05000000000000000000" pitchFamily="2" charset="2"/>
              <a:buChar char="§"/>
            </a:pPr>
            <a:r>
              <a:rPr lang="en-US" dirty="0"/>
              <a:t> Account: Transaction </a:t>
            </a:r>
            <a:r>
              <a:rPr lang="en-US" dirty="0">
                <a:sym typeface="Wingdings" panose="05000000000000000000" pitchFamily="2" charset="2"/>
              </a:rPr>
              <a:t> 1:M (has)</a:t>
            </a:r>
          </a:p>
          <a:p>
            <a:pPr marL="339725" indent="-339725">
              <a:buFont typeface="Wingdings" panose="05000000000000000000" pitchFamily="2" charset="2"/>
              <a:buChar char="§"/>
            </a:pPr>
            <a:r>
              <a:rPr lang="en-US" dirty="0"/>
              <a:t> Account Type: Account  </a:t>
            </a:r>
            <a:r>
              <a:rPr lang="en-US" dirty="0">
                <a:sym typeface="Wingdings" panose="05000000000000000000" pitchFamily="2" charset="2"/>
              </a:rPr>
              <a:t> 1:M (has)</a:t>
            </a:r>
          </a:p>
          <a:p>
            <a:pPr marL="339725" indent="-339725">
              <a:buFont typeface="Wingdings" panose="05000000000000000000" pitchFamily="2" charset="2"/>
              <a:buChar char="§"/>
            </a:pPr>
            <a:endParaRPr lang="en-US" dirty="0">
              <a:sym typeface="Wingdings" panose="05000000000000000000" pitchFamily="2" charset="2"/>
            </a:endParaRPr>
          </a:p>
          <a:p>
            <a:pPr marL="339725" indent="-339725">
              <a:buFont typeface="Wingdings" panose="05000000000000000000" pitchFamily="2" charset="2"/>
              <a:buChar char="§"/>
            </a:pPr>
            <a:endParaRPr lang="en-US" dirty="0">
              <a:sym typeface="Wingdings" panose="05000000000000000000" pitchFamily="2" charset="2"/>
            </a:endParaRPr>
          </a:p>
          <a:p>
            <a:pPr marL="339725" indent="-339725">
              <a:buFont typeface="Wingdings" panose="05000000000000000000" pitchFamily="2" charset="2"/>
              <a:buChar char="§"/>
            </a:pPr>
            <a:endParaRPr lang="en-US" dirty="0"/>
          </a:p>
        </p:txBody>
      </p:sp>
      <p:sp>
        <p:nvSpPr>
          <p:cNvPr id="4" name="Footer Placeholder 3">
            <a:extLst>
              <a:ext uri="{FF2B5EF4-FFF2-40B4-BE49-F238E27FC236}">
                <a16:creationId xmlns:a16="http://schemas.microsoft.com/office/drawing/2014/main" id="{746D6EBF-F315-46B0-1951-B52EE897E49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E13D7F2D-AF60-4643-0D6A-1DC5F9E3FB16}"/>
              </a:ext>
            </a:extLst>
          </p:cNvPr>
          <p:cNvSpPr>
            <a:spLocks noGrp="1"/>
          </p:cNvSpPr>
          <p:nvPr>
            <p:ph type="sldNum" sz="quarter" idx="12"/>
          </p:nvPr>
        </p:nvSpPr>
        <p:spPr/>
        <p:txBody>
          <a:bodyPr/>
          <a:lstStyle/>
          <a:p>
            <a:fld id="{E6B03378-CDB7-40C1-827C-F54129224789}" type="slidenum">
              <a:rPr lang="en-US" smtClean="0"/>
              <a:t>32</a:t>
            </a:fld>
            <a:endParaRPr lang="en-US"/>
          </a:p>
        </p:txBody>
      </p:sp>
      <p:sp>
        <p:nvSpPr>
          <p:cNvPr id="6" name="Flowchart: Sequential Access Storage 5">
            <a:extLst>
              <a:ext uri="{FF2B5EF4-FFF2-40B4-BE49-F238E27FC236}">
                <a16:creationId xmlns:a16="http://schemas.microsoft.com/office/drawing/2014/main" id="{C6D80967-C52D-D5A2-7F6F-7254BD89801F}"/>
              </a:ext>
            </a:extLst>
          </p:cNvPr>
          <p:cNvSpPr/>
          <p:nvPr/>
        </p:nvSpPr>
        <p:spPr>
          <a:xfrm>
            <a:off x="7888825" y="2284635"/>
            <a:ext cx="3645842" cy="3017828"/>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 </a:t>
            </a:r>
          </a:p>
          <a:p>
            <a:pPr algn="ctr"/>
            <a:r>
              <a:rPr lang="en-US" dirty="0"/>
              <a:t>In 1:1 relation and 1:M relation, we should make a link between tables by adding reference from the PK to FK.</a:t>
            </a:r>
          </a:p>
        </p:txBody>
      </p:sp>
    </p:spTree>
    <p:extLst>
      <p:ext uri="{BB962C8B-B14F-4D97-AF65-F5344CB8AC3E}">
        <p14:creationId xmlns:p14="http://schemas.microsoft.com/office/powerpoint/2010/main" val="3461535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19C0-7072-FDCB-5FE9-60546DFE3FC7}"/>
              </a:ext>
            </a:extLst>
          </p:cNvPr>
          <p:cNvSpPr>
            <a:spLocks noGrp="1"/>
          </p:cNvSpPr>
          <p:nvPr>
            <p:ph type="title"/>
          </p:nvPr>
        </p:nvSpPr>
        <p:spPr/>
        <p:txBody>
          <a:bodyPr/>
          <a:lstStyle/>
          <a:p>
            <a:r>
              <a:rPr lang="en-US" b="1" dirty="0"/>
              <a:t>Relations (1:1) and (1:M)</a:t>
            </a:r>
          </a:p>
        </p:txBody>
      </p:sp>
      <p:sp>
        <p:nvSpPr>
          <p:cNvPr id="4" name="Footer Placeholder 3">
            <a:extLst>
              <a:ext uri="{FF2B5EF4-FFF2-40B4-BE49-F238E27FC236}">
                <a16:creationId xmlns:a16="http://schemas.microsoft.com/office/drawing/2014/main" id="{746D6EBF-F315-46B0-1951-B52EE897E49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E13D7F2D-AF60-4643-0D6A-1DC5F9E3FB16}"/>
              </a:ext>
            </a:extLst>
          </p:cNvPr>
          <p:cNvSpPr>
            <a:spLocks noGrp="1"/>
          </p:cNvSpPr>
          <p:nvPr>
            <p:ph type="sldNum" sz="quarter" idx="12"/>
          </p:nvPr>
        </p:nvSpPr>
        <p:spPr/>
        <p:txBody>
          <a:bodyPr/>
          <a:lstStyle/>
          <a:p>
            <a:fld id="{E6B03378-CDB7-40C1-827C-F54129224789}" type="slidenum">
              <a:rPr lang="en-US" smtClean="0"/>
              <a:t>33</a:t>
            </a:fld>
            <a:endParaRPr lang="en-US"/>
          </a:p>
        </p:txBody>
      </p:sp>
      <p:sp>
        <p:nvSpPr>
          <p:cNvPr id="9" name="TextBox 8">
            <a:extLst>
              <a:ext uri="{FF2B5EF4-FFF2-40B4-BE49-F238E27FC236}">
                <a16:creationId xmlns:a16="http://schemas.microsoft.com/office/drawing/2014/main" id="{3CDE1887-B1D4-796E-DE69-E288DAB06CDE}"/>
              </a:ext>
            </a:extLst>
          </p:cNvPr>
          <p:cNvSpPr txBox="1"/>
          <p:nvPr/>
        </p:nvSpPr>
        <p:spPr>
          <a:xfrm>
            <a:off x="265471" y="1729656"/>
            <a:ext cx="11926529" cy="4262514"/>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country, city, street name, building number)</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name,</a:t>
            </a:r>
            <a:r>
              <a:rPr lang="en-US" b="1" u="sng" dirty="0">
                <a:effectLst/>
                <a:latin typeface="Calibri" panose="020F0502020204030204" pitchFamily="34" charset="0"/>
                <a:ea typeface="Calibri" panose="020F0502020204030204" pitchFamily="34" charset="0"/>
                <a:cs typeface="Arial" panose="020B0604020202020204" pitchFamily="34" charset="0"/>
              </a:rPr>
              <a:t> </a:t>
            </a:r>
            <a:r>
              <a:rPr lang="en-US" b="1"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b="1" u="sng" dirty="0">
                <a:effectLst/>
                <a:latin typeface="Calibri" panose="020F0502020204030204" pitchFamily="34" charset="0"/>
                <a:ea typeface="Calibri" panose="020F0502020204030204" pitchFamily="34" charset="0"/>
                <a:cs typeface="Arial" panose="020B0604020202020204" pitchFamily="34" charset="0"/>
              </a:rPr>
              <a:t> </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country, city, street name, building number, </a:t>
            </a:r>
            <a:r>
              <a:rPr lang="en-US"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department_name</a:t>
            </a: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 </a:t>
            </a:r>
            <a:r>
              <a:rPr lang="en-US"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employee_id</a:t>
            </a: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account_</a:t>
            </a:r>
            <a:r>
              <a:rPr lang="en-US" b="1" dirty="0" err="1">
                <a:solidFill>
                  <a:srgbClr val="FF0000"/>
                </a:solidFill>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err="1">
                <a:effectLst/>
                <a:latin typeface="Calibri" panose="020F0502020204030204" pitchFamily="34" charset="0"/>
                <a:ea typeface="Calibri" panose="020F0502020204030204" pitchFamily="34" charset="0"/>
                <a:cs typeface="Arial" panose="020B0604020202020204" pitchFamily="34" charset="0"/>
              </a:rPr>
              <a:t>,country</a:t>
            </a:r>
            <a:r>
              <a:rPr lang="en-US" u="sng" dirty="0">
                <a:effectLst/>
                <a:latin typeface="Calibri" panose="020F0502020204030204" pitchFamily="34" charset="0"/>
                <a:ea typeface="Calibri" panose="020F0502020204030204" pitchFamily="34" charset="0"/>
                <a:cs typeface="Arial" panose="020B0604020202020204" pitchFamily="34" charset="0"/>
              </a:rPr>
              <a:t>, city, street name, building numbe</a:t>
            </a:r>
            <a:r>
              <a:rPr lang="en-US" dirty="0">
                <a:effectLst/>
                <a:latin typeface="Calibri" panose="020F0502020204030204" pitchFamily="34" charset="0"/>
                <a:ea typeface="Calibri" panose="020F0502020204030204" pitchFamily="34" charset="0"/>
                <a:cs typeface="Arial" panose="020B0604020202020204" pitchFamily="34" charset="0"/>
              </a:rPr>
              <a:t>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effectLst/>
                <a:latin typeface="Calibri" panose="020F0502020204030204" pitchFamily="34" charset="0"/>
                <a:ea typeface="Calibri" panose="020F0502020204030204" pitchFamily="34" charset="0"/>
                <a:cs typeface="Arial" panose="020B0604020202020204" pitchFamily="34" charset="0"/>
              </a:rPr>
              <a:t>Customer_phones</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effectLst/>
                <a:latin typeface="Calibri" panose="020F0502020204030204" pitchFamily="34" charset="0"/>
                <a:ea typeface="Calibri" panose="020F0502020204030204" pitchFamily="34" charset="0"/>
                <a:cs typeface="Arial" panose="020B0604020202020204" pitchFamily="34" charset="0"/>
              </a:rPr>
              <a:t>c</a:t>
            </a:r>
            <a:r>
              <a:rPr lang="en-US" u="sng" dirty="0" err="1">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a:t>
            </a:r>
            <a:r>
              <a:rPr lang="en-US" b="1" dirty="0" err="1">
                <a:solidFill>
                  <a:srgbClr val="FF0000"/>
                </a:solidFill>
                <a:latin typeface="Calibri" panose="020F0502020204030204" pitchFamily="34" charset="0"/>
                <a:ea typeface="Calibri" panose="020F0502020204030204" pitchFamily="34" charset="0"/>
                <a:cs typeface="Arial" panose="020B0604020202020204" pitchFamily="34" charset="0"/>
              </a:rPr>
              <a:t>type_id</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27443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19C0-7072-FDCB-5FE9-60546DFE3FC7}"/>
              </a:ext>
            </a:extLst>
          </p:cNvPr>
          <p:cNvSpPr>
            <a:spLocks noGrp="1"/>
          </p:cNvSpPr>
          <p:nvPr>
            <p:ph type="title"/>
          </p:nvPr>
        </p:nvSpPr>
        <p:spPr/>
        <p:txBody>
          <a:bodyPr/>
          <a:lstStyle/>
          <a:p>
            <a:r>
              <a:rPr lang="en-US" b="1" dirty="0"/>
              <a:t>Relations (M:N)</a:t>
            </a:r>
          </a:p>
        </p:txBody>
      </p:sp>
      <p:sp>
        <p:nvSpPr>
          <p:cNvPr id="3" name="Content Placeholder 2">
            <a:extLst>
              <a:ext uri="{FF2B5EF4-FFF2-40B4-BE49-F238E27FC236}">
                <a16:creationId xmlns:a16="http://schemas.microsoft.com/office/drawing/2014/main" id="{AF063B36-2333-BAC2-127E-2696D1A8F4A1}"/>
              </a:ext>
            </a:extLst>
          </p:cNvPr>
          <p:cNvSpPr>
            <a:spLocks noGrp="1"/>
          </p:cNvSpPr>
          <p:nvPr>
            <p:ph idx="1"/>
          </p:nvPr>
        </p:nvSpPr>
        <p:spPr/>
        <p:txBody>
          <a:bodyPr/>
          <a:lstStyle/>
          <a:p>
            <a:pPr marL="339725" indent="-339725">
              <a:buFont typeface="Wingdings" panose="05000000000000000000" pitchFamily="2" charset="2"/>
              <a:buChar char="§"/>
            </a:pPr>
            <a:r>
              <a:rPr lang="en-US" dirty="0"/>
              <a:t> Customer : Account  </a:t>
            </a:r>
            <a:r>
              <a:rPr lang="en-US" dirty="0">
                <a:sym typeface="Wingdings" panose="05000000000000000000" pitchFamily="2" charset="2"/>
              </a:rPr>
              <a:t> M:N (own)</a:t>
            </a:r>
          </a:p>
          <a:p>
            <a:pPr marL="339725" indent="-339725">
              <a:buFont typeface="Wingdings" panose="05000000000000000000" pitchFamily="2" charset="2"/>
              <a:buChar char="§"/>
            </a:pPr>
            <a:r>
              <a:rPr lang="en-US" dirty="0"/>
              <a:t> Customer : Branch  </a:t>
            </a:r>
            <a:r>
              <a:rPr lang="en-US" dirty="0">
                <a:sym typeface="Wingdings" panose="05000000000000000000" pitchFamily="2" charset="2"/>
              </a:rPr>
              <a:t> M:N (visit)</a:t>
            </a:r>
          </a:p>
          <a:p>
            <a:pPr marL="339725" indent="-339725">
              <a:buFont typeface="Wingdings" panose="05000000000000000000" pitchFamily="2" charset="2"/>
              <a:buChar char="§"/>
            </a:pPr>
            <a:endParaRPr lang="en-US" dirty="0"/>
          </a:p>
        </p:txBody>
      </p:sp>
      <p:sp>
        <p:nvSpPr>
          <p:cNvPr id="4" name="Footer Placeholder 3">
            <a:extLst>
              <a:ext uri="{FF2B5EF4-FFF2-40B4-BE49-F238E27FC236}">
                <a16:creationId xmlns:a16="http://schemas.microsoft.com/office/drawing/2014/main" id="{746D6EBF-F315-46B0-1951-B52EE897E49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E13D7F2D-AF60-4643-0D6A-1DC5F9E3FB16}"/>
              </a:ext>
            </a:extLst>
          </p:cNvPr>
          <p:cNvSpPr>
            <a:spLocks noGrp="1"/>
          </p:cNvSpPr>
          <p:nvPr>
            <p:ph type="sldNum" sz="quarter" idx="12"/>
          </p:nvPr>
        </p:nvSpPr>
        <p:spPr/>
        <p:txBody>
          <a:bodyPr/>
          <a:lstStyle/>
          <a:p>
            <a:fld id="{E6B03378-CDB7-40C1-827C-F54129224789}" type="slidenum">
              <a:rPr lang="en-US" smtClean="0"/>
              <a:t>34</a:t>
            </a:fld>
            <a:endParaRPr lang="en-US"/>
          </a:p>
        </p:txBody>
      </p:sp>
      <p:sp>
        <p:nvSpPr>
          <p:cNvPr id="6" name="Flowchart: Sequential Access Storage 5">
            <a:extLst>
              <a:ext uri="{FF2B5EF4-FFF2-40B4-BE49-F238E27FC236}">
                <a16:creationId xmlns:a16="http://schemas.microsoft.com/office/drawing/2014/main" id="{C6D80967-C52D-D5A2-7F6F-7254BD89801F}"/>
              </a:ext>
            </a:extLst>
          </p:cNvPr>
          <p:cNvSpPr/>
          <p:nvPr/>
        </p:nvSpPr>
        <p:spPr>
          <a:xfrm>
            <a:off x="6347638" y="2838893"/>
            <a:ext cx="5187030" cy="2463570"/>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Remember the Rule:</a:t>
            </a:r>
          </a:p>
          <a:p>
            <a:pPr algn="ctr"/>
            <a:r>
              <a:rPr lang="en-US" dirty="0"/>
              <a:t> Any many to many (M:N) relation will be represented as new table. And the primary key of this table will be a combination of the primary keys of the two ends of the relation</a:t>
            </a:r>
          </a:p>
        </p:txBody>
      </p:sp>
    </p:spTree>
    <p:extLst>
      <p:ext uri="{BB962C8B-B14F-4D97-AF65-F5344CB8AC3E}">
        <p14:creationId xmlns:p14="http://schemas.microsoft.com/office/powerpoint/2010/main" val="3534129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19C0-7072-FDCB-5FE9-60546DFE3FC7}"/>
              </a:ext>
            </a:extLst>
          </p:cNvPr>
          <p:cNvSpPr>
            <a:spLocks noGrp="1"/>
          </p:cNvSpPr>
          <p:nvPr>
            <p:ph type="title"/>
          </p:nvPr>
        </p:nvSpPr>
        <p:spPr/>
        <p:txBody>
          <a:bodyPr/>
          <a:lstStyle/>
          <a:p>
            <a:r>
              <a:rPr lang="en-US" b="1" dirty="0"/>
              <a:t>Relations (M:N)</a:t>
            </a:r>
          </a:p>
        </p:txBody>
      </p:sp>
      <p:sp>
        <p:nvSpPr>
          <p:cNvPr id="4" name="Footer Placeholder 3">
            <a:extLst>
              <a:ext uri="{FF2B5EF4-FFF2-40B4-BE49-F238E27FC236}">
                <a16:creationId xmlns:a16="http://schemas.microsoft.com/office/drawing/2014/main" id="{746D6EBF-F315-46B0-1951-B52EE897E49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E13D7F2D-AF60-4643-0D6A-1DC5F9E3FB16}"/>
              </a:ext>
            </a:extLst>
          </p:cNvPr>
          <p:cNvSpPr>
            <a:spLocks noGrp="1"/>
          </p:cNvSpPr>
          <p:nvPr>
            <p:ph type="sldNum" sz="quarter" idx="12"/>
          </p:nvPr>
        </p:nvSpPr>
        <p:spPr/>
        <p:txBody>
          <a:bodyPr/>
          <a:lstStyle/>
          <a:p>
            <a:fld id="{E6B03378-CDB7-40C1-827C-F54129224789}" type="slidenum">
              <a:rPr lang="en-US" smtClean="0"/>
              <a:t>35</a:t>
            </a:fld>
            <a:endParaRPr lang="en-US"/>
          </a:p>
        </p:txBody>
      </p:sp>
      <p:sp>
        <p:nvSpPr>
          <p:cNvPr id="9" name="TextBox 8">
            <a:extLst>
              <a:ext uri="{FF2B5EF4-FFF2-40B4-BE49-F238E27FC236}">
                <a16:creationId xmlns:a16="http://schemas.microsoft.com/office/drawing/2014/main" id="{3CDE1887-B1D4-796E-DE69-E288DAB06CDE}"/>
              </a:ext>
            </a:extLst>
          </p:cNvPr>
          <p:cNvSpPr txBox="1"/>
          <p:nvPr/>
        </p:nvSpPr>
        <p:spPr>
          <a:xfrm>
            <a:off x="265471" y="1737360"/>
            <a:ext cx="11926529" cy="5060424"/>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country, city, street name, building number)</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name, </a:t>
            </a:r>
            <a:r>
              <a:rPr lang="en-US" u="sng"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latin typeface="Calibri" panose="020F0502020204030204" pitchFamily="34" charset="0"/>
                <a:ea typeface="Calibri" panose="020F0502020204030204" pitchFamily="34" charset="0"/>
                <a:cs typeface="Arial" panose="020B0604020202020204" pitchFamily="34" charset="0"/>
              </a:rPr>
              <a:t>,</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country, city, street name, building number, </a:t>
            </a:r>
            <a:r>
              <a:rPr lang="en-US" dirty="0" err="1">
                <a:effectLst/>
                <a:latin typeface="Calibri" panose="020F0502020204030204" pitchFamily="34" charset="0"/>
                <a:ea typeface="Calibri" panose="020F0502020204030204" pitchFamily="34" charset="0"/>
                <a:cs typeface="Arial" panose="020B0604020202020204" pitchFamily="34" charset="0"/>
              </a:rPr>
              <a:t>department_name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 </a:t>
            </a:r>
            <a:r>
              <a:rPr lang="en-US" dirty="0" err="1">
                <a:effectLst/>
                <a:latin typeface="Calibri" panose="020F0502020204030204" pitchFamily="34" charset="0"/>
                <a:ea typeface="Calibri" panose="020F0502020204030204" pitchFamily="34" charset="0"/>
                <a:cs typeface="Arial" panose="020B0604020202020204" pitchFamily="34" charset="0"/>
              </a:rPr>
              <a:t>employee_id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effectLst/>
                <a:latin typeface="Calibri" panose="020F0502020204030204" pitchFamily="34" charset="0"/>
                <a:ea typeface="Calibri" panose="020F0502020204030204" pitchFamily="34" charset="0"/>
                <a:cs typeface="Arial" panose="020B0604020202020204" pitchFamily="34" charset="0"/>
              </a:rPr>
              <a:t>account_</a:t>
            </a:r>
            <a:r>
              <a:rPr lang="en-US" dirty="0" err="1">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err="1">
                <a:effectLst/>
                <a:latin typeface="Calibri" panose="020F0502020204030204" pitchFamily="34" charset="0"/>
                <a:ea typeface="Calibri" panose="020F0502020204030204" pitchFamily="34" charset="0"/>
                <a:cs typeface="Arial" panose="020B0604020202020204" pitchFamily="34" charset="0"/>
              </a:rPr>
              <a:t>,country</a:t>
            </a:r>
            <a:r>
              <a:rPr lang="en-US" u="sng" dirty="0">
                <a:effectLst/>
                <a:latin typeface="Calibri" panose="020F0502020204030204" pitchFamily="34" charset="0"/>
                <a:ea typeface="Calibri" panose="020F0502020204030204" pitchFamily="34" charset="0"/>
                <a:cs typeface="Arial" panose="020B0604020202020204" pitchFamily="34" charset="0"/>
              </a:rPr>
              <a:t>, city, street name, building numbe</a:t>
            </a:r>
            <a:r>
              <a:rPr lang="en-US" dirty="0">
                <a:effectLst/>
                <a:latin typeface="Calibri" panose="020F0502020204030204" pitchFamily="34" charset="0"/>
                <a:ea typeface="Calibri" panose="020F0502020204030204" pitchFamily="34" charset="0"/>
                <a:cs typeface="Arial" panose="020B0604020202020204" pitchFamily="34" charset="0"/>
              </a:rPr>
              <a:t>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effectLst/>
                <a:latin typeface="Calibri" panose="020F0502020204030204" pitchFamily="34" charset="0"/>
                <a:ea typeface="Calibri" panose="020F0502020204030204" pitchFamily="34" charset="0"/>
                <a:cs typeface="Arial" panose="020B0604020202020204" pitchFamily="34" charset="0"/>
              </a:rPr>
              <a:t>Customer_phones</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effectLst/>
                <a:latin typeface="Calibri" panose="020F0502020204030204" pitchFamily="34" charset="0"/>
                <a:ea typeface="Calibri" panose="020F0502020204030204" pitchFamily="34" charset="0"/>
                <a:cs typeface="Arial" panose="020B0604020202020204" pitchFamily="34" charset="0"/>
              </a:rPr>
              <a:t>c</a:t>
            </a:r>
            <a:r>
              <a:rPr lang="en-US" u="sng" dirty="0" err="1">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type_id</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r>
              <a:rPr lang="en-US" b="1" dirty="0">
                <a:solidFill>
                  <a:srgbClr val="FF0000"/>
                </a:solidFill>
                <a:latin typeface="Calibri" panose="020F0502020204030204" pitchFamily="34" charset="0"/>
                <a:ea typeface="Calibri" panose="020F0502020204030204" pitchFamily="34" charset="0"/>
                <a:cs typeface="Arial" panose="020B0604020202020204" pitchFamily="34" charset="0"/>
              </a:rPr>
              <a:t>Ownership</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customer_id</a:t>
            </a:r>
            <a:r>
              <a:rPr lang="en-US" u="sng" dirty="0">
                <a:latin typeface="Calibri" panose="020F0502020204030204" pitchFamily="34" charset="0"/>
                <a:ea typeface="Calibri" panose="020F0502020204030204" pitchFamily="34" charset="0"/>
                <a:cs typeface="Arial" panose="020B0604020202020204" pitchFamily="34" charset="0"/>
              </a:rPr>
              <a:t>, </a:t>
            </a:r>
            <a:r>
              <a:rPr lang="en-US" u="sng" dirty="0" err="1">
                <a:latin typeface="Calibri" panose="020F0502020204030204" pitchFamily="34" charset="0"/>
                <a:ea typeface="Calibri" panose="020F0502020204030204" pitchFamily="34" charset="0"/>
                <a:cs typeface="Arial" panose="020B0604020202020204" pitchFamily="34" charset="0"/>
              </a:rPr>
              <a:t>account_number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Visit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customer_id</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effectLst/>
                <a:latin typeface="Calibri" panose="020F0502020204030204" pitchFamily="34" charset="0"/>
                <a:ea typeface="Calibri" panose="020F0502020204030204" pitchFamily="34" charset="0"/>
                <a:cs typeface="Arial" panose="020B0604020202020204" pitchFamily="34" charset="0"/>
              </a:rPr>
              <a:t>br</a:t>
            </a:r>
            <a:r>
              <a:rPr lang="en-US" u="sng" dirty="0" err="1">
                <a:latin typeface="Calibri" panose="020F0502020204030204" pitchFamily="34" charset="0"/>
                <a:ea typeface="Calibri" panose="020F0502020204030204" pitchFamily="34" charset="0"/>
                <a:cs typeface="Arial" panose="020B0604020202020204" pitchFamily="34" charset="0"/>
              </a:rPr>
              <a:t>anch_number</a:t>
            </a:r>
            <a:r>
              <a:rPr lang="en-US" u="sng" dirty="0">
                <a:latin typeface="Calibri" panose="020F0502020204030204" pitchFamily="34" charset="0"/>
                <a:ea typeface="Calibri" panose="020F0502020204030204" pitchFamily="34" charset="0"/>
                <a:cs typeface="Arial" panose="020B0604020202020204" pitchFamily="34" charset="0"/>
              </a:rPr>
              <a:t>, date, time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538081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19C0-7072-FDCB-5FE9-60546DFE3FC7}"/>
              </a:ext>
            </a:extLst>
          </p:cNvPr>
          <p:cNvSpPr>
            <a:spLocks noGrp="1"/>
          </p:cNvSpPr>
          <p:nvPr>
            <p:ph type="title"/>
          </p:nvPr>
        </p:nvSpPr>
        <p:spPr>
          <a:xfrm>
            <a:off x="1066800" y="286603"/>
            <a:ext cx="10058400" cy="1450757"/>
          </a:xfrm>
        </p:spPr>
        <p:txBody>
          <a:bodyPr/>
          <a:lstStyle/>
          <a:p>
            <a:r>
              <a:rPr lang="en-US" b="1" dirty="0"/>
              <a:t>Final Schema!</a:t>
            </a:r>
          </a:p>
        </p:txBody>
      </p:sp>
      <p:sp>
        <p:nvSpPr>
          <p:cNvPr id="4" name="Footer Placeholder 3">
            <a:extLst>
              <a:ext uri="{FF2B5EF4-FFF2-40B4-BE49-F238E27FC236}">
                <a16:creationId xmlns:a16="http://schemas.microsoft.com/office/drawing/2014/main" id="{746D6EBF-F315-46B0-1951-B52EE897E498}"/>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E13D7F2D-AF60-4643-0D6A-1DC5F9E3FB16}"/>
              </a:ext>
            </a:extLst>
          </p:cNvPr>
          <p:cNvSpPr>
            <a:spLocks noGrp="1"/>
          </p:cNvSpPr>
          <p:nvPr>
            <p:ph type="sldNum" sz="quarter" idx="12"/>
          </p:nvPr>
        </p:nvSpPr>
        <p:spPr/>
        <p:txBody>
          <a:bodyPr/>
          <a:lstStyle/>
          <a:p>
            <a:fld id="{E6B03378-CDB7-40C1-827C-F54129224789}" type="slidenum">
              <a:rPr lang="en-US" smtClean="0"/>
              <a:t>36</a:t>
            </a:fld>
            <a:endParaRPr lang="en-US"/>
          </a:p>
        </p:txBody>
      </p:sp>
      <p:sp>
        <p:nvSpPr>
          <p:cNvPr id="9" name="TextBox 8">
            <a:extLst>
              <a:ext uri="{FF2B5EF4-FFF2-40B4-BE49-F238E27FC236}">
                <a16:creationId xmlns:a16="http://schemas.microsoft.com/office/drawing/2014/main" id="{3CDE1887-B1D4-796E-DE69-E288DAB06CDE}"/>
              </a:ext>
            </a:extLst>
          </p:cNvPr>
          <p:cNvSpPr txBox="1"/>
          <p:nvPr/>
        </p:nvSpPr>
        <p:spPr>
          <a:xfrm>
            <a:off x="265471" y="1737360"/>
            <a:ext cx="11926529" cy="5060424"/>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country, city, street name, building number)</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name,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dirty="0">
                <a:latin typeface="Calibri" panose="020F0502020204030204" pitchFamily="34" charset="0"/>
                <a:ea typeface="Calibri" panose="020F0502020204030204" pitchFamily="34" charset="0"/>
                <a:cs typeface="Arial" panose="020B0604020202020204" pitchFamily="34" charset="0"/>
              </a:rPr>
              <a:t>,</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country, city, street name, building number,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department_name</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employee_id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account_</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latin typeface="Calibri" panose="020F0502020204030204" pitchFamily="34" charset="0"/>
                <a:ea typeface="Calibri" panose="020F0502020204030204" pitchFamily="34" charset="0"/>
                <a:cs typeface="Arial" panose="020B0604020202020204" pitchFamily="34" charset="0"/>
              </a:rPr>
              <a:t>Customer_addresses</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customer_id</a:t>
            </a:r>
            <a:r>
              <a:rPr lang="en-US" u="sng" dirty="0" err="1">
                <a:effectLst/>
                <a:latin typeface="Calibri" panose="020F0502020204030204" pitchFamily="34" charset="0"/>
                <a:ea typeface="Calibri" panose="020F0502020204030204" pitchFamily="34" charset="0"/>
                <a:cs typeface="Arial" panose="020B0604020202020204" pitchFamily="34" charset="0"/>
              </a:rPr>
              <a:t>,country</a:t>
            </a:r>
            <a:r>
              <a:rPr lang="en-US" u="sng" dirty="0">
                <a:effectLst/>
                <a:latin typeface="Calibri" panose="020F0502020204030204" pitchFamily="34" charset="0"/>
                <a:ea typeface="Calibri" panose="020F0502020204030204" pitchFamily="34" charset="0"/>
                <a:cs typeface="Arial" panose="020B0604020202020204" pitchFamily="34" charset="0"/>
              </a:rPr>
              <a:t>, city, street name, building numbe</a:t>
            </a:r>
            <a:r>
              <a:rPr lang="en-US" dirty="0">
                <a:effectLst/>
                <a:latin typeface="Calibri" panose="020F0502020204030204" pitchFamily="34" charset="0"/>
                <a:ea typeface="Calibri" panose="020F0502020204030204" pitchFamily="34" charset="0"/>
                <a:cs typeface="Arial" panose="020B0604020202020204" pitchFamily="34" charset="0"/>
              </a:rPr>
              <a:t>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effectLst/>
                <a:latin typeface="Calibri" panose="020F0502020204030204" pitchFamily="34" charset="0"/>
                <a:ea typeface="Calibri" panose="020F0502020204030204" pitchFamily="34" charset="0"/>
                <a:cs typeface="Arial" panose="020B0604020202020204" pitchFamily="34" charset="0"/>
              </a:rPr>
              <a:t>Customer_phones</a:t>
            </a:r>
            <a:r>
              <a:rPr lang="en-US" b="1" dirty="0">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c</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solidFill>
                  <a:srgbClr val="FF0000"/>
                </a:solidFill>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type_id</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r>
              <a:rPr lang="en-US" b="1" dirty="0">
                <a:latin typeface="Calibri" panose="020F0502020204030204" pitchFamily="34" charset="0"/>
                <a:ea typeface="Calibri" panose="020F0502020204030204" pitchFamily="34" charset="0"/>
                <a:cs typeface="Arial" panose="020B0604020202020204" pitchFamily="34" charset="0"/>
              </a:rPr>
              <a:t>Ownership</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customer_id</a:t>
            </a:r>
            <a:r>
              <a:rPr lang="en-US" u="sng" dirty="0">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account_number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Visit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customer_id</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anch_number</a:t>
            </a:r>
            <a:r>
              <a:rPr lang="en-US" u="sng" dirty="0">
                <a:latin typeface="Calibri" panose="020F0502020204030204" pitchFamily="34" charset="0"/>
                <a:ea typeface="Calibri" panose="020F0502020204030204" pitchFamily="34" charset="0"/>
                <a:cs typeface="Arial" panose="020B0604020202020204" pitchFamily="34" charset="0"/>
              </a:rPr>
              <a:t>, date, time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8E6BDC1-DEA4-4EE3-3097-D2E4F778186A}"/>
              </a:ext>
            </a:extLst>
          </p:cNvPr>
          <p:cNvSpPr txBox="1"/>
          <p:nvPr/>
        </p:nvSpPr>
        <p:spPr>
          <a:xfrm>
            <a:off x="8716961" y="5134242"/>
            <a:ext cx="2366993" cy="1200329"/>
          </a:xfrm>
          <a:prstGeom prst="rect">
            <a:avLst/>
          </a:prstGeom>
          <a:noFill/>
        </p:spPr>
        <p:txBody>
          <a:bodyPr wrap="square">
            <a:spAutoFit/>
          </a:bodyPr>
          <a:lstStyle/>
          <a:p>
            <a:r>
              <a:rPr lang="en-US" b="1" u="sng" dirty="0"/>
              <a:t>Note</a:t>
            </a:r>
            <a:r>
              <a:rPr lang="en-US" dirty="0"/>
              <a:t>: Primary keys are underlined, and foreign keys are colored with red </a:t>
            </a:r>
            <a:endParaRPr lang="en-GB" dirty="0"/>
          </a:p>
        </p:txBody>
      </p:sp>
    </p:spTree>
    <p:extLst>
      <p:ext uri="{BB962C8B-B14F-4D97-AF65-F5344CB8AC3E}">
        <p14:creationId xmlns:p14="http://schemas.microsoft.com/office/powerpoint/2010/main" val="1351828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9BB18-2E24-FC89-6147-163988DDF268}"/>
              </a:ext>
            </a:extLst>
          </p:cNvPr>
          <p:cNvSpPr>
            <a:spLocks noGrp="1"/>
          </p:cNvSpPr>
          <p:nvPr>
            <p:ph type="title"/>
          </p:nvPr>
        </p:nvSpPr>
        <p:spPr>
          <a:xfrm>
            <a:off x="1054750" y="286603"/>
            <a:ext cx="10058400" cy="1450757"/>
          </a:xfrm>
        </p:spPr>
        <p:txBody>
          <a:bodyPr/>
          <a:lstStyle/>
          <a:p>
            <a:r>
              <a:rPr lang="en-US" b="1" dirty="0"/>
              <a:t>Strong and Weak Entities</a:t>
            </a:r>
          </a:p>
        </p:txBody>
      </p:sp>
      <p:sp>
        <p:nvSpPr>
          <p:cNvPr id="4" name="Footer Placeholder 3">
            <a:extLst>
              <a:ext uri="{FF2B5EF4-FFF2-40B4-BE49-F238E27FC236}">
                <a16:creationId xmlns:a16="http://schemas.microsoft.com/office/drawing/2014/main" id="{E60B996A-61AB-9910-E991-DEA1A452D281}"/>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952DBC71-98BB-8CC8-D8AB-9F16F0E0BDE5}"/>
              </a:ext>
            </a:extLst>
          </p:cNvPr>
          <p:cNvSpPr>
            <a:spLocks noGrp="1"/>
          </p:cNvSpPr>
          <p:nvPr>
            <p:ph type="sldNum" sz="quarter" idx="12"/>
          </p:nvPr>
        </p:nvSpPr>
        <p:spPr/>
        <p:txBody>
          <a:bodyPr/>
          <a:lstStyle/>
          <a:p>
            <a:fld id="{E6B03378-CDB7-40C1-827C-F54129224789}" type="slidenum">
              <a:rPr lang="en-US" smtClean="0"/>
              <a:t>37</a:t>
            </a:fld>
            <a:endParaRPr lang="en-US"/>
          </a:p>
        </p:txBody>
      </p:sp>
      <p:sp>
        <p:nvSpPr>
          <p:cNvPr id="8" name="TextBox 7">
            <a:extLst>
              <a:ext uri="{FF2B5EF4-FFF2-40B4-BE49-F238E27FC236}">
                <a16:creationId xmlns:a16="http://schemas.microsoft.com/office/drawing/2014/main" id="{66F52C4D-BD34-E000-4594-64867F157623}"/>
              </a:ext>
            </a:extLst>
          </p:cNvPr>
          <p:cNvSpPr txBox="1"/>
          <p:nvPr/>
        </p:nvSpPr>
        <p:spPr>
          <a:xfrm>
            <a:off x="265471" y="1737360"/>
            <a:ext cx="11926529" cy="5060424"/>
          </a:xfrm>
          <a:prstGeom prst="rect">
            <a:avLst/>
          </a:prstGeom>
          <a:noFill/>
        </p:spPr>
        <p:txBody>
          <a:bodyPr wrap="square">
            <a:spAutoFit/>
          </a:bodyPr>
          <a:lstStyle/>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Branch</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name, phone, country, city, street name, building number)</a:t>
            </a:r>
          </a:p>
          <a:p>
            <a:pPr marL="1200150" lvl="2" indent="-285750">
              <a:lnSpc>
                <a:spcPct val="107000"/>
              </a:lnSpc>
              <a:spcAft>
                <a:spcPts val="800"/>
              </a:spcAft>
              <a:buFont typeface="Wingdings" panose="05000000000000000000" pitchFamily="2" charset="2"/>
              <a:buChar char="§"/>
            </a:pPr>
            <a:r>
              <a:rPr lang="en-US" b="1" dirty="0">
                <a:solidFill>
                  <a:schemeClr val="accent1"/>
                </a:solidFill>
                <a:effectLst/>
                <a:latin typeface="Calibri" panose="020F0502020204030204" pitchFamily="34" charset="0"/>
                <a:ea typeface="Calibri" panose="020F0502020204030204" pitchFamily="34" charset="0"/>
                <a:cs typeface="Arial" panose="020B0604020202020204" pitchFamily="34" charset="0"/>
              </a:rPr>
              <a:t>Department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name,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dirty="0">
                <a:latin typeface="Calibri" panose="020F0502020204030204" pitchFamily="34" charset="0"/>
                <a:ea typeface="Calibri" panose="020F0502020204030204" pitchFamily="34" charset="0"/>
                <a:cs typeface="Arial" panose="020B0604020202020204" pitchFamily="34" charset="0"/>
              </a:rPr>
              <a:t>,</a:t>
            </a:r>
            <a:r>
              <a:rPr lang="en-US" dirty="0">
                <a:effectLst/>
                <a:latin typeface="Calibri" panose="020F0502020204030204" pitchFamily="34" charset="0"/>
                <a:ea typeface="Calibri" panose="020F0502020204030204" pitchFamily="34" charset="0"/>
                <a:cs typeface="Arial" panose="020B0604020202020204" pitchFamily="34" charset="0"/>
              </a:rPr>
              <a:t> phone)</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Employee</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password, email, salary, level, country, city, street name, building number,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department_name</a:t>
            </a:r>
            <a:r>
              <a:rPr lang="en-US"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branch_number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Transaction</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type, date, time, channel,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employee_id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account_</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Customer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fname</a:t>
            </a:r>
            <a:r>
              <a:rPr lang="en-US" dirty="0">
                <a:latin typeface="Calibri" panose="020F0502020204030204" pitchFamily="34" charset="0"/>
                <a:ea typeface="Calibri" panose="020F0502020204030204" pitchFamily="34" charset="0"/>
                <a:cs typeface="Arial" panose="020B0604020202020204" pitchFamily="34" charset="0"/>
              </a:rPr>
              <a:t>, </a:t>
            </a:r>
            <a:r>
              <a:rPr lang="en-US" dirty="0" err="1">
                <a:latin typeface="Calibri" panose="020F0502020204030204" pitchFamily="34" charset="0"/>
                <a:ea typeface="Calibri" panose="020F0502020204030204" pitchFamily="34" charset="0"/>
                <a:cs typeface="Arial" panose="020B0604020202020204" pitchFamily="34" charset="0"/>
              </a:rPr>
              <a:t>lname</a:t>
            </a:r>
            <a:r>
              <a:rPr lang="en-US" dirty="0">
                <a:effectLst/>
                <a:latin typeface="Calibri" panose="020F0502020204030204" pitchFamily="34" charset="0"/>
                <a:ea typeface="Calibri" panose="020F0502020204030204" pitchFamily="34" charset="0"/>
                <a:cs typeface="Arial" panose="020B0604020202020204" pitchFamily="34" charset="0"/>
              </a:rPr>
              <a:t>, SSN, date of birth, email)</a:t>
            </a:r>
          </a:p>
          <a:p>
            <a:pPr marL="1200150" lvl="2" indent="-285750">
              <a:lnSpc>
                <a:spcPct val="107000"/>
              </a:lnSpc>
              <a:spcAft>
                <a:spcPts val="800"/>
              </a:spcAft>
              <a:buFont typeface="Wingdings" panose="05000000000000000000" pitchFamily="2" charset="2"/>
              <a:buChar char="§"/>
            </a:pPr>
            <a:r>
              <a:rPr lang="en-US" b="1" dirty="0" err="1">
                <a:solidFill>
                  <a:schemeClr val="accent1"/>
                </a:solidFill>
                <a:latin typeface="Calibri" panose="020F0502020204030204" pitchFamily="34" charset="0"/>
                <a:ea typeface="Calibri" panose="020F0502020204030204" pitchFamily="34" charset="0"/>
                <a:cs typeface="Arial" panose="020B0604020202020204" pitchFamily="34" charset="0"/>
              </a:rPr>
              <a:t>Customer_addresses</a:t>
            </a:r>
            <a:r>
              <a:rPr lang="en-US" dirty="0">
                <a:solidFill>
                  <a:schemeClr val="accent1"/>
                </a:solidFill>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ea typeface="Calibri" panose="020F0502020204030204" pitchFamily="34" charset="0"/>
                <a:cs typeface="Arial" panose="020B0604020202020204" pitchFamily="34" charset="0"/>
              </a:rPr>
              <a:t>(</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customer_id</a:t>
            </a:r>
            <a:r>
              <a:rPr lang="en-US" u="sng" dirty="0" err="1">
                <a:effectLst/>
                <a:latin typeface="Calibri" panose="020F0502020204030204" pitchFamily="34" charset="0"/>
                <a:ea typeface="Calibri" panose="020F0502020204030204" pitchFamily="34" charset="0"/>
                <a:cs typeface="Arial" panose="020B0604020202020204" pitchFamily="34" charset="0"/>
              </a:rPr>
              <a:t>,country</a:t>
            </a:r>
            <a:r>
              <a:rPr lang="en-US" u="sng" dirty="0">
                <a:effectLst/>
                <a:latin typeface="Calibri" panose="020F0502020204030204" pitchFamily="34" charset="0"/>
                <a:ea typeface="Calibri" panose="020F0502020204030204" pitchFamily="34" charset="0"/>
                <a:cs typeface="Arial" panose="020B0604020202020204" pitchFamily="34" charset="0"/>
              </a:rPr>
              <a:t>, city, street name, building numbe</a:t>
            </a:r>
            <a:r>
              <a:rPr lang="en-US" dirty="0">
                <a:effectLst/>
                <a:latin typeface="Calibri" panose="020F0502020204030204" pitchFamily="34" charset="0"/>
                <a:ea typeface="Calibri" panose="020F0502020204030204" pitchFamily="34" charset="0"/>
                <a:cs typeface="Arial" panose="020B0604020202020204" pitchFamily="34" charset="0"/>
              </a:rPr>
              <a:t>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err="1">
                <a:solidFill>
                  <a:schemeClr val="accent1"/>
                </a:solidFill>
                <a:effectLst/>
                <a:latin typeface="Calibri" panose="020F0502020204030204" pitchFamily="34" charset="0"/>
                <a:ea typeface="Calibri" panose="020F0502020204030204" pitchFamily="34" charset="0"/>
                <a:cs typeface="Arial" panose="020B0604020202020204" pitchFamily="34" charset="0"/>
              </a:rPr>
              <a:t>Customer_phones</a:t>
            </a:r>
            <a:r>
              <a:rPr lang="en-US" b="1" dirty="0">
                <a:solidFill>
                  <a:schemeClr val="accent1"/>
                </a:solidFill>
                <a:effectLst/>
                <a:latin typeface="Calibri" panose="020F0502020204030204" pitchFamily="34" charset="0"/>
                <a:ea typeface="Calibri" panose="020F0502020204030204" pitchFamily="34" charset="0"/>
                <a:cs typeface="Arial" panose="020B0604020202020204" pitchFamily="34" charset="0"/>
              </a:rPr>
              <a:t>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c</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ustomer_id</a:t>
            </a:r>
            <a:r>
              <a:rPr lang="en-US" u="sng" dirty="0">
                <a:latin typeface="Calibri" panose="020F0502020204030204" pitchFamily="34" charset="0"/>
                <a:ea typeface="Calibri" panose="020F0502020204030204" pitchFamily="34" charset="0"/>
                <a:cs typeface="Arial" panose="020B0604020202020204" pitchFamily="34" charset="0"/>
              </a:rPr>
              <a:t>, phone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a:effectLst/>
                <a:latin typeface="Calibri" panose="020F0502020204030204" pitchFamily="34" charset="0"/>
                <a:ea typeface="Calibri" panose="020F0502020204030204" pitchFamily="34" charset="0"/>
                <a:cs typeface="Arial" panose="020B0604020202020204" pitchFamily="34" charset="0"/>
              </a:rPr>
              <a:t>number</a:t>
            </a:r>
            <a:r>
              <a:rPr lang="en-US" dirty="0">
                <a:effectLst/>
                <a:latin typeface="Calibri" panose="020F0502020204030204" pitchFamily="34" charset="0"/>
                <a:ea typeface="Calibri" panose="020F0502020204030204" pitchFamily="34" charset="0"/>
                <a:cs typeface="Arial" panose="020B0604020202020204" pitchFamily="34" charset="0"/>
              </a:rPr>
              <a:t>, status, balance</a:t>
            </a:r>
            <a:r>
              <a:rPr lang="en-US" dirty="0">
                <a:solidFill>
                  <a:srgbClr val="FF0000"/>
                </a:solidFill>
                <a:latin typeface="Calibri" panose="020F0502020204030204" pitchFamily="34" charset="0"/>
                <a:ea typeface="Calibri" panose="020F0502020204030204" pitchFamily="34" charset="0"/>
                <a:cs typeface="Arial" panose="020B0604020202020204" pitchFamily="34" charset="0"/>
              </a:rPr>
              <a:t>, </a:t>
            </a:r>
            <a:r>
              <a:rPr lang="en-US" dirty="0" err="1">
                <a:solidFill>
                  <a:srgbClr val="FF0000"/>
                </a:solidFill>
                <a:latin typeface="Calibri" panose="020F0502020204030204" pitchFamily="34" charset="0"/>
                <a:ea typeface="Calibri" panose="020F0502020204030204" pitchFamily="34" charset="0"/>
                <a:cs typeface="Arial" panose="020B0604020202020204" pitchFamily="34" charset="0"/>
              </a:rPr>
              <a:t>type_id</a:t>
            </a:r>
            <a:r>
              <a:rPr lang="en-US" dirty="0">
                <a:effectLst/>
                <a:latin typeface="Calibri" panose="020F0502020204030204" pitchFamily="34" charset="0"/>
                <a:ea typeface="Calibri" panose="020F0502020204030204" pitchFamily="34" charset="0"/>
                <a:cs typeface="Arial" panose="020B0604020202020204" pitchFamily="34" charset="0"/>
              </a:rPr>
              <a:t>) </a:t>
            </a:r>
          </a:p>
          <a:p>
            <a:pPr marL="1200150" lvl="2" indent="-285750">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Arial" panose="020B0604020202020204" pitchFamily="34" charset="0"/>
              </a:rPr>
              <a:t>Account type </a:t>
            </a:r>
            <a:r>
              <a:rPr lang="en-US" dirty="0">
                <a:effectLst/>
                <a:latin typeface="Calibri" panose="020F0502020204030204" pitchFamily="34" charset="0"/>
                <a:ea typeface="Calibri" panose="020F0502020204030204" pitchFamily="34" charset="0"/>
                <a:cs typeface="Arial" panose="020B0604020202020204" pitchFamily="34" charset="0"/>
              </a:rPr>
              <a:t>(</a:t>
            </a:r>
            <a:r>
              <a:rPr lang="en-US" u="sng" dirty="0">
                <a:effectLst/>
                <a:latin typeface="Calibri" panose="020F0502020204030204" pitchFamily="34" charset="0"/>
                <a:ea typeface="Calibri" panose="020F0502020204030204" pitchFamily="34" charset="0"/>
                <a:cs typeface="Arial" panose="020B0604020202020204" pitchFamily="34" charset="0"/>
              </a:rPr>
              <a:t>id</a:t>
            </a:r>
            <a:r>
              <a:rPr lang="en-US" dirty="0">
                <a:effectLst/>
                <a:latin typeface="Calibri" panose="020F0502020204030204" pitchFamily="34" charset="0"/>
                <a:ea typeface="Calibri" panose="020F0502020204030204" pitchFamily="34" charset="0"/>
                <a:cs typeface="Arial" panose="020B0604020202020204" pitchFamily="34" charset="0"/>
              </a:rPr>
              <a:t>, name, description)</a:t>
            </a:r>
          </a:p>
          <a:p>
            <a:pPr marL="1200150" lvl="2" indent="-285750">
              <a:lnSpc>
                <a:spcPct val="107000"/>
              </a:lnSpc>
              <a:spcAft>
                <a:spcPts val="800"/>
              </a:spcAft>
              <a:buFont typeface="Wingdings" panose="05000000000000000000" pitchFamily="2" charset="2"/>
              <a:buChar char="§"/>
            </a:pPr>
            <a:r>
              <a:rPr lang="en-US" b="1" dirty="0">
                <a:solidFill>
                  <a:schemeClr val="accent1"/>
                </a:solidFill>
                <a:latin typeface="Calibri" panose="020F0502020204030204" pitchFamily="34" charset="0"/>
                <a:ea typeface="Calibri" panose="020F0502020204030204" pitchFamily="34" charset="0"/>
                <a:cs typeface="Arial" panose="020B0604020202020204" pitchFamily="34" charset="0"/>
              </a:rPr>
              <a:t>Ownership</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customer_id</a:t>
            </a:r>
            <a:r>
              <a:rPr lang="en-US" u="sng" dirty="0">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account_number</a:t>
            </a:r>
            <a:r>
              <a:rPr lang="en-US" dirty="0">
                <a:latin typeface="Calibri" panose="020F050202020403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Wingdings" panose="05000000000000000000" pitchFamily="2" charset="2"/>
              <a:buChar char="§"/>
            </a:pPr>
            <a:r>
              <a:rPr lang="en-US" b="1" dirty="0">
                <a:solidFill>
                  <a:schemeClr val="accent1"/>
                </a:solidFill>
                <a:effectLst/>
                <a:latin typeface="Calibri" panose="020F0502020204030204" pitchFamily="34" charset="0"/>
                <a:ea typeface="Calibri" panose="020F0502020204030204" pitchFamily="34" charset="0"/>
                <a:cs typeface="Arial" panose="020B0604020202020204" pitchFamily="34" charset="0"/>
              </a:rPr>
              <a:t>Visit</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customer_id</a:t>
            </a:r>
            <a:r>
              <a:rPr lang="en-US" u="sng" dirty="0">
                <a:effectLst/>
                <a:latin typeface="Calibri" panose="020F0502020204030204" pitchFamily="34" charset="0"/>
                <a:ea typeface="Calibri" panose="020F0502020204030204" pitchFamily="34" charset="0"/>
                <a:cs typeface="Arial" panose="020B0604020202020204" pitchFamily="34" charset="0"/>
              </a:rPr>
              <a:t>, </a:t>
            </a:r>
            <a:r>
              <a:rPr lang="en-US" u="sng"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br</a:t>
            </a:r>
            <a:r>
              <a:rPr lang="en-US" u="sng" dirty="0" err="1">
                <a:solidFill>
                  <a:srgbClr val="FF0000"/>
                </a:solidFill>
                <a:latin typeface="Calibri" panose="020F0502020204030204" pitchFamily="34" charset="0"/>
                <a:ea typeface="Calibri" panose="020F0502020204030204" pitchFamily="34" charset="0"/>
                <a:cs typeface="Arial" panose="020B0604020202020204" pitchFamily="34" charset="0"/>
              </a:rPr>
              <a:t>anch_number</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a:latin typeface="Calibri" panose="020F0502020204030204" pitchFamily="34" charset="0"/>
                <a:ea typeface="Calibri" panose="020F0502020204030204" pitchFamily="34" charset="0"/>
                <a:cs typeface="Arial" panose="020B0604020202020204" pitchFamily="34" charset="0"/>
              </a:rPr>
              <a:t>date, time</a:t>
            </a:r>
            <a:r>
              <a:rPr lang="en-US" dirty="0">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lnSpc>
                <a:spcPct val="107000"/>
              </a:lnSpc>
              <a:spcAft>
                <a:spcPts val="800"/>
              </a:spcAft>
              <a:buFont typeface="Wingdings" panose="05000000000000000000" pitchFamily="2" charset="2"/>
              <a:buChar char="§"/>
            </a:pP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38C668E2-6414-2F92-868C-052ABEB79CBB}"/>
              </a:ext>
            </a:extLst>
          </p:cNvPr>
          <p:cNvSpPr txBox="1"/>
          <p:nvPr/>
        </p:nvSpPr>
        <p:spPr>
          <a:xfrm>
            <a:off x="9601200" y="5136929"/>
            <a:ext cx="2366993" cy="369332"/>
          </a:xfrm>
          <a:prstGeom prst="rect">
            <a:avLst/>
          </a:prstGeom>
          <a:noFill/>
        </p:spPr>
        <p:txBody>
          <a:bodyPr wrap="square">
            <a:spAutoFit/>
          </a:bodyPr>
          <a:lstStyle/>
          <a:p>
            <a:r>
              <a:rPr lang="en-GB" dirty="0"/>
              <a:t>Strong Entities </a:t>
            </a:r>
          </a:p>
        </p:txBody>
      </p:sp>
      <p:sp>
        <p:nvSpPr>
          <p:cNvPr id="10" name="Rectangle 9">
            <a:extLst>
              <a:ext uri="{FF2B5EF4-FFF2-40B4-BE49-F238E27FC236}">
                <a16:creationId xmlns:a16="http://schemas.microsoft.com/office/drawing/2014/main" id="{0A1583C2-2973-65A3-B7B5-DC89456F89B4}"/>
              </a:ext>
            </a:extLst>
          </p:cNvPr>
          <p:cNvSpPr/>
          <p:nvPr/>
        </p:nvSpPr>
        <p:spPr>
          <a:xfrm>
            <a:off x="8931349" y="5241851"/>
            <a:ext cx="616688" cy="1594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1D6DF4-FF20-0F56-6152-28D6009B0C8B}"/>
              </a:ext>
            </a:extLst>
          </p:cNvPr>
          <p:cNvSpPr/>
          <p:nvPr/>
        </p:nvSpPr>
        <p:spPr>
          <a:xfrm>
            <a:off x="8931349" y="5596459"/>
            <a:ext cx="616688" cy="1594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599B5B1-DEBD-1C0C-CFE3-3A7BF52C7995}"/>
              </a:ext>
            </a:extLst>
          </p:cNvPr>
          <p:cNvSpPr txBox="1"/>
          <p:nvPr/>
        </p:nvSpPr>
        <p:spPr>
          <a:xfrm>
            <a:off x="9603613" y="5506261"/>
            <a:ext cx="2366993" cy="369332"/>
          </a:xfrm>
          <a:prstGeom prst="rect">
            <a:avLst/>
          </a:prstGeom>
          <a:noFill/>
        </p:spPr>
        <p:txBody>
          <a:bodyPr wrap="square">
            <a:spAutoFit/>
          </a:bodyPr>
          <a:lstStyle/>
          <a:p>
            <a:r>
              <a:rPr lang="en-GB" dirty="0"/>
              <a:t>Weak Entities </a:t>
            </a:r>
          </a:p>
        </p:txBody>
      </p:sp>
    </p:spTree>
    <p:extLst>
      <p:ext uri="{BB962C8B-B14F-4D97-AF65-F5344CB8AC3E}">
        <p14:creationId xmlns:p14="http://schemas.microsoft.com/office/powerpoint/2010/main" val="530893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ical user interface, diagram&#10;&#10;Description automatically generated">
            <a:extLst>
              <a:ext uri="{FF2B5EF4-FFF2-40B4-BE49-F238E27FC236}">
                <a16:creationId xmlns:a16="http://schemas.microsoft.com/office/drawing/2014/main" id="{787E1759-FA6A-359D-B999-E09D0F903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59" y="754169"/>
            <a:ext cx="9562065" cy="5625548"/>
          </a:xfrm>
          <a:prstGeom prst="rect">
            <a:avLst/>
          </a:prstGeom>
        </p:spPr>
      </p:pic>
      <p:sp>
        <p:nvSpPr>
          <p:cNvPr id="5" name="Title 1">
            <a:extLst>
              <a:ext uri="{FF2B5EF4-FFF2-40B4-BE49-F238E27FC236}">
                <a16:creationId xmlns:a16="http://schemas.microsoft.com/office/drawing/2014/main" id="{06BC2D14-D6E8-41B3-5806-2404FFC4EB6B}"/>
              </a:ext>
            </a:extLst>
          </p:cNvPr>
          <p:cNvSpPr txBox="1">
            <a:spLocks/>
          </p:cNvSpPr>
          <p:nvPr/>
        </p:nvSpPr>
        <p:spPr>
          <a:xfrm>
            <a:off x="7811420" y="5439386"/>
            <a:ext cx="3592427" cy="85941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solidFill>
                  <a:schemeClr val="tx1"/>
                </a:solidFill>
              </a:rPr>
              <a:t>Logical Model</a:t>
            </a:r>
          </a:p>
        </p:txBody>
      </p:sp>
      <p:sp>
        <p:nvSpPr>
          <p:cNvPr id="2" name="Footer Placeholder 1">
            <a:extLst>
              <a:ext uri="{FF2B5EF4-FFF2-40B4-BE49-F238E27FC236}">
                <a16:creationId xmlns:a16="http://schemas.microsoft.com/office/drawing/2014/main" id="{7FDC9C64-41D1-1C1A-D295-34A42C33FE7F}"/>
              </a:ext>
            </a:extLst>
          </p:cNvPr>
          <p:cNvSpPr>
            <a:spLocks noGrp="1"/>
          </p:cNvSpPr>
          <p:nvPr>
            <p:ph type="ftr" sz="quarter" idx="11"/>
          </p:nvPr>
        </p:nvSpPr>
        <p:spPr/>
        <p:txBody>
          <a:bodyPr/>
          <a:lstStyle/>
          <a:p>
            <a:r>
              <a:rPr lang="en-US"/>
              <a:t>Eng. Aisha Al-Sadi | HTU | Al Hussein Technical University</a:t>
            </a:r>
          </a:p>
        </p:txBody>
      </p:sp>
      <p:sp>
        <p:nvSpPr>
          <p:cNvPr id="3" name="Slide Number Placeholder 2">
            <a:extLst>
              <a:ext uri="{FF2B5EF4-FFF2-40B4-BE49-F238E27FC236}">
                <a16:creationId xmlns:a16="http://schemas.microsoft.com/office/drawing/2014/main" id="{B1105595-A409-00EC-8918-DDB8A2D3BA54}"/>
              </a:ext>
            </a:extLst>
          </p:cNvPr>
          <p:cNvSpPr>
            <a:spLocks noGrp="1"/>
          </p:cNvSpPr>
          <p:nvPr>
            <p:ph type="sldNum" sz="quarter" idx="12"/>
          </p:nvPr>
        </p:nvSpPr>
        <p:spPr/>
        <p:txBody>
          <a:bodyPr/>
          <a:lstStyle/>
          <a:p>
            <a:fld id="{E6B03378-CDB7-40C1-827C-F54129224789}" type="slidenum">
              <a:rPr lang="en-US" smtClean="0"/>
              <a:t>38</a:t>
            </a:fld>
            <a:endParaRPr lang="en-US"/>
          </a:p>
        </p:txBody>
      </p:sp>
    </p:spTree>
    <p:extLst>
      <p:ext uri="{BB962C8B-B14F-4D97-AF65-F5344CB8AC3E}">
        <p14:creationId xmlns:p14="http://schemas.microsoft.com/office/powerpoint/2010/main" val="273169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1AB4-6A14-BF82-C128-A94CD3E88380}"/>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9F3034B6-3BDF-9049-4B43-E2409BDEDE8D}"/>
              </a:ext>
            </a:extLst>
          </p:cNvPr>
          <p:cNvSpPr>
            <a:spLocks noGrp="1"/>
          </p:cNvSpPr>
          <p:nvPr>
            <p:ph idx="1"/>
          </p:nvPr>
        </p:nvSpPr>
        <p:spPr/>
        <p:txBody>
          <a:bodyPr/>
          <a:lstStyle/>
          <a:p>
            <a:pPr marL="461963" indent="-342900">
              <a:buFont typeface="Wingdings" panose="05000000000000000000" pitchFamily="2" charset="2"/>
              <a:buChar char="§"/>
            </a:pPr>
            <a:r>
              <a:rPr lang="en-US" dirty="0" err="1"/>
              <a:t>Elmasri</a:t>
            </a:r>
            <a:r>
              <a:rPr lang="en-US" dirty="0"/>
              <a:t>, R., &amp; Navathe, S. (2017). Fundamentals of database systems (Vol. 7). Pearson</a:t>
            </a:r>
          </a:p>
          <a:p>
            <a:pPr marL="461963" indent="-342900">
              <a:buFont typeface="Wingdings" panose="05000000000000000000" pitchFamily="2" charset="2"/>
              <a:buChar char="§"/>
            </a:pPr>
            <a:r>
              <a:rPr lang="en-US" dirty="0"/>
              <a:t>Eng. Lina’s slides</a:t>
            </a:r>
          </a:p>
          <a:p>
            <a:pPr marL="461963" indent="-342900">
              <a:buFont typeface="Wingdings" panose="05000000000000000000" pitchFamily="2" charset="2"/>
              <a:buChar char="§"/>
            </a:pPr>
            <a:r>
              <a:rPr lang="en-US" dirty="0"/>
              <a:t>Dr. </a:t>
            </a:r>
            <a:r>
              <a:rPr lang="en-US" dirty="0" err="1"/>
              <a:t>Raneem’s</a:t>
            </a:r>
            <a:r>
              <a:rPr lang="en-US" dirty="0"/>
              <a:t> slides.</a:t>
            </a:r>
          </a:p>
          <a:p>
            <a:endParaRPr lang="en-US" dirty="0"/>
          </a:p>
          <a:p>
            <a:pPr marL="290513" indent="-290513">
              <a:buFont typeface="Wingdings" panose="05000000000000000000" pitchFamily="2" charset="2"/>
              <a:buChar char="§"/>
              <a:tabLst>
                <a:tab pos="344488" algn="l"/>
              </a:tabLst>
            </a:pPr>
            <a:endParaRPr lang="en-US" dirty="0"/>
          </a:p>
          <a:p>
            <a:pPr marL="290513" indent="-290513">
              <a:buFont typeface="Wingdings" panose="05000000000000000000" pitchFamily="2" charset="2"/>
              <a:buChar char="§"/>
              <a:tabLst>
                <a:tab pos="344488" algn="l"/>
              </a:tabLst>
            </a:pPr>
            <a:endParaRPr lang="en-US" dirty="0"/>
          </a:p>
        </p:txBody>
      </p:sp>
      <p:sp>
        <p:nvSpPr>
          <p:cNvPr id="4" name="Footer Placeholder 3">
            <a:extLst>
              <a:ext uri="{FF2B5EF4-FFF2-40B4-BE49-F238E27FC236}">
                <a16:creationId xmlns:a16="http://schemas.microsoft.com/office/drawing/2014/main" id="{6B26DC82-668E-C3E8-BCE4-C520F37DDA67}"/>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743A2777-CC45-861F-7441-CDCC8F3B7271}"/>
              </a:ext>
            </a:extLst>
          </p:cNvPr>
          <p:cNvSpPr>
            <a:spLocks noGrp="1"/>
          </p:cNvSpPr>
          <p:nvPr>
            <p:ph type="sldNum" sz="quarter" idx="12"/>
          </p:nvPr>
        </p:nvSpPr>
        <p:spPr/>
        <p:txBody>
          <a:bodyPr/>
          <a:lstStyle/>
          <a:p>
            <a:fld id="{FD97C469-14A9-4BE4-BDC2-AF98C32D29B7}" type="slidenum">
              <a:rPr lang="en-US" smtClean="0"/>
              <a:t>39</a:t>
            </a:fld>
            <a:endParaRPr lang="en-US"/>
          </a:p>
        </p:txBody>
      </p:sp>
    </p:spTree>
    <p:extLst>
      <p:ext uri="{BB962C8B-B14F-4D97-AF65-F5344CB8AC3E}">
        <p14:creationId xmlns:p14="http://schemas.microsoft.com/office/powerpoint/2010/main" val="215778610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1062</TotalTime>
  <Words>3891</Words>
  <Application>Microsoft Office PowerPoint</Application>
  <PresentationFormat>Widescreen</PresentationFormat>
  <Paragraphs>391</Paragraphs>
  <Slides>39</Slides>
  <Notes>7</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Retrospect</vt:lpstr>
      <vt:lpstr>Database Development &amp; Design </vt:lpstr>
      <vt:lpstr>Outline</vt:lpstr>
      <vt:lpstr>Strong and weak entities</vt:lpstr>
      <vt:lpstr>Logical Model</vt:lpstr>
      <vt:lpstr>Strong and weak entities</vt:lpstr>
      <vt:lpstr>Database Schema </vt:lpstr>
      <vt:lpstr>Mapping Steps</vt:lpstr>
      <vt:lpstr>Mapping</vt:lpstr>
      <vt:lpstr>Company Example</vt:lpstr>
      <vt:lpstr>Company Example - Details</vt:lpstr>
      <vt:lpstr>Mapping Steps</vt:lpstr>
      <vt:lpstr>Database Schema –With Strong Entities Only</vt:lpstr>
      <vt:lpstr>Database Schema –With Weak Entities </vt:lpstr>
      <vt:lpstr>  Mapping – Multi-value</vt:lpstr>
      <vt:lpstr>  Mapping - Composite</vt:lpstr>
      <vt:lpstr>Database Schema </vt:lpstr>
      <vt:lpstr>Mapping – 1:1 Relations</vt:lpstr>
      <vt:lpstr>Mapping – 1:M Relations</vt:lpstr>
      <vt:lpstr>Mapping – M:N Relations</vt:lpstr>
      <vt:lpstr>Finally - Database Schema</vt:lpstr>
      <vt:lpstr>Finally - Database Schema</vt:lpstr>
      <vt:lpstr>Database Scenario – with Crow’s Foot Notations</vt:lpstr>
      <vt:lpstr>Bank Management System Example</vt:lpstr>
      <vt:lpstr>Conceptual Model </vt:lpstr>
      <vt:lpstr>Bank Management System Example</vt:lpstr>
      <vt:lpstr>Basic Step (Strong and Weak Entities)</vt:lpstr>
      <vt:lpstr>Derived Attributes Step</vt:lpstr>
      <vt:lpstr>Multi-valued Attributes Step</vt:lpstr>
      <vt:lpstr>Multi-valued Attributes Step</vt:lpstr>
      <vt:lpstr>Composite attributes Step</vt:lpstr>
      <vt:lpstr>Composite Attributes Step CONT …</vt:lpstr>
      <vt:lpstr>Relations (1:1) and (1:M)</vt:lpstr>
      <vt:lpstr>Relations (1:1) and (1:M)</vt:lpstr>
      <vt:lpstr>Relations (M:N)</vt:lpstr>
      <vt:lpstr>Relations (M:N)</vt:lpstr>
      <vt:lpstr>Final Schema!</vt:lpstr>
      <vt:lpstr>Strong and Weak Entities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Development &amp; Design </dc:title>
  <dc:creator>Aisha Alsadi</dc:creator>
  <cp:lastModifiedBy>Aisha Alsadi</cp:lastModifiedBy>
  <cp:revision>184</cp:revision>
  <dcterms:created xsi:type="dcterms:W3CDTF">2023-03-18T05:57:26Z</dcterms:created>
  <dcterms:modified xsi:type="dcterms:W3CDTF">2024-04-04T00:34:54Z</dcterms:modified>
</cp:coreProperties>
</file>